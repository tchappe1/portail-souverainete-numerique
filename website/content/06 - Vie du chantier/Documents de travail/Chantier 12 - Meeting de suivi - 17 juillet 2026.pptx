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entation.xml" ContentType="application/vnd.openxmlformats-officedocument.presentationml.presentation.main+xml"/>
  <Override PartName="/ppt/notesSlides/notesSlide13.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slideMasters/slideMaster1.xml" ContentType="application/vnd.openxmlformats-officedocument.presentationml.slideMaster+xml"/>
  <Override PartName="/ppt/notesSlides/notesSlide9.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0.xml" ContentType="application/vnd.openxmlformats-officedocument.presentationml.notesSlide+xml"/>
  <Override PartName="/ppt/notesSlides/notesSlide17.xml" ContentType="application/vnd.openxmlformats-officedocument.presentationml.notesSlide+xml"/>
  <Override PartName="/ppt/notesSlides/notesSlide16.xml" ContentType="application/vnd.openxmlformats-officedocument.presentationml.notesSlide+xml"/>
  <Override PartName="/ppt/notesSlides/notesSlide11.xml" ContentType="application/vnd.openxmlformats-officedocument.presentationml.notesSlide+xml"/>
  <Override PartName="/ppt/notesSlides/notesSlide15.xml" ContentType="application/vnd.openxmlformats-officedocument.presentationml.notesSlide+xml"/>
  <Override PartName="/ppt/notesSlides/notesSlide12.xml" ContentType="application/vnd.openxmlformats-officedocument.presentationml.notesSlide+xml"/>
  <Override PartName="/ppt/notesSlides/notesSlide14.xml" ContentType="application/vnd.openxmlformats-officedocument.presentationml.notesSlide+xml"/>
  <Override PartName="/ppt/theme/theme2.xml" ContentType="application/vnd.openxmlformats-officedocument.theme+xml"/>
  <Override PartName="/ppt/notesMasters/notesMaster1.xml" ContentType="application/vnd.openxmlformats-officedocument.presentationml.notesMaster+xml"/>
  <Override PartName="/ppt/theme/theme1.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5143500" type="screen16x9"/>
  <p:notesSz cx="6858000" cy="9144000"/>
  <p:embeddedFontLst>
    <p:embeddedFont>
      <p:font typeface="Montserrat" pitchFamily="2" charset="77"/>
      <p:regular r:id="rId22"/>
      <p:bold r:id="rId23"/>
      <p:italic r:id="rId24"/>
      <p:boldItalic r:id="rId25"/>
    </p:embeddedFont>
    <p:embeddedFont>
      <p:font typeface="Open Sans" pitchFamily="2" charset="0"/>
      <p:regular r:id="rId26"/>
      <p:bold r:id="rId27"/>
      <p:italic r:id="rId28"/>
      <p:boldItalic r:id="rId29"/>
    </p:embeddedFont>
    <p:embeddedFont>
      <p:font typeface="Open Sans Light" pitchFamily="2" charset="0"/>
      <p:regular r:id="rId30"/>
      <p:bold r:id="rId31"/>
      <p:italic r:id="rId32"/>
      <p:boldItalic r:id="rId33"/>
    </p:embeddedFont>
    <p:embeddedFont>
      <p:font typeface="Roboto Black" panose="02000000000000000000" pitchFamily="2" charset="0"/>
      <p:bold r:id="rId34"/>
      <p:italic r:id="rId35"/>
      <p:boldItalic r:id="rId36"/>
    </p:embeddedFont>
    <p:embeddedFont>
      <p:font typeface="Syne" pitchFamily="2" charset="77"/>
      <p:regular r:id="rId37"/>
      <p:bold r:id="rId38"/>
    </p:embeddedFont>
    <p:embeddedFont>
      <p:font typeface="Syne Medium" pitchFamily="2" charset="77"/>
      <p:regular r:id="rId39"/>
      <p:bold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54" d="100"/>
          <a:sy n="154" d="100"/>
        </p:scale>
        <p:origin x="888" y="19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9" Type="http://schemas.openxmlformats.org/officeDocument/2006/relationships/font" Target="fonts/font18.fntdata"/><Relationship Id="rId21" Type="http://schemas.openxmlformats.org/officeDocument/2006/relationships/notesMaster" Target="notesMasters/notesMaster1.xml"/><Relationship Id="rId34" Type="http://schemas.openxmlformats.org/officeDocument/2006/relationships/font" Target="fonts/font13.fntdata"/><Relationship Id="rId42" Type="http://schemas.openxmlformats.org/officeDocument/2006/relationships/viewProps" Target="viewProps.xml"/><Relationship Id="rId47" Type="http://schemas.openxmlformats.org/officeDocument/2006/relationships/customXml" Target="../customXml/item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font" Target="fonts/font16.fntdata"/><Relationship Id="rId40" Type="http://schemas.openxmlformats.org/officeDocument/2006/relationships/font" Target="fonts/font19.fntdata"/><Relationship Id="rId45"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font" Target="fonts/font17.fntdata"/><Relationship Id="rId46" Type="http://schemas.openxmlformats.org/officeDocument/2006/relationships/customXml" Target="../customXml/item2.xml"/><Relationship Id="rId20" Type="http://schemas.openxmlformats.org/officeDocument/2006/relationships/slide" Target="slides/slide19.xml"/><Relationship Id="rId4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3f4518f7a80_0_0:notes"/>
          <p:cNvSpPr>
            <a:spLocks noGrp="1" noRot="1" noChangeAspect="1"/>
          </p:cNvSpPr>
          <p:nvPr>
            <p:ph type="sldImg" idx="2"/>
          </p:nvPr>
        </p:nvSpPr>
        <p:spPr>
          <a:xfrm>
            <a:off x="91291" y="685838"/>
            <a:ext cx="6675600" cy="3429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 name="Google Shape;68;g3f4518f7a80_0_0:notes"/>
          <p:cNvSpPr txBox="1">
            <a:spLocks noGrp="1"/>
          </p:cNvSpPr>
          <p:nvPr>
            <p:ph type="body" idx="1"/>
          </p:nvPr>
        </p:nvSpPr>
        <p:spPr>
          <a:xfrm>
            <a:off x="685801" y="4343406"/>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f54d1ae969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f54d1ae96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f54d1ae969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f54d1ae969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f54d1ae969_0_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3f54d1ae969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f54d1ae969_0_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3f54d1ae969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107916"/>
              </a:lnSpc>
              <a:spcBef>
                <a:spcPts val="0"/>
              </a:spcBef>
              <a:spcAft>
                <a:spcPts val="0"/>
              </a:spcAft>
              <a:buClr>
                <a:schemeClr val="dk1"/>
              </a:buClr>
              <a:buSzPts val="1100"/>
              <a:buFont typeface="Arial"/>
              <a:buNone/>
            </a:pPr>
            <a:r>
              <a:rPr lang="en">
                <a:solidFill>
                  <a:schemeClr val="dk1"/>
                </a:solidFill>
                <a:latin typeface="Calibri"/>
                <a:ea typeface="Calibri"/>
                <a:cs typeface="Calibri"/>
                <a:sym typeface="Calibri"/>
              </a:rPr>
              <a:t>Le cadre proposé est le suivant :  </a:t>
            </a:r>
            <a:endParaRPr>
              <a:solidFill>
                <a:schemeClr val="dk1"/>
              </a:solidFill>
              <a:latin typeface="Calibri"/>
              <a:ea typeface="Calibri"/>
              <a:cs typeface="Calibri"/>
              <a:sym typeface="Calibri"/>
            </a:endParaRPr>
          </a:p>
          <a:p>
            <a:pPr marL="457200" lvl="0" indent="0" algn="just" rtl="0">
              <a:lnSpc>
                <a:spcPct val="107916"/>
              </a:lnSpc>
              <a:spcBef>
                <a:spcPts val="0"/>
              </a:spcBef>
              <a:spcAft>
                <a:spcPts val="0"/>
              </a:spcAft>
              <a:buNone/>
            </a:pPr>
            <a:r>
              <a:rPr lang="en">
                <a:solidFill>
                  <a:schemeClr val="dk1"/>
                </a:solidFill>
                <a:latin typeface="Calibri"/>
                <a:ea typeface="Calibri"/>
                <a:cs typeface="Calibri"/>
                <a:sym typeface="Calibri"/>
              </a:rPr>
              <a:t>Une application aux OIP de la région </a:t>
            </a:r>
            <a:endParaRPr>
              <a:solidFill>
                <a:schemeClr val="dk1"/>
              </a:solidFill>
              <a:latin typeface="Calibri"/>
              <a:ea typeface="Calibri"/>
              <a:cs typeface="Calibri"/>
              <a:sym typeface="Calibri"/>
            </a:endParaRPr>
          </a:p>
          <a:p>
            <a:pPr marL="457200" lvl="0" indent="0" algn="just" rtl="0">
              <a:lnSpc>
                <a:spcPct val="107916"/>
              </a:lnSpc>
              <a:spcBef>
                <a:spcPts val="0"/>
              </a:spcBef>
              <a:spcAft>
                <a:spcPts val="0"/>
              </a:spcAft>
              <a:buNone/>
            </a:pPr>
            <a:r>
              <a:rPr lang="en" b="1">
                <a:solidFill>
                  <a:schemeClr val="dk1"/>
                </a:solidFill>
                <a:latin typeface="Calibri"/>
                <a:ea typeface="Calibri"/>
                <a:cs typeface="Calibri"/>
                <a:sym typeface="Calibri"/>
              </a:rPr>
              <a:t>Cadre d’engagement minimum : </a:t>
            </a:r>
            <a:endParaRPr b="1">
              <a:solidFill>
                <a:schemeClr val="dk1"/>
              </a:solidFill>
              <a:latin typeface="Calibri"/>
              <a:ea typeface="Calibri"/>
              <a:cs typeface="Calibri"/>
              <a:sym typeface="Calibri"/>
            </a:endParaRPr>
          </a:p>
          <a:p>
            <a:pPr marL="457200" lvl="0" indent="-298450" algn="just" rtl="0">
              <a:lnSpc>
                <a:spcPct val="107916"/>
              </a:lnSpc>
              <a:spcBef>
                <a:spcPts val="0"/>
              </a:spcBef>
              <a:spcAft>
                <a:spcPts val="0"/>
              </a:spcAft>
              <a:buClr>
                <a:schemeClr val="dk1"/>
              </a:buClr>
              <a:buSzPts val="1100"/>
              <a:buFont typeface="Calibri"/>
              <a:buAutoNum type="arabicParenR"/>
            </a:pPr>
            <a:r>
              <a:rPr lang="en">
                <a:solidFill>
                  <a:schemeClr val="dk1"/>
                </a:solidFill>
                <a:latin typeface="Calibri"/>
                <a:ea typeface="Calibri"/>
                <a:cs typeface="Calibri"/>
                <a:sym typeface="Calibri"/>
              </a:rPr>
              <a:t>La signature de la charte NR de l’Institut du Numérique Responsable.</a:t>
            </a:r>
            <a:endParaRPr>
              <a:solidFill>
                <a:schemeClr val="dk1"/>
              </a:solidFill>
              <a:latin typeface="Calibri"/>
              <a:ea typeface="Calibri"/>
              <a:cs typeface="Calibri"/>
              <a:sym typeface="Calibri"/>
            </a:endParaRPr>
          </a:p>
          <a:p>
            <a:pPr marL="457200" lvl="0" indent="-298450" algn="just" rtl="0">
              <a:lnSpc>
                <a:spcPct val="107916"/>
              </a:lnSpc>
              <a:spcBef>
                <a:spcPts val="0"/>
              </a:spcBef>
              <a:spcAft>
                <a:spcPts val="0"/>
              </a:spcAft>
              <a:buClr>
                <a:schemeClr val="dk1"/>
              </a:buClr>
              <a:buSzPts val="1100"/>
              <a:buFont typeface="Calibri"/>
              <a:buAutoNum type="arabicParenR"/>
            </a:pPr>
            <a:r>
              <a:rPr lang="en">
                <a:solidFill>
                  <a:schemeClr val="dk1"/>
                </a:solidFill>
                <a:latin typeface="Calibri"/>
                <a:ea typeface="Calibri"/>
                <a:cs typeface="Calibri"/>
                <a:sym typeface="Calibri"/>
              </a:rPr>
              <a:t>La mise en œuvre effective des 11 actions considérées comme obligatoires dans les 8 chantiers opérationnels du Plan.</a:t>
            </a:r>
            <a:endParaRPr>
              <a:solidFill>
                <a:schemeClr val="dk1"/>
              </a:solidFill>
              <a:latin typeface="Calibri"/>
              <a:ea typeface="Calibri"/>
              <a:cs typeface="Calibri"/>
              <a:sym typeface="Calibri"/>
            </a:endParaRPr>
          </a:p>
          <a:p>
            <a:pPr marL="457200" lvl="0" indent="-298450" algn="l" rtl="0">
              <a:lnSpc>
                <a:spcPct val="107916"/>
              </a:lnSpc>
              <a:spcBef>
                <a:spcPts val="0"/>
              </a:spcBef>
              <a:spcAft>
                <a:spcPts val="0"/>
              </a:spcAft>
              <a:buClr>
                <a:schemeClr val="dk1"/>
              </a:buClr>
              <a:buSzPts val="1100"/>
              <a:buFont typeface="Calibri"/>
              <a:buAutoNum type="arabicParenR"/>
            </a:pPr>
            <a:r>
              <a:rPr lang="en">
                <a:solidFill>
                  <a:schemeClr val="dk1"/>
                </a:solidFill>
                <a:latin typeface="Calibri"/>
                <a:ea typeface="Calibri"/>
                <a:cs typeface="Calibri"/>
                <a:sym typeface="Calibri"/>
              </a:rPr>
              <a:t>La mise en place d’outils de conscientisation (formations, Fresque du Numérique,…).</a:t>
            </a:r>
            <a:endParaRPr>
              <a:solidFill>
                <a:schemeClr val="dk1"/>
              </a:solidFill>
              <a:latin typeface="Calibri"/>
              <a:ea typeface="Calibri"/>
              <a:cs typeface="Calibri"/>
              <a:sym typeface="Calibri"/>
            </a:endParaRPr>
          </a:p>
          <a:p>
            <a:pPr marL="0" lvl="0" indent="0" algn="l" rtl="0">
              <a:lnSpc>
                <a:spcPct val="107916"/>
              </a:lnSpc>
              <a:spcBef>
                <a:spcPts val="0"/>
              </a:spcBef>
              <a:spcAft>
                <a:spcPts val="0"/>
              </a:spcAft>
              <a:buNone/>
            </a:pPr>
            <a:endParaRPr>
              <a:solidFill>
                <a:schemeClr val="dk1"/>
              </a:solidFill>
              <a:latin typeface="Calibri"/>
              <a:ea typeface="Calibri"/>
              <a:cs typeface="Calibri"/>
              <a:sym typeface="Calibri"/>
            </a:endParaRPr>
          </a:p>
          <a:p>
            <a:pPr marL="0" lvl="0" indent="0" algn="l" rtl="0">
              <a:lnSpc>
                <a:spcPct val="107916"/>
              </a:lnSpc>
              <a:spcBef>
                <a:spcPts val="0"/>
              </a:spcBef>
              <a:spcAft>
                <a:spcPts val="0"/>
              </a:spcAft>
              <a:buNone/>
            </a:pPr>
            <a:r>
              <a:rPr lang="en">
                <a:solidFill>
                  <a:schemeClr val="dk1"/>
                </a:solidFill>
                <a:latin typeface="Calibri"/>
                <a:ea typeface="Calibri"/>
                <a:cs typeface="Calibri"/>
                <a:sym typeface="Calibri"/>
              </a:rPr>
              <a:t>Coordination du plan par Paradigm, en charge de suivre l’avancée des actions, de fournir un soutien méthodologique et des outils aux administrations</a:t>
            </a:r>
            <a:endParaRPr>
              <a:solidFill>
                <a:schemeClr val="dk1"/>
              </a:solidFill>
              <a:latin typeface="Calibri"/>
              <a:ea typeface="Calibri"/>
              <a:cs typeface="Calibri"/>
              <a:sym typeface="Calibri"/>
            </a:endParaRPr>
          </a:p>
          <a:p>
            <a:pPr marL="0" lvl="0" indent="0" algn="l" rtl="0">
              <a:lnSpc>
                <a:spcPct val="107916"/>
              </a:lnSpc>
              <a:spcBef>
                <a:spcPts val="0"/>
              </a:spcBef>
              <a:spcAft>
                <a:spcPts val="0"/>
              </a:spcAft>
              <a:buClr>
                <a:schemeClr val="dk1"/>
              </a:buClr>
              <a:buSzPts val="1100"/>
              <a:buFont typeface="Arial"/>
              <a:buNone/>
            </a:pPr>
            <a:endParaRPr>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endParaRPr>
              <a:solidFill>
                <a:schemeClr val="dk1"/>
              </a:solidFill>
              <a:latin typeface="Montserrat"/>
              <a:ea typeface="Montserrat"/>
              <a:cs typeface="Montserrat"/>
              <a:sym typeface="Montserrat"/>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f54d1ae969_0_1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3f54d1ae969_0_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107916"/>
              </a:lnSpc>
              <a:spcBef>
                <a:spcPts val="0"/>
              </a:spcBef>
              <a:spcAft>
                <a:spcPts val="0"/>
              </a:spcAft>
              <a:buClr>
                <a:schemeClr val="dk1"/>
              </a:buClr>
              <a:buSzPts val="1100"/>
              <a:buFont typeface="Arial"/>
              <a:buNone/>
            </a:pPr>
            <a:r>
              <a:rPr lang="en">
                <a:solidFill>
                  <a:schemeClr val="dk1"/>
                </a:solidFill>
                <a:latin typeface="Calibri"/>
                <a:ea typeface="Calibri"/>
                <a:cs typeface="Calibri"/>
                <a:sym typeface="Calibri"/>
              </a:rPr>
              <a:t>Le cadre proposé est le suivant :  </a:t>
            </a:r>
            <a:endParaRPr>
              <a:solidFill>
                <a:schemeClr val="dk1"/>
              </a:solidFill>
              <a:latin typeface="Calibri"/>
              <a:ea typeface="Calibri"/>
              <a:cs typeface="Calibri"/>
              <a:sym typeface="Calibri"/>
            </a:endParaRPr>
          </a:p>
          <a:p>
            <a:pPr marL="457200" lvl="0" indent="0" algn="just" rtl="0">
              <a:lnSpc>
                <a:spcPct val="107916"/>
              </a:lnSpc>
              <a:spcBef>
                <a:spcPts val="0"/>
              </a:spcBef>
              <a:spcAft>
                <a:spcPts val="0"/>
              </a:spcAft>
              <a:buNone/>
            </a:pPr>
            <a:r>
              <a:rPr lang="en">
                <a:solidFill>
                  <a:schemeClr val="dk1"/>
                </a:solidFill>
                <a:latin typeface="Calibri"/>
                <a:ea typeface="Calibri"/>
                <a:cs typeface="Calibri"/>
                <a:sym typeface="Calibri"/>
              </a:rPr>
              <a:t>Une application aux OIP de la région </a:t>
            </a:r>
            <a:endParaRPr>
              <a:solidFill>
                <a:schemeClr val="dk1"/>
              </a:solidFill>
              <a:latin typeface="Calibri"/>
              <a:ea typeface="Calibri"/>
              <a:cs typeface="Calibri"/>
              <a:sym typeface="Calibri"/>
            </a:endParaRPr>
          </a:p>
          <a:p>
            <a:pPr marL="457200" lvl="0" indent="0" algn="just" rtl="0">
              <a:lnSpc>
                <a:spcPct val="107916"/>
              </a:lnSpc>
              <a:spcBef>
                <a:spcPts val="0"/>
              </a:spcBef>
              <a:spcAft>
                <a:spcPts val="0"/>
              </a:spcAft>
              <a:buNone/>
            </a:pPr>
            <a:r>
              <a:rPr lang="en" b="1">
                <a:solidFill>
                  <a:schemeClr val="dk1"/>
                </a:solidFill>
                <a:latin typeface="Calibri"/>
                <a:ea typeface="Calibri"/>
                <a:cs typeface="Calibri"/>
                <a:sym typeface="Calibri"/>
              </a:rPr>
              <a:t>Cadre d’engagement minimum : </a:t>
            </a:r>
            <a:endParaRPr b="1">
              <a:solidFill>
                <a:schemeClr val="dk1"/>
              </a:solidFill>
              <a:latin typeface="Calibri"/>
              <a:ea typeface="Calibri"/>
              <a:cs typeface="Calibri"/>
              <a:sym typeface="Calibri"/>
            </a:endParaRPr>
          </a:p>
          <a:p>
            <a:pPr marL="457200" lvl="0" indent="-298450" algn="just" rtl="0">
              <a:lnSpc>
                <a:spcPct val="107916"/>
              </a:lnSpc>
              <a:spcBef>
                <a:spcPts val="0"/>
              </a:spcBef>
              <a:spcAft>
                <a:spcPts val="0"/>
              </a:spcAft>
              <a:buClr>
                <a:schemeClr val="dk1"/>
              </a:buClr>
              <a:buSzPts val="1100"/>
              <a:buFont typeface="Calibri"/>
              <a:buAutoNum type="arabicParenR"/>
            </a:pPr>
            <a:r>
              <a:rPr lang="en">
                <a:solidFill>
                  <a:schemeClr val="dk1"/>
                </a:solidFill>
                <a:latin typeface="Calibri"/>
                <a:ea typeface="Calibri"/>
                <a:cs typeface="Calibri"/>
                <a:sym typeface="Calibri"/>
              </a:rPr>
              <a:t>La signature de la charte NR de l’Institut du Numérique Responsable.</a:t>
            </a:r>
            <a:endParaRPr>
              <a:solidFill>
                <a:schemeClr val="dk1"/>
              </a:solidFill>
              <a:latin typeface="Calibri"/>
              <a:ea typeface="Calibri"/>
              <a:cs typeface="Calibri"/>
              <a:sym typeface="Calibri"/>
            </a:endParaRPr>
          </a:p>
          <a:p>
            <a:pPr marL="457200" lvl="0" indent="-298450" algn="just" rtl="0">
              <a:lnSpc>
                <a:spcPct val="107916"/>
              </a:lnSpc>
              <a:spcBef>
                <a:spcPts val="0"/>
              </a:spcBef>
              <a:spcAft>
                <a:spcPts val="0"/>
              </a:spcAft>
              <a:buClr>
                <a:schemeClr val="dk1"/>
              </a:buClr>
              <a:buSzPts val="1100"/>
              <a:buFont typeface="Calibri"/>
              <a:buAutoNum type="arabicParenR"/>
            </a:pPr>
            <a:r>
              <a:rPr lang="en">
                <a:solidFill>
                  <a:schemeClr val="dk1"/>
                </a:solidFill>
                <a:latin typeface="Calibri"/>
                <a:ea typeface="Calibri"/>
                <a:cs typeface="Calibri"/>
                <a:sym typeface="Calibri"/>
              </a:rPr>
              <a:t>La mise en œuvre effective des 11 actions considérées comme obligatoires dans les 8 chantiers opérationnels du Plan.</a:t>
            </a:r>
            <a:endParaRPr>
              <a:solidFill>
                <a:schemeClr val="dk1"/>
              </a:solidFill>
              <a:latin typeface="Calibri"/>
              <a:ea typeface="Calibri"/>
              <a:cs typeface="Calibri"/>
              <a:sym typeface="Calibri"/>
            </a:endParaRPr>
          </a:p>
          <a:p>
            <a:pPr marL="457200" lvl="0" indent="-298450" algn="l" rtl="0">
              <a:lnSpc>
                <a:spcPct val="107916"/>
              </a:lnSpc>
              <a:spcBef>
                <a:spcPts val="0"/>
              </a:spcBef>
              <a:spcAft>
                <a:spcPts val="0"/>
              </a:spcAft>
              <a:buClr>
                <a:schemeClr val="dk1"/>
              </a:buClr>
              <a:buSzPts val="1100"/>
              <a:buFont typeface="Calibri"/>
              <a:buAutoNum type="arabicParenR"/>
            </a:pPr>
            <a:r>
              <a:rPr lang="en">
                <a:solidFill>
                  <a:schemeClr val="dk1"/>
                </a:solidFill>
                <a:latin typeface="Calibri"/>
                <a:ea typeface="Calibri"/>
                <a:cs typeface="Calibri"/>
                <a:sym typeface="Calibri"/>
              </a:rPr>
              <a:t>La mise en place d’outils de conscientisation (formations, Fresque du Numérique,…).</a:t>
            </a:r>
            <a:endParaRPr>
              <a:solidFill>
                <a:schemeClr val="dk1"/>
              </a:solidFill>
              <a:latin typeface="Calibri"/>
              <a:ea typeface="Calibri"/>
              <a:cs typeface="Calibri"/>
              <a:sym typeface="Calibri"/>
            </a:endParaRPr>
          </a:p>
          <a:p>
            <a:pPr marL="0" lvl="0" indent="0" algn="l" rtl="0">
              <a:lnSpc>
                <a:spcPct val="107916"/>
              </a:lnSpc>
              <a:spcBef>
                <a:spcPts val="0"/>
              </a:spcBef>
              <a:spcAft>
                <a:spcPts val="0"/>
              </a:spcAft>
              <a:buNone/>
            </a:pPr>
            <a:endParaRPr>
              <a:solidFill>
                <a:schemeClr val="dk1"/>
              </a:solidFill>
              <a:latin typeface="Calibri"/>
              <a:ea typeface="Calibri"/>
              <a:cs typeface="Calibri"/>
              <a:sym typeface="Calibri"/>
            </a:endParaRPr>
          </a:p>
          <a:p>
            <a:pPr marL="0" lvl="0" indent="0" algn="l" rtl="0">
              <a:lnSpc>
                <a:spcPct val="107916"/>
              </a:lnSpc>
              <a:spcBef>
                <a:spcPts val="0"/>
              </a:spcBef>
              <a:spcAft>
                <a:spcPts val="0"/>
              </a:spcAft>
              <a:buNone/>
            </a:pPr>
            <a:r>
              <a:rPr lang="en">
                <a:solidFill>
                  <a:schemeClr val="dk1"/>
                </a:solidFill>
                <a:latin typeface="Calibri"/>
                <a:ea typeface="Calibri"/>
                <a:cs typeface="Calibri"/>
                <a:sym typeface="Calibri"/>
              </a:rPr>
              <a:t>Coordination du plan par Paradigm, en charge de suivre l’avancée des actions, de fournir un soutien méthodologique et des outils aux administrations</a:t>
            </a:r>
            <a:endParaRPr>
              <a:solidFill>
                <a:schemeClr val="dk1"/>
              </a:solidFill>
              <a:latin typeface="Calibri"/>
              <a:ea typeface="Calibri"/>
              <a:cs typeface="Calibri"/>
              <a:sym typeface="Calibri"/>
            </a:endParaRPr>
          </a:p>
          <a:p>
            <a:pPr marL="0" lvl="0" indent="0" algn="l" rtl="0">
              <a:lnSpc>
                <a:spcPct val="107916"/>
              </a:lnSpc>
              <a:spcBef>
                <a:spcPts val="0"/>
              </a:spcBef>
              <a:spcAft>
                <a:spcPts val="0"/>
              </a:spcAft>
              <a:buClr>
                <a:schemeClr val="dk1"/>
              </a:buClr>
              <a:buSzPts val="1100"/>
              <a:buFont typeface="Arial"/>
              <a:buNone/>
            </a:pPr>
            <a:endParaRPr>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endParaRPr>
              <a:solidFill>
                <a:schemeClr val="dk1"/>
              </a:solidFill>
              <a:latin typeface="Montserrat"/>
              <a:ea typeface="Montserrat"/>
              <a:cs typeface="Montserrat"/>
              <a:sym typeface="Montserrat"/>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f4518f7a80_0_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3f4518f7a80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f4518f7a80_0_1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3f4518f7a80_0_1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highlight>
                  <a:schemeClr val="lt1"/>
                </a:highlight>
                <a:latin typeface="Montserrat"/>
                <a:ea typeface="Montserrat"/>
                <a:cs typeface="Montserrat"/>
                <a:sym typeface="Montserrat"/>
              </a:rPr>
              <a:t>Maxim De CONINCK ?</a:t>
            </a:r>
            <a:endParaRPr sz="1200">
              <a:solidFill>
                <a:schemeClr val="dk1"/>
              </a:solidFill>
              <a:highlight>
                <a:schemeClr val="lt1"/>
              </a:highlight>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n" sz="1200">
                <a:solidFill>
                  <a:schemeClr val="dk1"/>
                </a:solidFill>
                <a:highlight>
                  <a:schemeClr val="lt1"/>
                </a:highlight>
                <a:latin typeface="Montserrat"/>
                <a:ea typeface="Montserrat"/>
                <a:cs typeface="Montserrat"/>
                <a:sym typeface="Montserrat"/>
              </a:rPr>
              <a:t>Christophe MICHAUX ?</a:t>
            </a:r>
            <a:endParaRPr sz="1200">
              <a:solidFill>
                <a:schemeClr val="dk1"/>
              </a:solidFill>
              <a:highlight>
                <a:schemeClr val="lt1"/>
              </a:highlight>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endParaRPr sz="1200">
              <a:solidFill>
                <a:schemeClr val="dk1"/>
              </a:solidFill>
              <a:highlight>
                <a:schemeClr val="lt1"/>
              </a:highlight>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n" sz="1200">
                <a:solidFill>
                  <a:schemeClr val="dk1"/>
                </a:solidFill>
                <a:highlight>
                  <a:schemeClr val="lt1"/>
                </a:highlight>
                <a:latin typeface="Montserrat"/>
                <a:ea typeface="Montserrat"/>
                <a:cs typeface="Montserrat"/>
                <a:sym typeface="Montserrat"/>
              </a:rPr>
              <a:t>Enjeux et projets clés</a:t>
            </a:r>
            <a:endParaRPr sz="1200">
              <a:solidFill>
                <a:schemeClr val="dk1"/>
              </a:solidFill>
              <a:highlight>
                <a:schemeClr val="lt1"/>
              </a:highlight>
              <a:latin typeface="Montserrat"/>
              <a:ea typeface="Montserrat"/>
              <a:cs typeface="Montserrat"/>
              <a:sym typeface="Montserrat"/>
            </a:endParaRPr>
          </a:p>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2e89833dad4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2e89833dad4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highlight>
                  <a:schemeClr val="lt1"/>
                </a:highlight>
                <a:latin typeface="Montserrat"/>
                <a:ea typeface="Montserrat"/>
                <a:cs typeface="Montserrat"/>
                <a:sym typeface="Montserrat"/>
              </a:rPr>
              <a:t>Maxim De CONINCK ?</a:t>
            </a:r>
            <a:endParaRPr sz="1200">
              <a:solidFill>
                <a:schemeClr val="dk1"/>
              </a:solidFill>
              <a:highlight>
                <a:schemeClr val="lt1"/>
              </a:highlight>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n" sz="1200">
                <a:solidFill>
                  <a:schemeClr val="dk1"/>
                </a:solidFill>
                <a:highlight>
                  <a:schemeClr val="lt1"/>
                </a:highlight>
                <a:latin typeface="Montserrat"/>
                <a:ea typeface="Montserrat"/>
                <a:cs typeface="Montserrat"/>
                <a:sym typeface="Montserrat"/>
              </a:rPr>
              <a:t>Christophe MICHAUX ?</a:t>
            </a:r>
            <a:endParaRPr sz="1200">
              <a:solidFill>
                <a:schemeClr val="dk1"/>
              </a:solidFill>
              <a:highlight>
                <a:schemeClr val="lt1"/>
              </a:highlight>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endParaRPr sz="1200">
              <a:solidFill>
                <a:schemeClr val="dk1"/>
              </a:solidFill>
              <a:highlight>
                <a:schemeClr val="lt1"/>
              </a:highlight>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n" sz="1200">
                <a:solidFill>
                  <a:schemeClr val="dk1"/>
                </a:solidFill>
                <a:highlight>
                  <a:schemeClr val="lt1"/>
                </a:highlight>
                <a:latin typeface="Montserrat"/>
                <a:ea typeface="Montserrat"/>
                <a:cs typeface="Montserrat"/>
                <a:sym typeface="Montserrat"/>
              </a:rPr>
              <a:t>Enjeux et projets clés</a:t>
            </a:r>
            <a:endParaRPr sz="1200">
              <a:solidFill>
                <a:schemeClr val="dk1"/>
              </a:solidFill>
              <a:highlight>
                <a:schemeClr val="lt1"/>
              </a:highlight>
              <a:latin typeface="Montserrat"/>
              <a:ea typeface="Montserrat"/>
              <a:cs typeface="Montserrat"/>
              <a:sym typeface="Montserrat"/>
            </a:endParaRPr>
          </a:p>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3f54d1ae969_0_2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3f54d1ae969_0_2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highlight>
                  <a:schemeClr val="lt1"/>
                </a:highlight>
                <a:latin typeface="Montserrat"/>
                <a:ea typeface="Montserrat"/>
                <a:cs typeface="Montserrat"/>
                <a:sym typeface="Montserrat"/>
              </a:rPr>
              <a:t>Maxim De CONINCK ?</a:t>
            </a:r>
            <a:endParaRPr sz="1200">
              <a:solidFill>
                <a:schemeClr val="dk1"/>
              </a:solidFill>
              <a:highlight>
                <a:schemeClr val="lt1"/>
              </a:highlight>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n" sz="1200">
                <a:solidFill>
                  <a:schemeClr val="dk1"/>
                </a:solidFill>
                <a:highlight>
                  <a:schemeClr val="lt1"/>
                </a:highlight>
                <a:latin typeface="Montserrat"/>
                <a:ea typeface="Montserrat"/>
                <a:cs typeface="Montserrat"/>
                <a:sym typeface="Montserrat"/>
              </a:rPr>
              <a:t>Christophe MICHAUX ?</a:t>
            </a:r>
            <a:endParaRPr sz="1200">
              <a:solidFill>
                <a:schemeClr val="dk1"/>
              </a:solidFill>
              <a:highlight>
                <a:schemeClr val="lt1"/>
              </a:highlight>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endParaRPr sz="1200">
              <a:solidFill>
                <a:schemeClr val="dk1"/>
              </a:solidFill>
              <a:highlight>
                <a:schemeClr val="lt1"/>
              </a:highlight>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n" sz="1200">
                <a:solidFill>
                  <a:schemeClr val="dk1"/>
                </a:solidFill>
                <a:highlight>
                  <a:schemeClr val="lt1"/>
                </a:highlight>
                <a:latin typeface="Montserrat"/>
                <a:ea typeface="Montserrat"/>
                <a:cs typeface="Montserrat"/>
                <a:sym typeface="Montserrat"/>
              </a:rPr>
              <a:t>Enjeux et projets clés</a:t>
            </a:r>
            <a:endParaRPr sz="1200">
              <a:solidFill>
                <a:schemeClr val="dk1"/>
              </a:solidFill>
              <a:highlight>
                <a:schemeClr val="lt1"/>
              </a:highlight>
              <a:latin typeface="Montserrat"/>
              <a:ea typeface="Montserrat"/>
              <a:cs typeface="Montserrat"/>
              <a:sym typeface="Montserrat"/>
            </a:endParaRPr>
          </a:p>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3f4518f7a80_0_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3f4518f7a80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highlight>
                  <a:schemeClr val="lt1"/>
                </a:highlight>
                <a:latin typeface="Montserrat"/>
                <a:ea typeface="Montserrat"/>
                <a:cs typeface="Montserrat"/>
                <a:sym typeface="Montserrat"/>
              </a:rPr>
              <a:t>Maxim De CONINCK ?</a:t>
            </a:r>
            <a:endParaRPr sz="1200">
              <a:solidFill>
                <a:schemeClr val="dk1"/>
              </a:solidFill>
              <a:highlight>
                <a:schemeClr val="lt1"/>
              </a:highlight>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n" sz="1200">
                <a:solidFill>
                  <a:schemeClr val="dk1"/>
                </a:solidFill>
                <a:highlight>
                  <a:schemeClr val="lt1"/>
                </a:highlight>
                <a:latin typeface="Montserrat"/>
                <a:ea typeface="Montserrat"/>
                <a:cs typeface="Montserrat"/>
                <a:sym typeface="Montserrat"/>
              </a:rPr>
              <a:t>Christophe MICHAUX ?</a:t>
            </a:r>
            <a:endParaRPr sz="1200">
              <a:solidFill>
                <a:schemeClr val="dk1"/>
              </a:solidFill>
              <a:highlight>
                <a:schemeClr val="lt1"/>
              </a:highlight>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endParaRPr sz="1200">
              <a:solidFill>
                <a:schemeClr val="dk1"/>
              </a:solidFill>
              <a:highlight>
                <a:schemeClr val="lt1"/>
              </a:highlight>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n" sz="1200">
                <a:solidFill>
                  <a:schemeClr val="dk1"/>
                </a:solidFill>
                <a:highlight>
                  <a:schemeClr val="lt1"/>
                </a:highlight>
                <a:latin typeface="Montserrat"/>
                <a:ea typeface="Montserrat"/>
                <a:cs typeface="Montserrat"/>
                <a:sym typeface="Montserrat"/>
              </a:rPr>
              <a:t>Enjeux et projets clés</a:t>
            </a:r>
            <a:endParaRPr sz="1200">
              <a:solidFill>
                <a:schemeClr val="dk1"/>
              </a:solidFill>
              <a:highlight>
                <a:schemeClr val="lt1"/>
              </a:highlight>
              <a:latin typeface="Montserrat"/>
              <a:ea typeface="Montserrat"/>
              <a:cs typeface="Montserrat"/>
              <a:sym typeface="Montserrat"/>
            </a:endParaRPr>
          </a:p>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3f4518f7a80_0_2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3f4518f7a80_0_2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highlight>
                  <a:schemeClr val="lt1"/>
                </a:highlight>
                <a:latin typeface="Montserrat"/>
                <a:ea typeface="Montserrat"/>
                <a:cs typeface="Montserrat"/>
                <a:sym typeface="Montserrat"/>
              </a:rPr>
              <a:t>Maxim De CONINCK ?</a:t>
            </a:r>
            <a:endParaRPr sz="1200">
              <a:solidFill>
                <a:schemeClr val="dk1"/>
              </a:solidFill>
              <a:highlight>
                <a:schemeClr val="lt1"/>
              </a:highlight>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n" sz="1200">
                <a:solidFill>
                  <a:schemeClr val="dk1"/>
                </a:solidFill>
                <a:highlight>
                  <a:schemeClr val="lt1"/>
                </a:highlight>
                <a:latin typeface="Montserrat"/>
                <a:ea typeface="Montserrat"/>
                <a:cs typeface="Montserrat"/>
                <a:sym typeface="Montserrat"/>
              </a:rPr>
              <a:t>Christophe MICHAUX ?</a:t>
            </a:r>
            <a:endParaRPr sz="1200">
              <a:solidFill>
                <a:schemeClr val="dk1"/>
              </a:solidFill>
              <a:highlight>
                <a:schemeClr val="lt1"/>
              </a:highlight>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endParaRPr sz="1200">
              <a:solidFill>
                <a:schemeClr val="dk1"/>
              </a:solidFill>
              <a:highlight>
                <a:schemeClr val="lt1"/>
              </a:highlight>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n" sz="1200">
                <a:solidFill>
                  <a:schemeClr val="dk1"/>
                </a:solidFill>
                <a:highlight>
                  <a:schemeClr val="lt1"/>
                </a:highlight>
                <a:latin typeface="Montserrat"/>
                <a:ea typeface="Montserrat"/>
                <a:cs typeface="Montserrat"/>
                <a:sym typeface="Montserrat"/>
              </a:rPr>
              <a:t>Enjeux et projets clés</a:t>
            </a:r>
            <a:endParaRPr sz="1200">
              <a:solidFill>
                <a:schemeClr val="dk1"/>
              </a:solidFill>
              <a:highlight>
                <a:schemeClr val="lt1"/>
              </a:highlight>
              <a:latin typeface="Montserrat"/>
              <a:ea typeface="Montserrat"/>
              <a:cs typeface="Montserrat"/>
              <a:sym typeface="Montserrat"/>
            </a:endParaRPr>
          </a:p>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3f4518f7a80_0_20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 name="Google Shape;253;g3f4518f7a80_0_2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highlight>
                  <a:schemeClr val="lt1"/>
                </a:highlight>
                <a:latin typeface="Montserrat"/>
                <a:ea typeface="Montserrat"/>
                <a:cs typeface="Montserrat"/>
                <a:sym typeface="Montserrat"/>
              </a:rPr>
              <a:t>Maxim De CONINCK ?</a:t>
            </a:r>
            <a:endParaRPr sz="1200">
              <a:solidFill>
                <a:schemeClr val="dk1"/>
              </a:solidFill>
              <a:highlight>
                <a:schemeClr val="lt1"/>
              </a:highlight>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n" sz="1200">
                <a:solidFill>
                  <a:schemeClr val="dk1"/>
                </a:solidFill>
                <a:highlight>
                  <a:schemeClr val="lt1"/>
                </a:highlight>
                <a:latin typeface="Montserrat"/>
                <a:ea typeface="Montserrat"/>
                <a:cs typeface="Montserrat"/>
                <a:sym typeface="Montserrat"/>
              </a:rPr>
              <a:t>Christophe MICHAUX ?</a:t>
            </a:r>
            <a:endParaRPr sz="1200">
              <a:solidFill>
                <a:schemeClr val="dk1"/>
              </a:solidFill>
              <a:highlight>
                <a:schemeClr val="lt1"/>
              </a:highlight>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endParaRPr sz="1200">
              <a:solidFill>
                <a:schemeClr val="dk1"/>
              </a:solidFill>
              <a:highlight>
                <a:schemeClr val="lt1"/>
              </a:highlight>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n" sz="1200">
                <a:solidFill>
                  <a:schemeClr val="dk1"/>
                </a:solidFill>
                <a:highlight>
                  <a:schemeClr val="lt1"/>
                </a:highlight>
                <a:latin typeface="Montserrat"/>
                <a:ea typeface="Montserrat"/>
                <a:cs typeface="Montserrat"/>
                <a:sym typeface="Montserrat"/>
              </a:rPr>
              <a:t>Enjeux et projets clés</a:t>
            </a:r>
            <a:endParaRPr sz="1200">
              <a:solidFill>
                <a:schemeClr val="dk1"/>
              </a:solidFill>
              <a:highlight>
                <a:schemeClr val="lt1"/>
              </a:highlight>
              <a:latin typeface="Montserrat"/>
              <a:ea typeface="Montserrat"/>
              <a:cs typeface="Montserrat"/>
              <a:sym typeface="Montserrat"/>
            </a:endParaRPr>
          </a:p>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f4518f7a80_0_2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 name="Google Shape;269;g3f4518f7a80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highlight>
                  <a:schemeClr val="lt1"/>
                </a:highlight>
                <a:latin typeface="Montserrat"/>
                <a:ea typeface="Montserrat"/>
                <a:cs typeface="Montserrat"/>
                <a:sym typeface="Montserrat"/>
              </a:rPr>
              <a:t>Maxim De CONINCK ?</a:t>
            </a:r>
            <a:endParaRPr sz="1200">
              <a:solidFill>
                <a:schemeClr val="dk1"/>
              </a:solidFill>
              <a:highlight>
                <a:schemeClr val="lt1"/>
              </a:highlight>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n" sz="1200">
                <a:solidFill>
                  <a:schemeClr val="dk1"/>
                </a:solidFill>
                <a:highlight>
                  <a:schemeClr val="lt1"/>
                </a:highlight>
                <a:latin typeface="Montserrat"/>
                <a:ea typeface="Montserrat"/>
                <a:cs typeface="Montserrat"/>
                <a:sym typeface="Montserrat"/>
              </a:rPr>
              <a:t>Christophe MICHAUX ?</a:t>
            </a:r>
            <a:endParaRPr sz="1200">
              <a:solidFill>
                <a:schemeClr val="dk1"/>
              </a:solidFill>
              <a:highlight>
                <a:schemeClr val="lt1"/>
              </a:highlight>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endParaRPr sz="1200">
              <a:solidFill>
                <a:schemeClr val="dk1"/>
              </a:solidFill>
              <a:highlight>
                <a:schemeClr val="lt1"/>
              </a:highlight>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n" sz="1200">
                <a:solidFill>
                  <a:schemeClr val="dk1"/>
                </a:solidFill>
                <a:highlight>
                  <a:schemeClr val="lt1"/>
                </a:highlight>
                <a:latin typeface="Montserrat"/>
                <a:ea typeface="Montserrat"/>
                <a:cs typeface="Montserrat"/>
                <a:sym typeface="Montserrat"/>
              </a:rPr>
              <a:t>Enjeux et projets clés</a:t>
            </a:r>
            <a:endParaRPr sz="1200">
              <a:solidFill>
                <a:schemeClr val="dk1"/>
              </a:solidFill>
              <a:highlight>
                <a:schemeClr val="lt1"/>
              </a:highlight>
              <a:latin typeface="Montserrat"/>
              <a:ea typeface="Montserrat"/>
              <a:cs typeface="Montserrat"/>
              <a:sym typeface="Montserrat"/>
            </a:endParaRPr>
          </a:p>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3f54d1ae969_0_19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7" name="Google Shape;277;g3f54d1ae969_0_1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highlight>
                  <a:schemeClr val="lt1"/>
                </a:highlight>
                <a:latin typeface="Montserrat"/>
                <a:ea typeface="Montserrat"/>
                <a:cs typeface="Montserrat"/>
                <a:sym typeface="Montserrat"/>
              </a:rPr>
              <a:t>Maxim De CONINCK ?</a:t>
            </a:r>
            <a:endParaRPr sz="1200">
              <a:solidFill>
                <a:schemeClr val="dk1"/>
              </a:solidFill>
              <a:highlight>
                <a:schemeClr val="lt1"/>
              </a:highlight>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n" sz="1200">
                <a:solidFill>
                  <a:schemeClr val="dk1"/>
                </a:solidFill>
                <a:highlight>
                  <a:schemeClr val="lt1"/>
                </a:highlight>
                <a:latin typeface="Montserrat"/>
                <a:ea typeface="Montserrat"/>
                <a:cs typeface="Montserrat"/>
                <a:sym typeface="Montserrat"/>
              </a:rPr>
              <a:t>Christophe MICHAUX ?</a:t>
            </a:r>
            <a:endParaRPr sz="1200">
              <a:solidFill>
                <a:schemeClr val="dk1"/>
              </a:solidFill>
              <a:highlight>
                <a:schemeClr val="lt1"/>
              </a:highlight>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endParaRPr sz="1200">
              <a:solidFill>
                <a:schemeClr val="dk1"/>
              </a:solidFill>
              <a:highlight>
                <a:schemeClr val="lt1"/>
              </a:highlight>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n" sz="1200">
                <a:solidFill>
                  <a:schemeClr val="dk1"/>
                </a:solidFill>
                <a:highlight>
                  <a:schemeClr val="lt1"/>
                </a:highlight>
                <a:latin typeface="Montserrat"/>
                <a:ea typeface="Montserrat"/>
                <a:cs typeface="Montserrat"/>
                <a:sym typeface="Montserrat"/>
              </a:rPr>
              <a:t>Enjeux et projets clés</a:t>
            </a:r>
            <a:endParaRPr sz="1200">
              <a:solidFill>
                <a:schemeClr val="dk1"/>
              </a:solidFill>
              <a:highlight>
                <a:schemeClr val="lt1"/>
              </a:highlight>
              <a:latin typeface="Montserrat"/>
              <a:ea typeface="Montserrat"/>
              <a:cs typeface="Montserrat"/>
              <a:sym typeface="Montserrat"/>
            </a:endParaRPr>
          </a:p>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3f54d1ae969_0_2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 name="Google Shape;285;g3f54d1ae969_0_2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highlight>
                  <a:schemeClr val="lt1"/>
                </a:highlight>
                <a:latin typeface="Montserrat"/>
                <a:ea typeface="Montserrat"/>
                <a:cs typeface="Montserrat"/>
                <a:sym typeface="Montserrat"/>
              </a:rPr>
              <a:t>Maxim De CONINCK ?</a:t>
            </a:r>
            <a:endParaRPr sz="1200">
              <a:solidFill>
                <a:schemeClr val="dk1"/>
              </a:solidFill>
              <a:highlight>
                <a:schemeClr val="lt1"/>
              </a:highlight>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n" sz="1200">
                <a:solidFill>
                  <a:schemeClr val="dk1"/>
                </a:solidFill>
                <a:highlight>
                  <a:schemeClr val="lt1"/>
                </a:highlight>
                <a:latin typeface="Montserrat"/>
                <a:ea typeface="Montserrat"/>
                <a:cs typeface="Montserrat"/>
                <a:sym typeface="Montserrat"/>
              </a:rPr>
              <a:t>Christophe MICHAUX ?</a:t>
            </a:r>
            <a:endParaRPr sz="1200">
              <a:solidFill>
                <a:schemeClr val="dk1"/>
              </a:solidFill>
              <a:highlight>
                <a:schemeClr val="lt1"/>
              </a:highlight>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endParaRPr sz="1200">
              <a:solidFill>
                <a:schemeClr val="dk1"/>
              </a:solidFill>
              <a:highlight>
                <a:schemeClr val="lt1"/>
              </a:highlight>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n" sz="1200">
                <a:solidFill>
                  <a:schemeClr val="dk1"/>
                </a:solidFill>
                <a:highlight>
                  <a:schemeClr val="lt1"/>
                </a:highlight>
                <a:latin typeface="Montserrat"/>
                <a:ea typeface="Montserrat"/>
                <a:cs typeface="Montserrat"/>
                <a:sym typeface="Montserrat"/>
              </a:rPr>
              <a:t>Enjeux et projets clés</a:t>
            </a:r>
            <a:endParaRPr sz="1200">
              <a:solidFill>
                <a:schemeClr val="dk1"/>
              </a:solidFill>
              <a:highlight>
                <a:schemeClr val="lt1"/>
              </a:highlight>
              <a:latin typeface="Montserrat"/>
              <a:ea typeface="Montserrat"/>
              <a:cs typeface="Montserrat"/>
              <a:sym typeface="Montserrat"/>
            </a:endParaRPr>
          </a:p>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3f54d1ae969_0_2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3f54d1ae969_0_2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highlight>
                  <a:schemeClr val="lt1"/>
                </a:highlight>
                <a:latin typeface="Montserrat"/>
                <a:ea typeface="Montserrat"/>
                <a:cs typeface="Montserrat"/>
                <a:sym typeface="Montserrat"/>
              </a:rPr>
              <a:t>Maxim De CONINCK ?</a:t>
            </a:r>
            <a:endParaRPr sz="1200">
              <a:solidFill>
                <a:schemeClr val="dk1"/>
              </a:solidFill>
              <a:highlight>
                <a:schemeClr val="lt1"/>
              </a:highlight>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n" sz="1200">
                <a:solidFill>
                  <a:schemeClr val="dk1"/>
                </a:solidFill>
                <a:highlight>
                  <a:schemeClr val="lt1"/>
                </a:highlight>
                <a:latin typeface="Montserrat"/>
                <a:ea typeface="Montserrat"/>
                <a:cs typeface="Montserrat"/>
                <a:sym typeface="Montserrat"/>
              </a:rPr>
              <a:t>Christophe MICHAUX ?</a:t>
            </a:r>
            <a:endParaRPr sz="1200">
              <a:solidFill>
                <a:schemeClr val="dk1"/>
              </a:solidFill>
              <a:highlight>
                <a:schemeClr val="lt1"/>
              </a:highlight>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endParaRPr sz="1200">
              <a:solidFill>
                <a:schemeClr val="dk1"/>
              </a:solidFill>
              <a:highlight>
                <a:schemeClr val="lt1"/>
              </a:highlight>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n" sz="1200">
                <a:solidFill>
                  <a:schemeClr val="dk1"/>
                </a:solidFill>
                <a:highlight>
                  <a:schemeClr val="lt1"/>
                </a:highlight>
                <a:latin typeface="Montserrat"/>
                <a:ea typeface="Montserrat"/>
                <a:cs typeface="Montserrat"/>
                <a:sym typeface="Montserrat"/>
              </a:rPr>
              <a:t>Enjeux et projets clés</a:t>
            </a:r>
            <a:endParaRPr sz="1200">
              <a:solidFill>
                <a:schemeClr val="dk1"/>
              </a:solidFill>
              <a:highlight>
                <a:schemeClr val="lt1"/>
              </a:highlight>
              <a:latin typeface="Montserrat"/>
              <a:ea typeface="Montserrat"/>
              <a:cs typeface="Montserrat"/>
              <a:sym typeface="Montserrat"/>
            </a:endParaRPr>
          </a:p>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3f4518f7a80_0_2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 name="Google Shape;302;g3f4518f7a80_0_2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highlight>
                  <a:schemeClr val="lt1"/>
                </a:highlight>
                <a:latin typeface="Montserrat"/>
                <a:ea typeface="Montserrat"/>
                <a:cs typeface="Montserrat"/>
                <a:sym typeface="Montserrat"/>
              </a:rPr>
              <a:t>Maxim De CONINCK ?</a:t>
            </a:r>
            <a:endParaRPr sz="1200">
              <a:solidFill>
                <a:schemeClr val="dk1"/>
              </a:solidFill>
              <a:highlight>
                <a:schemeClr val="lt1"/>
              </a:highlight>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n" sz="1200">
                <a:solidFill>
                  <a:schemeClr val="dk1"/>
                </a:solidFill>
                <a:highlight>
                  <a:schemeClr val="lt1"/>
                </a:highlight>
                <a:latin typeface="Montserrat"/>
                <a:ea typeface="Montserrat"/>
                <a:cs typeface="Montserrat"/>
                <a:sym typeface="Montserrat"/>
              </a:rPr>
              <a:t>Christophe MICHAUX ?</a:t>
            </a:r>
            <a:endParaRPr sz="1200">
              <a:solidFill>
                <a:schemeClr val="dk1"/>
              </a:solidFill>
              <a:highlight>
                <a:schemeClr val="lt1"/>
              </a:highlight>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endParaRPr sz="1200">
              <a:solidFill>
                <a:schemeClr val="dk1"/>
              </a:solidFill>
              <a:highlight>
                <a:schemeClr val="lt1"/>
              </a:highlight>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n" sz="1200">
                <a:solidFill>
                  <a:schemeClr val="dk1"/>
                </a:solidFill>
                <a:highlight>
                  <a:schemeClr val="lt1"/>
                </a:highlight>
                <a:latin typeface="Montserrat"/>
                <a:ea typeface="Montserrat"/>
                <a:cs typeface="Montserrat"/>
                <a:sym typeface="Montserrat"/>
              </a:rPr>
              <a:t>Enjeux et projets clés</a:t>
            </a:r>
            <a:endParaRPr sz="1200">
              <a:solidFill>
                <a:schemeClr val="dk1"/>
              </a:solidFill>
              <a:highlight>
                <a:schemeClr val="lt1"/>
              </a:highlight>
              <a:latin typeface="Montserrat"/>
              <a:ea typeface="Montserrat"/>
              <a:cs typeface="Montserrat"/>
              <a:sym typeface="Montserrat"/>
            </a:endParaRPr>
          </a:p>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g3f54d1ae969_0_2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0" name="Google Shape;310;g3f54d1ae969_0_2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3"/>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3" name="Google Shape;13;p3"/>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4" name="Google Shape;14;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4"/>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7" name="Google Shape;17;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0" name="Google Shape;20;p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21" name="Google Shape;21;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4" name="Google Shape;24;p6"/>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5" name="Google Shape;25;p6"/>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6" name="Google Shape;26;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9" name="Google Shape;29;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0"/>
        <p:cNvGrpSpPr/>
        <p:nvPr/>
      </p:nvGrpSpPr>
      <p:grpSpPr>
        <a:xfrm>
          <a:off x="0" y="0"/>
          <a:ext cx="0" cy="0"/>
          <a:chOff x="0" y="0"/>
          <a:chExt cx="0" cy="0"/>
        </a:xfrm>
      </p:grpSpPr>
      <p:sp>
        <p:nvSpPr>
          <p:cNvPr id="31" name="Google Shape;31;p8"/>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2" name="Google Shape;32;p8"/>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3" name="Google Shape;33;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4"/>
        <p:cNvGrpSpPr/>
        <p:nvPr/>
      </p:nvGrpSpPr>
      <p:grpSpPr>
        <a:xfrm>
          <a:off x="0" y="0"/>
          <a:ext cx="0" cy="0"/>
          <a:chOff x="0" y="0"/>
          <a:chExt cx="0" cy="0"/>
        </a:xfrm>
      </p:grpSpPr>
      <p:sp>
        <p:nvSpPr>
          <p:cNvPr id="35" name="Google Shape;35;p9"/>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6" name="Google Shape;36;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7"/>
        <p:cNvGrpSpPr/>
        <p:nvPr/>
      </p:nvGrpSpPr>
      <p:grpSpPr>
        <a:xfrm>
          <a:off x="0" y="0"/>
          <a:ext cx="0" cy="0"/>
          <a:chOff x="0" y="0"/>
          <a:chExt cx="0" cy="0"/>
        </a:xfrm>
      </p:grpSpPr>
      <p:sp>
        <p:nvSpPr>
          <p:cNvPr id="38" name="Google Shape;38;p10"/>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1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0" name="Google Shape;40;p1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1" name="Google Shape;41;p1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2" name="Google Shape;42;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3"/>
        <p:cNvGrpSpPr/>
        <p:nvPr/>
      </p:nvGrpSpPr>
      <p:grpSpPr>
        <a:xfrm>
          <a:off x="0" y="0"/>
          <a:ext cx="0" cy="0"/>
          <a:chOff x="0" y="0"/>
          <a:chExt cx="0" cy="0"/>
        </a:xfrm>
      </p:grpSpPr>
      <p:sp>
        <p:nvSpPr>
          <p:cNvPr id="44" name="Google Shape;44;p11"/>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5" name="Google Shape;45;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6"/>
        <p:cNvGrpSpPr/>
        <p:nvPr/>
      </p:nvGrpSpPr>
      <p:grpSpPr>
        <a:xfrm>
          <a:off x="0" y="0"/>
          <a:ext cx="0" cy="0"/>
          <a:chOff x="0" y="0"/>
          <a:chExt cx="0" cy="0"/>
        </a:xfrm>
      </p:grpSpPr>
      <p:sp>
        <p:nvSpPr>
          <p:cNvPr id="47" name="Google Shape;47;p12"/>
          <p:cNvSpPr txBox="1">
            <a:spLocks noGrp="1"/>
          </p:cNvSpPr>
          <p:nvPr>
            <p:ph type="title"/>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endParaRPr/>
          </a:p>
        </p:txBody>
      </p:sp>
      <p:sp>
        <p:nvSpPr>
          <p:cNvPr id="48" name="Google Shape;48;p12"/>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re et contenu"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28650" y="273844"/>
            <a:ext cx="7886700" cy="9942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628650" y="1369219"/>
            <a:ext cx="7886700" cy="3263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1200"/>
              </a:spcBef>
              <a:spcAft>
                <a:spcPts val="0"/>
              </a:spcAft>
              <a:buClr>
                <a:schemeClr val="dk1"/>
              </a:buClr>
              <a:buSzPts val="1800"/>
              <a:buChar char="○"/>
              <a:defRPr/>
            </a:lvl2pPr>
            <a:lvl3pPr marL="1371600" lvl="2" indent="-342900" algn="l">
              <a:lnSpc>
                <a:spcPct val="90000"/>
              </a:lnSpc>
              <a:spcBef>
                <a:spcPts val="1200"/>
              </a:spcBef>
              <a:spcAft>
                <a:spcPts val="0"/>
              </a:spcAft>
              <a:buClr>
                <a:schemeClr val="dk1"/>
              </a:buClr>
              <a:buSzPts val="1800"/>
              <a:buChar char="■"/>
              <a:defRPr/>
            </a:lvl3pPr>
            <a:lvl4pPr marL="1828800" lvl="3" indent="-342900" algn="l">
              <a:lnSpc>
                <a:spcPct val="90000"/>
              </a:lnSpc>
              <a:spcBef>
                <a:spcPts val="1200"/>
              </a:spcBef>
              <a:spcAft>
                <a:spcPts val="0"/>
              </a:spcAft>
              <a:buClr>
                <a:schemeClr val="dk1"/>
              </a:buClr>
              <a:buSzPts val="1800"/>
              <a:buChar char="●"/>
              <a:defRPr/>
            </a:lvl4pPr>
            <a:lvl5pPr marL="2286000" lvl="4" indent="-342900" algn="l">
              <a:lnSpc>
                <a:spcPct val="90000"/>
              </a:lnSpc>
              <a:spcBef>
                <a:spcPts val="1200"/>
              </a:spcBef>
              <a:spcAft>
                <a:spcPts val="0"/>
              </a:spcAft>
              <a:buClr>
                <a:schemeClr val="dk1"/>
              </a:buClr>
              <a:buSzPts val="1800"/>
              <a:buChar char="○"/>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1200"/>
              </a:spcBef>
              <a:spcAft>
                <a:spcPts val="0"/>
              </a:spcAft>
              <a:buClr>
                <a:schemeClr val="dk1"/>
              </a:buClr>
              <a:buSzPts val="1800"/>
              <a:buChar char="●"/>
              <a:defRPr/>
            </a:lvl7pPr>
            <a:lvl8pPr marL="3657600" lvl="7" indent="-342900" algn="l">
              <a:lnSpc>
                <a:spcPct val="90000"/>
              </a:lnSpc>
              <a:spcBef>
                <a:spcPts val="1200"/>
              </a:spcBef>
              <a:spcAft>
                <a:spcPts val="0"/>
              </a:spcAft>
              <a:buClr>
                <a:schemeClr val="dk1"/>
              </a:buClr>
              <a:buSzPts val="1800"/>
              <a:buChar char="○"/>
              <a:defRPr/>
            </a:lvl8pPr>
            <a:lvl9pPr marL="4114800" lvl="8" indent="-342900" algn="l">
              <a:lnSpc>
                <a:spcPct val="90000"/>
              </a:lnSpc>
              <a:spcBef>
                <a:spcPts val="1200"/>
              </a:spcBef>
              <a:spcAft>
                <a:spcPts val="1200"/>
              </a:spcAft>
              <a:buClr>
                <a:schemeClr val="dk1"/>
              </a:buClr>
              <a:buSzPts val="1800"/>
              <a:buChar char="■"/>
              <a:defRPr/>
            </a:lvl9pPr>
          </a:lstStyle>
          <a:p>
            <a:endParaRPr/>
          </a:p>
        </p:txBody>
      </p:sp>
      <p:sp>
        <p:nvSpPr>
          <p:cNvPr id="53" name="Google Shape;53;p13"/>
          <p:cNvSpPr txBox="1">
            <a:spLocks noGrp="1"/>
          </p:cNvSpPr>
          <p:nvPr>
            <p:ph type="dt" idx="10"/>
          </p:nvPr>
        </p:nvSpPr>
        <p:spPr>
          <a:xfrm>
            <a:off x="628650" y="4767263"/>
            <a:ext cx="2057400" cy="2739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4" name="Google Shape;54;p13"/>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5" name="Google Shape;55;p13"/>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Diapositive de titre 1">
  <p:cSld name="2_Diapositive de titre 3">
    <p:spTree>
      <p:nvGrpSpPr>
        <p:cNvPr id="1" name="Shape 56"/>
        <p:cNvGrpSpPr/>
        <p:nvPr/>
      </p:nvGrpSpPr>
      <p:grpSpPr>
        <a:xfrm>
          <a:off x="0" y="0"/>
          <a:ext cx="0" cy="0"/>
          <a:chOff x="0" y="0"/>
          <a:chExt cx="0" cy="0"/>
        </a:xfrm>
      </p:grpSpPr>
      <p:sp>
        <p:nvSpPr>
          <p:cNvPr id="57" name="Google Shape;57;p14"/>
          <p:cNvSpPr txBox="1">
            <a:spLocks noGrp="1"/>
          </p:cNvSpPr>
          <p:nvPr>
            <p:ph type="sldNum" idx="12"/>
          </p:nvPr>
        </p:nvSpPr>
        <p:spPr>
          <a:xfrm>
            <a:off x="457200" y="4767263"/>
            <a:ext cx="680700" cy="273900"/>
          </a:xfrm>
          <a:prstGeom prst="rect">
            <a:avLst/>
          </a:prstGeom>
          <a:noFill/>
          <a:ln>
            <a:noFill/>
          </a:ln>
        </p:spPr>
        <p:txBody>
          <a:bodyPr spcFirstLastPara="1" wrap="square" lIns="68575" tIns="34275" rIns="68575" bIns="34275" anchor="ctr" anchorCtr="0">
            <a:noAutofit/>
          </a:bodyPr>
          <a:lstStyle>
            <a:lvl1pPr marL="0" marR="0" lvl="0" indent="0" algn="l" rtl="0">
              <a:lnSpc>
                <a:spcPct val="100000"/>
              </a:lnSpc>
              <a:spcBef>
                <a:spcPts val="0"/>
              </a:spcBef>
              <a:spcAft>
                <a:spcPts val="0"/>
              </a:spcAft>
              <a:buClr>
                <a:srgbClr val="000000"/>
              </a:buClr>
              <a:buSzPts val="900"/>
              <a:buFont typeface="Arial"/>
              <a:buNone/>
              <a:defRPr sz="9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900"/>
              <a:buFont typeface="Arial"/>
              <a:buNone/>
              <a:defRPr sz="9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900"/>
              <a:buFont typeface="Arial"/>
              <a:buNone/>
              <a:defRPr sz="9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900"/>
              <a:buFont typeface="Arial"/>
              <a:buNone/>
              <a:defRPr sz="9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900"/>
              <a:buFont typeface="Arial"/>
              <a:buNone/>
              <a:defRPr sz="9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900"/>
              <a:buFont typeface="Arial"/>
              <a:buNone/>
              <a:defRPr sz="9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900"/>
              <a:buFont typeface="Arial"/>
              <a:buNone/>
              <a:defRPr sz="9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900"/>
              <a:buFont typeface="Arial"/>
              <a:buNone/>
              <a:defRPr sz="9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900"/>
              <a:buFont typeface="Arial"/>
              <a:buNone/>
              <a:defRPr sz="9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
              <a:t>‹N°›</a:t>
            </a:fld>
            <a:endParaRPr/>
          </a:p>
        </p:txBody>
      </p:sp>
      <p:sp>
        <p:nvSpPr>
          <p:cNvPr id="58" name="Google Shape;58;p14"/>
          <p:cNvSpPr>
            <a:spLocks noGrp="1"/>
          </p:cNvSpPr>
          <p:nvPr>
            <p:ph type="pic" idx="2"/>
          </p:nvPr>
        </p:nvSpPr>
        <p:spPr>
          <a:xfrm>
            <a:off x="4636857" y="1338738"/>
            <a:ext cx="4507200" cy="2690400"/>
          </a:xfrm>
          <a:prstGeom prst="rect">
            <a:avLst/>
          </a:prstGeom>
          <a:gradFill>
            <a:gsLst>
              <a:gs pos="0">
                <a:schemeClr val="accent1"/>
              </a:gs>
              <a:gs pos="77600">
                <a:srgbClr val="C8C6F0"/>
              </a:gs>
              <a:gs pos="100000">
                <a:schemeClr val="lt1"/>
              </a:gs>
            </a:gsLst>
            <a:lin ang="5400012" scaled="0"/>
          </a:gradFill>
          <a:ln>
            <a:noFill/>
          </a:ln>
        </p:spPr>
      </p:sp>
      <p:sp>
        <p:nvSpPr>
          <p:cNvPr id="59" name="Google Shape;59;p14"/>
          <p:cNvSpPr txBox="1">
            <a:spLocks noGrp="1"/>
          </p:cNvSpPr>
          <p:nvPr>
            <p:ph type="body" idx="1"/>
          </p:nvPr>
        </p:nvSpPr>
        <p:spPr>
          <a:xfrm>
            <a:off x="447626" y="1338738"/>
            <a:ext cx="3976800" cy="2077500"/>
          </a:xfrm>
          <a:prstGeom prst="rect">
            <a:avLst/>
          </a:prstGeom>
          <a:noFill/>
          <a:ln>
            <a:noFill/>
          </a:ln>
        </p:spPr>
        <p:txBody>
          <a:bodyPr spcFirstLastPara="1" wrap="square" lIns="68575" tIns="34275" rIns="68575" bIns="34275" anchor="t" anchorCtr="0">
            <a:spAutoFit/>
          </a:bodyPr>
          <a:lstStyle>
            <a:lvl1pPr marL="457200" lvl="0" indent="-228600" algn="l" rtl="0">
              <a:lnSpc>
                <a:spcPct val="100000"/>
              </a:lnSpc>
              <a:spcBef>
                <a:spcPts val="500"/>
              </a:spcBef>
              <a:spcAft>
                <a:spcPts val="0"/>
              </a:spcAft>
              <a:buSzPts val="2400"/>
              <a:buNone/>
              <a:defRPr sz="1800"/>
            </a:lvl1pPr>
            <a:lvl2pPr marL="914400" lvl="1" indent="-228600" algn="l" rtl="0">
              <a:lnSpc>
                <a:spcPct val="100000"/>
              </a:lnSpc>
              <a:spcBef>
                <a:spcPts val="900"/>
              </a:spcBef>
              <a:spcAft>
                <a:spcPts val="0"/>
              </a:spcAft>
              <a:buSzPts val="2100"/>
              <a:buNone/>
              <a:defRPr sz="2100">
                <a:solidFill>
                  <a:schemeClr val="accent1"/>
                </a:solidFill>
              </a:defRPr>
            </a:lvl2pPr>
            <a:lvl3pPr marL="1371600" lvl="2" indent="-342900" algn="l" rtl="0">
              <a:lnSpc>
                <a:spcPct val="100000"/>
              </a:lnSpc>
              <a:spcBef>
                <a:spcPts val="900"/>
              </a:spcBef>
              <a:spcAft>
                <a:spcPts val="0"/>
              </a:spcAft>
              <a:buClr>
                <a:schemeClr val="accent1"/>
              </a:buClr>
              <a:buSzPts val="1800"/>
              <a:buChar char="■"/>
              <a:defRPr sz="1800"/>
            </a:lvl3pPr>
            <a:lvl4pPr marL="1828800" lvl="3" indent="-228600" algn="l" rtl="0">
              <a:lnSpc>
                <a:spcPct val="100000"/>
              </a:lnSpc>
              <a:spcBef>
                <a:spcPts val="900"/>
              </a:spcBef>
              <a:spcAft>
                <a:spcPts val="0"/>
              </a:spcAft>
              <a:buSzPts val="1500"/>
              <a:buNone/>
              <a:defRPr sz="1500">
                <a:solidFill>
                  <a:schemeClr val="accent1"/>
                </a:solidFill>
              </a:defRPr>
            </a:lvl4pPr>
            <a:lvl5pPr marL="2286000" lvl="4" indent="-228600" algn="l" rtl="0">
              <a:lnSpc>
                <a:spcPct val="100000"/>
              </a:lnSpc>
              <a:spcBef>
                <a:spcPts val="500"/>
              </a:spcBef>
              <a:spcAft>
                <a:spcPts val="0"/>
              </a:spcAft>
              <a:buSzPts val="1500"/>
              <a:buNone/>
              <a:defRPr/>
            </a:lvl5pPr>
            <a:lvl6pPr marL="2743200" lvl="5" indent="-323850" algn="l" rtl="0">
              <a:lnSpc>
                <a:spcPct val="100000"/>
              </a:lnSpc>
              <a:spcBef>
                <a:spcPts val="500"/>
              </a:spcBef>
              <a:spcAft>
                <a:spcPts val="0"/>
              </a:spcAft>
              <a:buSzPts val="1500"/>
              <a:buChar char="■"/>
              <a:defRPr/>
            </a:lvl6pPr>
            <a:lvl7pPr marL="3200400" lvl="6" indent="-323850" algn="l" rtl="0">
              <a:lnSpc>
                <a:spcPct val="100000"/>
              </a:lnSpc>
              <a:spcBef>
                <a:spcPts val="300"/>
              </a:spcBef>
              <a:spcAft>
                <a:spcPts val="0"/>
              </a:spcAft>
              <a:buSzPts val="1500"/>
              <a:buChar char="●"/>
              <a:defRPr/>
            </a:lvl7pPr>
            <a:lvl8pPr marL="3657600" lvl="7" indent="-323850" algn="l" rtl="0">
              <a:lnSpc>
                <a:spcPct val="100000"/>
              </a:lnSpc>
              <a:spcBef>
                <a:spcPts val="300"/>
              </a:spcBef>
              <a:spcAft>
                <a:spcPts val="0"/>
              </a:spcAft>
              <a:buSzPts val="1500"/>
              <a:buChar char="○"/>
              <a:defRPr/>
            </a:lvl8pPr>
            <a:lvl9pPr marL="4114800" lvl="8" indent="-323850" algn="l" rtl="0">
              <a:lnSpc>
                <a:spcPct val="100000"/>
              </a:lnSpc>
              <a:spcBef>
                <a:spcPts val="300"/>
              </a:spcBef>
              <a:spcAft>
                <a:spcPts val="0"/>
              </a:spcAft>
              <a:buSzPts val="1500"/>
              <a:buChar char="■"/>
              <a:defRPr/>
            </a:lvl9pPr>
          </a:lstStyle>
          <a:p>
            <a:endParaRPr/>
          </a:p>
        </p:txBody>
      </p:sp>
      <p:sp>
        <p:nvSpPr>
          <p:cNvPr id="60" name="Google Shape;60;p14"/>
          <p:cNvSpPr txBox="1">
            <a:spLocks noGrp="1"/>
          </p:cNvSpPr>
          <p:nvPr>
            <p:ph type="ctrTitle"/>
          </p:nvPr>
        </p:nvSpPr>
        <p:spPr>
          <a:xfrm>
            <a:off x="447625" y="566006"/>
            <a:ext cx="7972800" cy="611700"/>
          </a:xfrm>
          <a:prstGeom prst="rect">
            <a:avLst/>
          </a:prstGeom>
          <a:noFill/>
          <a:ln>
            <a:noFill/>
          </a:ln>
        </p:spPr>
        <p:txBody>
          <a:bodyPr spcFirstLastPara="1" wrap="square" lIns="68575" tIns="34275" rIns="68575" bIns="34275" anchor="t" anchorCtr="0">
            <a:normAutofit/>
          </a:bodyPr>
          <a:lstStyle>
            <a:lvl1pPr lvl="0" algn="l" rtl="0">
              <a:lnSpc>
                <a:spcPct val="100000"/>
              </a:lnSpc>
              <a:spcBef>
                <a:spcPts val="0"/>
              </a:spcBef>
              <a:spcAft>
                <a:spcPts val="0"/>
              </a:spcAft>
              <a:buClr>
                <a:srgbClr val="0A00BE"/>
              </a:buClr>
              <a:buSzPts val="3300"/>
              <a:buFont typeface="Syne"/>
              <a:buNone/>
              <a:defRPr sz="3300">
                <a:solidFill>
                  <a:srgbClr val="0A00BE"/>
                </a:solidFill>
                <a:latin typeface="Syne Medium"/>
                <a:ea typeface="Syne Medium"/>
                <a:cs typeface="Syne Medium"/>
                <a:sym typeface="Syne Medium"/>
              </a:defRPr>
            </a:lvl1pPr>
            <a:lvl2pPr lvl="1" algn="l" rtl="0">
              <a:lnSpc>
                <a:spcPct val="100000"/>
              </a:lnSpc>
              <a:spcBef>
                <a:spcPts val="0"/>
              </a:spcBef>
              <a:spcAft>
                <a:spcPts val="0"/>
              </a:spcAft>
              <a:buSzPts val="1100"/>
              <a:buFont typeface="Syne"/>
              <a:buNone/>
              <a:defRPr>
                <a:latin typeface="Syne Medium"/>
                <a:ea typeface="Syne Medium"/>
                <a:cs typeface="Syne Medium"/>
                <a:sym typeface="Syne Medium"/>
              </a:defRPr>
            </a:lvl2pPr>
            <a:lvl3pPr lvl="2" algn="l" rtl="0">
              <a:lnSpc>
                <a:spcPct val="100000"/>
              </a:lnSpc>
              <a:spcBef>
                <a:spcPts val="0"/>
              </a:spcBef>
              <a:spcAft>
                <a:spcPts val="0"/>
              </a:spcAft>
              <a:buSzPts val="1100"/>
              <a:buFont typeface="Syne"/>
              <a:buNone/>
              <a:defRPr>
                <a:latin typeface="Syne Medium"/>
                <a:ea typeface="Syne Medium"/>
                <a:cs typeface="Syne Medium"/>
                <a:sym typeface="Syne Medium"/>
              </a:defRPr>
            </a:lvl3pPr>
            <a:lvl4pPr lvl="3" algn="l" rtl="0">
              <a:lnSpc>
                <a:spcPct val="100000"/>
              </a:lnSpc>
              <a:spcBef>
                <a:spcPts val="0"/>
              </a:spcBef>
              <a:spcAft>
                <a:spcPts val="0"/>
              </a:spcAft>
              <a:buSzPts val="1100"/>
              <a:buFont typeface="Syne"/>
              <a:buNone/>
              <a:defRPr>
                <a:latin typeface="Syne Medium"/>
                <a:ea typeface="Syne Medium"/>
                <a:cs typeface="Syne Medium"/>
                <a:sym typeface="Syne Medium"/>
              </a:defRPr>
            </a:lvl4pPr>
            <a:lvl5pPr lvl="4" algn="l" rtl="0">
              <a:lnSpc>
                <a:spcPct val="100000"/>
              </a:lnSpc>
              <a:spcBef>
                <a:spcPts val="0"/>
              </a:spcBef>
              <a:spcAft>
                <a:spcPts val="0"/>
              </a:spcAft>
              <a:buSzPts val="1100"/>
              <a:buFont typeface="Syne"/>
              <a:buNone/>
              <a:defRPr>
                <a:latin typeface="Syne Medium"/>
                <a:ea typeface="Syne Medium"/>
                <a:cs typeface="Syne Medium"/>
                <a:sym typeface="Syne Medium"/>
              </a:defRPr>
            </a:lvl5pPr>
            <a:lvl6pPr lvl="5" algn="l" rtl="0">
              <a:lnSpc>
                <a:spcPct val="100000"/>
              </a:lnSpc>
              <a:spcBef>
                <a:spcPts val="0"/>
              </a:spcBef>
              <a:spcAft>
                <a:spcPts val="0"/>
              </a:spcAft>
              <a:buSzPts val="1100"/>
              <a:buFont typeface="Syne"/>
              <a:buNone/>
              <a:defRPr>
                <a:latin typeface="Syne Medium"/>
                <a:ea typeface="Syne Medium"/>
                <a:cs typeface="Syne Medium"/>
                <a:sym typeface="Syne Medium"/>
              </a:defRPr>
            </a:lvl6pPr>
            <a:lvl7pPr lvl="6" algn="l" rtl="0">
              <a:lnSpc>
                <a:spcPct val="100000"/>
              </a:lnSpc>
              <a:spcBef>
                <a:spcPts val="0"/>
              </a:spcBef>
              <a:spcAft>
                <a:spcPts val="0"/>
              </a:spcAft>
              <a:buSzPts val="1100"/>
              <a:buFont typeface="Syne"/>
              <a:buNone/>
              <a:defRPr>
                <a:latin typeface="Syne Medium"/>
                <a:ea typeface="Syne Medium"/>
                <a:cs typeface="Syne Medium"/>
                <a:sym typeface="Syne Medium"/>
              </a:defRPr>
            </a:lvl7pPr>
            <a:lvl8pPr lvl="7" algn="l" rtl="0">
              <a:lnSpc>
                <a:spcPct val="100000"/>
              </a:lnSpc>
              <a:spcBef>
                <a:spcPts val="0"/>
              </a:spcBef>
              <a:spcAft>
                <a:spcPts val="0"/>
              </a:spcAft>
              <a:buSzPts val="1100"/>
              <a:buFont typeface="Syne"/>
              <a:buNone/>
              <a:defRPr>
                <a:latin typeface="Syne Medium"/>
                <a:ea typeface="Syne Medium"/>
                <a:cs typeface="Syne Medium"/>
                <a:sym typeface="Syne Medium"/>
              </a:defRPr>
            </a:lvl8pPr>
            <a:lvl9pPr lvl="8" algn="l" rtl="0">
              <a:lnSpc>
                <a:spcPct val="100000"/>
              </a:lnSpc>
              <a:spcBef>
                <a:spcPts val="0"/>
              </a:spcBef>
              <a:spcAft>
                <a:spcPts val="0"/>
              </a:spcAft>
              <a:buSzPts val="1100"/>
              <a:buFont typeface="Syne"/>
              <a:buNone/>
              <a:defRPr>
                <a:latin typeface="Syne Medium"/>
                <a:ea typeface="Syne Medium"/>
                <a:cs typeface="Syne Medium"/>
                <a:sym typeface="Syne Medium"/>
              </a:defRPr>
            </a:lvl9pPr>
          </a:lstStyle>
          <a:p>
            <a:endParaRPr/>
          </a:p>
        </p:txBody>
      </p:sp>
    </p:spTree>
  </p:cSld>
  <p:clrMapOvr>
    <a:masterClrMapping/>
  </p:clrMapOvr>
  <p:extLst>
    <p:ext uri="{DCECCB84-F9BA-43D5-87BE-67443E8EF086}">
      <p15:sldGuideLst xmlns:p15="http://schemas.microsoft.com/office/powerpoint/2012/main">
        <p15:guide id="1" orient="horz" pos="344">
          <p15:clr>
            <a:srgbClr val="FBAE40"/>
          </p15:clr>
        </p15:guide>
        <p15:guide id="2" pos="2880">
          <p15:clr>
            <a:srgbClr val="FBAE40"/>
          </p15:clr>
        </p15:guide>
        <p15:guide id="3" pos="216">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ONTENU">
  <p:cSld name="CONTENU">
    <p:spTree>
      <p:nvGrpSpPr>
        <p:cNvPr id="1" name="Shape 61"/>
        <p:cNvGrpSpPr/>
        <p:nvPr/>
      </p:nvGrpSpPr>
      <p:grpSpPr>
        <a:xfrm>
          <a:off x="0" y="0"/>
          <a:ext cx="0" cy="0"/>
          <a:chOff x="0" y="0"/>
          <a:chExt cx="0" cy="0"/>
        </a:xfrm>
      </p:grpSpPr>
      <p:sp>
        <p:nvSpPr>
          <p:cNvPr id="62" name="Google Shape;62;p15"/>
          <p:cNvSpPr txBox="1"/>
          <p:nvPr/>
        </p:nvSpPr>
        <p:spPr>
          <a:xfrm>
            <a:off x="8172400" y="4758961"/>
            <a:ext cx="720000" cy="3822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A5A5A5"/>
              </a:buClr>
              <a:buSzPts val="1000"/>
              <a:buFont typeface="Arial"/>
              <a:buNone/>
            </a:pPr>
            <a:fld id="{00000000-1234-1234-1234-123412341234}" type="slidenum">
              <a:rPr lang="en" sz="1000" b="0" i="0" u="none" strike="noStrike" cap="none">
                <a:solidFill>
                  <a:srgbClr val="A5A5A5"/>
                </a:solidFill>
                <a:latin typeface="Arial"/>
                <a:ea typeface="Arial"/>
                <a:cs typeface="Arial"/>
                <a:sym typeface="Arial"/>
              </a:rPr>
              <a:t>‹N°›</a:t>
            </a:fld>
            <a:r>
              <a:rPr lang="en" sz="1100" b="0" i="0" u="none" strike="noStrike" cap="none">
                <a:solidFill>
                  <a:srgbClr val="A5A5A5"/>
                </a:solidFill>
                <a:latin typeface="Arial"/>
                <a:ea typeface="Arial"/>
                <a:cs typeface="Arial"/>
                <a:sym typeface="Arial"/>
              </a:rPr>
              <a:t> </a:t>
            </a:r>
            <a:endParaRPr sz="1000" b="0" i="0" u="none" strike="noStrike" cap="none">
              <a:solidFill>
                <a:srgbClr val="A5A5A5"/>
              </a:solidFill>
              <a:latin typeface="Arial"/>
              <a:ea typeface="Arial"/>
              <a:cs typeface="Arial"/>
              <a:sym typeface="Arial"/>
            </a:endParaRPr>
          </a:p>
        </p:txBody>
      </p:sp>
      <p:sp>
        <p:nvSpPr>
          <p:cNvPr id="63" name="Google Shape;63;p15"/>
          <p:cNvSpPr txBox="1">
            <a:spLocks noGrp="1"/>
          </p:cNvSpPr>
          <p:nvPr>
            <p:ph type="title"/>
          </p:nvPr>
        </p:nvSpPr>
        <p:spPr>
          <a:xfrm>
            <a:off x="395536" y="205978"/>
            <a:ext cx="8424900" cy="583500"/>
          </a:xfrm>
          <a:prstGeom prst="rect">
            <a:avLst/>
          </a:prstGeom>
          <a:noFill/>
          <a:ln>
            <a:noFill/>
          </a:ln>
        </p:spPr>
        <p:txBody>
          <a:bodyPr spcFirstLastPara="1" wrap="square" lIns="91425" tIns="45700" rIns="91425" bIns="45700" anchor="ctr" anchorCtr="0">
            <a:normAutofit/>
          </a:bodyPr>
          <a:lstStyle>
            <a:lvl1pPr lvl="0" algn="l" rtl="0">
              <a:spcBef>
                <a:spcPts val="0"/>
              </a:spcBef>
              <a:spcAft>
                <a:spcPts val="0"/>
              </a:spcAft>
              <a:buClr>
                <a:srgbClr val="7F7F7F"/>
              </a:buClr>
              <a:buSzPts val="2400"/>
              <a:buFont typeface="Arial"/>
              <a:buNone/>
              <a:defRPr sz="2400" b="1">
                <a:solidFill>
                  <a:srgbClr val="7F7F7F"/>
                </a:solidFill>
                <a:latin typeface="Arial"/>
                <a:ea typeface="Arial"/>
                <a:cs typeface="Arial"/>
                <a:sym typeface="Aria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4" name="Google Shape;64;p15"/>
          <p:cNvSpPr txBox="1">
            <a:spLocks noGrp="1"/>
          </p:cNvSpPr>
          <p:nvPr>
            <p:ph type="body" idx="1"/>
          </p:nvPr>
        </p:nvSpPr>
        <p:spPr>
          <a:xfrm>
            <a:off x="359532" y="987574"/>
            <a:ext cx="8424900" cy="3096300"/>
          </a:xfrm>
          <a:prstGeom prst="rect">
            <a:avLst/>
          </a:prstGeom>
          <a:noFill/>
          <a:ln>
            <a:noFill/>
          </a:ln>
        </p:spPr>
        <p:txBody>
          <a:bodyPr spcFirstLastPara="1" wrap="square" lIns="91425" tIns="45700" rIns="91425" bIns="45700" anchor="t" anchorCtr="0">
            <a:normAutofit/>
          </a:bodyPr>
          <a:lstStyle>
            <a:lvl1pPr marL="457200" lvl="0" indent="-228600" algn="l" rtl="0">
              <a:lnSpc>
                <a:spcPct val="110000"/>
              </a:lnSpc>
              <a:spcBef>
                <a:spcPts val="400"/>
              </a:spcBef>
              <a:spcAft>
                <a:spcPts val="0"/>
              </a:spcAft>
              <a:buClr>
                <a:srgbClr val="7F7F7F"/>
              </a:buClr>
              <a:buSzPts val="2000"/>
              <a:buFont typeface="Arial"/>
              <a:buNone/>
              <a:defRPr sz="2000" b="0">
                <a:solidFill>
                  <a:srgbClr val="7F7F7F"/>
                </a:solidFill>
                <a:latin typeface="Arial"/>
                <a:ea typeface="Arial"/>
                <a:cs typeface="Arial"/>
                <a:sym typeface="Arial"/>
              </a:defRPr>
            </a:lvl1pPr>
            <a:lvl2pPr marL="914400" lvl="1" indent="-228600" algn="l" rtl="0">
              <a:spcBef>
                <a:spcPts val="300"/>
              </a:spcBef>
              <a:spcAft>
                <a:spcPts val="0"/>
              </a:spcAft>
              <a:buClr>
                <a:srgbClr val="7F7F7F"/>
              </a:buClr>
              <a:buSzPts val="2000"/>
              <a:buFont typeface="Calibri"/>
              <a:buNone/>
              <a:defRPr sz="2000" b="0">
                <a:solidFill>
                  <a:srgbClr val="7F7F7F"/>
                </a:solidFill>
                <a:latin typeface="Arial"/>
                <a:ea typeface="Arial"/>
                <a:cs typeface="Arial"/>
                <a:sym typeface="Arial"/>
              </a:defRPr>
            </a:lvl2pPr>
            <a:lvl3pPr marL="1371600" lvl="2" indent="-228600" algn="l" rtl="0">
              <a:spcBef>
                <a:spcPts val="1000"/>
              </a:spcBef>
              <a:spcAft>
                <a:spcPts val="0"/>
              </a:spcAft>
              <a:buClr>
                <a:srgbClr val="7F7F7F"/>
              </a:buClr>
              <a:buSzPts val="2000"/>
              <a:buFont typeface="Arial"/>
              <a:buNone/>
              <a:defRPr sz="2000" b="1">
                <a:solidFill>
                  <a:srgbClr val="7F7F7F"/>
                </a:solidFill>
                <a:latin typeface="Arial"/>
                <a:ea typeface="Arial"/>
                <a:cs typeface="Arial"/>
                <a:sym typeface="Arial"/>
              </a:defRPr>
            </a:lvl3pPr>
            <a:lvl4pPr marL="1828800" lvl="3" indent="-228600" algn="l" rtl="0">
              <a:spcBef>
                <a:spcPts val="300"/>
              </a:spcBef>
              <a:spcAft>
                <a:spcPts val="0"/>
              </a:spcAft>
              <a:buClr>
                <a:srgbClr val="7CA2D6"/>
              </a:buClr>
              <a:buSzPts val="1800"/>
              <a:buFont typeface="Arial"/>
              <a:buNone/>
              <a:defRPr sz="1800">
                <a:solidFill>
                  <a:srgbClr val="7F7F7F"/>
                </a:solidFill>
                <a:latin typeface="Arial"/>
                <a:ea typeface="Arial"/>
                <a:cs typeface="Arial"/>
                <a:sym typeface="Arial"/>
              </a:defRPr>
            </a:lvl4pPr>
            <a:lvl5pPr marL="2286000" lvl="4" indent="-342900" algn="l" rtl="0">
              <a:spcBef>
                <a:spcPts val="300"/>
              </a:spcBef>
              <a:spcAft>
                <a:spcPts val="0"/>
              </a:spcAft>
              <a:buClr>
                <a:srgbClr val="595959"/>
              </a:buClr>
              <a:buSzPts val="1800"/>
              <a:buFont typeface="Arial"/>
              <a:buChar char="•"/>
              <a:defRPr sz="1800">
                <a:solidFill>
                  <a:srgbClr val="7F7F7F"/>
                </a:solidFill>
                <a:latin typeface="Arial"/>
                <a:ea typeface="Arial"/>
                <a:cs typeface="Arial"/>
                <a:sym typeface="Aria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pic>
        <p:nvPicPr>
          <p:cNvPr id="65" name="Google Shape;65;p15"/>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0" y="-2322"/>
            <a:ext cx="9144002" cy="514349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 Type="http://schemas.openxmlformats.org/officeDocument/2006/relationships/notesSlide" Target="../notesSlides/notesSlide3.xml"/><Relationship Id="rId16"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2.png"/><Relationship Id="rId19" Type="http://schemas.openxmlformats.org/officeDocument/2006/relationships/image" Target="../media/image21.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s/_rels/slide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4.png"/><Relationship Id="rId4" Type="http://schemas.openxmlformats.org/officeDocument/2006/relationships/image" Target="../media/image33.png"/></Relationships>
</file>

<file path=ppt/slides/_rels/slide1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37.png"/></Relationships>
</file>

<file path=ppt/slides/_rels/slide1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40.png"/><Relationship Id="rId4" Type="http://schemas.openxmlformats.org/officeDocument/2006/relationships/image" Target="../media/image3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1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1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6"/>
          <p:cNvSpPr txBox="1"/>
          <p:nvPr/>
        </p:nvSpPr>
        <p:spPr>
          <a:xfrm>
            <a:off x="490050" y="1674750"/>
            <a:ext cx="4173000" cy="20463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2000"/>
              <a:buFont typeface="Arial"/>
              <a:buNone/>
            </a:pPr>
            <a:r>
              <a:rPr lang="en" sz="1700">
                <a:solidFill>
                  <a:schemeClr val="dk1"/>
                </a:solidFill>
                <a:latin typeface="Open Sans Light"/>
                <a:ea typeface="Open Sans Light"/>
                <a:cs typeface="Open Sans Light"/>
                <a:sym typeface="Open Sans"/>
              </a:rPr>
              <a:t>Chantier 12</a:t>
            </a:r>
            <a:endParaRPr sz="1700">
              <a:solidFill>
                <a:schemeClr val="dk1"/>
              </a:solidFill>
              <a:latin typeface="Open Sans Light"/>
              <a:ea typeface="Open Sans Light"/>
              <a:cs typeface="Open Sans Light"/>
              <a:sym typeface="Open Sans"/>
            </a:endParaRPr>
          </a:p>
          <a:p>
            <a:pPr marL="0" marR="0" lvl="0" indent="0" algn="l" rtl="0">
              <a:lnSpc>
                <a:spcPct val="115000"/>
              </a:lnSpc>
              <a:spcBef>
                <a:spcPts val="0"/>
              </a:spcBef>
              <a:spcAft>
                <a:spcPts val="0"/>
              </a:spcAft>
              <a:buClr>
                <a:srgbClr val="000000"/>
              </a:buClr>
              <a:buSzPts val="2000"/>
              <a:buFont typeface="Arial"/>
              <a:buNone/>
            </a:pPr>
            <a:r>
              <a:rPr lang="en" sz="2000" b="1">
                <a:solidFill>
                  <a:srgbClr val="1200C5"/>
                </a:solidFill>
                <a:latin typeface="Open Sans ExtraBold"/>
                <a:ea typeface="Open Sans ExtraBold"/>
                <a:cs typeface="Open Sans ExtraBold"/>
                <a:sym typeface="Open Sans"/>
              </a:rPr>
              <a:t>Souveraineté numérique de la région de Bruxelles-Capitale</a:t>
            </a:r>
            <a:endParaRPr sz="2000" b="1">
              <a:solidFill>
                <a:srgbClr val="1200C5"/>
              </a:solidFill>
              <a:latin typeface="Open Sans ExtraBold"/>
              <a:ea typeface="Open Sans ExtraBold"/>
              <a:cs typeface="Open Sans ExtraBold"/>
              <a:sym typeface="Open Sans"/>
            </a:endParaRPr>
          </a:p>
          <a:p>
            <a:pPr marL="0" marR="0" lvl="0" indent="0" algn="l" rtl="0">
              <a:lnSpc>
                <a:spcPct val="115000"/>
              </a:lnSpc>
              <a:spcBef>
                <a:spcPts val="0"/>
              </a:spcBef>
              <a:spcAft>
                <a:spcPts val="0"/>
              </a:spcAft>
              <a:buClr>
                <a:srgbClr val="000000"/>
              </a:buClr>
              <a:buSzPts val="2000"/>
              <a:buFont typeface="Arial"/>
              <a:buNone/>
            </a:pPr>
            <a:endParaRPr sz="2000" b="1">
              <a:solidFill>
                <a:srgbClr val="1200C5"/>
              </a:solidFill>
              <a:latin typeface="Open Sans ExtraBold"/>
              <a:ea typeface="Open Sans ExtraBold"/>
              <a:cs typeface="Open Sans ExtraBold"/>
              <a:sym typeface="Open Sans"/>
            </a:endParaRPr>
          </a:p>
          <a:p>
            <a:pPr marL="0" lvl="0" indent="0" algn="l" rtl="0">
              <a:lnSpc>
                <a:spcPct val="115000"/>
              </a:lnSpc>
              <a:spcBef>
                <a:spcPts val="0"/>
              </a:spcBef>
              <a:spcAft>
                <a:spcPts val="0"/>
              </a:spcAft>
              <a:buClr>
                <a:schemeClr val="dk1"/>
              </a:buClr>
              <a:buSzPts val="2000"/>
              <a:buFont typeface="Arial"/>
              <a:buNone/>
            </a:pPr>
            <a:r>
              <a:rPr lang="en" sz="1600" b="1">
                <a:solidFill>
                  <a:srgbClr val="595959"/>
                </a:solidFill>
                <a:latin typeface="Open Sans ExtraBold"/>
                <a:ea typeface="Open Sans ExtraBold"/>
                <a:cs typeface="Open Sans ExtraBold"/>
                <a:sym typeface="Open Sans"/>
              </a:rPr>
              <a:t>Meeting de suivi</a:t>
            </a:r>
            <a:endParaRPr sz="1600" b="1">
              <a:solidFill>
                <a:srgbClr val="595959"/>
              </a:solidFill>
              <a:latin typeface="Open Sans ExtraBold"/>
              <a:ea typeface="Open Sans ExtraBold"/>
              <a:cs typeface="Open Sans ExtraBold"/>
              <a:sym typeface="Open Sans"/>
            </a:endParaRPr>
          </a:p>
          <a:p>
            <a:pPr marL="0" lvl="0" indent="0" algn="l" rtl="0">
              <a:lnSpc>
                <a:spcPct val="115000"/>
              </a:lnSpc>
              <a:spcBef>
                <a:spcPts val="0"/>
              </a:spcBef>
              <a:spcAft>
                <a:spcPts val="0"/>
              </a:spcAft>
              <a:buClr>
                <a:schemeClr val="dk1"/>
              </a:buClr>
              <a:buSzPts val="2000"/>
              <a:buFont typeface="Arial"/>
              <a:buNone/>
            </a:pPr>
            <a:r>
              <a:rPr lang="en">
                <a:solidFill>
                  <a:srgbClr val="595959"/>
                </a:solidFill>
                <a:latin typeface="Open Sans Light"/>
                <a:ea typeface="Open Sans Light"/>
                <a:cs typeface="Open Sans Light"/>
                <a:sym typeface="Open Sans Light"/>
              </a:rPr>
              <a:t>17 juillet 2026</a:t>
            </a:r>
            <a:endParaRPr>
              <a:solidFill>
                <a:srgbClr val="595959"/>
              </a:solidFill>
              <a:latin typeface="Open Sans Light"/>
              <a:ea typeface="Open Sans Light"/>
              <a:cs typeface="Open Sans Light"/>
              <a:sym typeface="Open Sans Light"/>
            </a:endParaRPr>
          </a:p>
        </p:txBody>
      </p:sp>
      <p:pic>
        <p:nvPicPr>
          <p:cNvPr id="71" name="Google Shape;71;p16"/>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544225" y="320200"/>
            <a:ext cx="978200" cy="468650"/>
          </a:xfrm>
          <a:prstGeom prst="rect">
            <a:avLst/>
          </a:prstGeom>
          <a:noFill/>
          <a:ln>
            <a:noFill/>
          </a:ln>
        </p:spPr>
      </p:pic>
      <p:pic>
        <p:nvPicPr>
          <p:cNvPr id="72" name="Google Shape;72;p16"/>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5799625" y="3619150"/>
            <a:ext cx="1495375" cy="607924"/>
          </a:xfrm>
          <a:prstGeom prst="rect">
            <a:avLst/>
          </a:prstGeom>
          <a:noFill/>
          <a:ln>
            <a:noFill/>
          </a:ln>
        </p:spPr>
      </p:pic>
      <p:pic>
        <p:nvPicPr>
          <p:cNvPr id="73" name="Google Shape;73;p16"/>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280330" y="1198950"/>
            <a:ext cx="5120700" cy="2745600"/>
          </a:xfrm>
          <a:prstGeom prst="roundRect">
            <a:avLst>
              <a:gd name="adj" fmla="val 50000"/>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7"/>
          <p:cNvSpPr txBox="1"/>
          <p:nvPr/>
        </p:nvSpPr>
        <p:spPr>
          <a:xfrm>
            <a:off x="532400" y="367125"/>
            <a:ext cx="53592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800" i="1">
                <a:solidFill>
                  <a:srgbClr val="354095"/>
                </a:solidFill>
                <a:latin typeface="Roboto Black"/>
                <a:ea typeface="Roboto Black"/>
                <a:cs typeface="Roboto Black"/>
                <a:sym typeface="Roboto Black"/>
              </a:rPr>
              <a:t>Agenda</a:t>
            </a:r>
            <a:endParaRPr sz="1800">
              <a:solidFill>
                <a:srgbClr val="354095"/>
              </a:solidFill>
              <a:highlight>
                <a:srgbClr val="354095"/>
              </a:highlight>
              <a:latin typeface="Roboto Black"/>
              <a:ea typeface="Roboto Black"/>
              <a:cs typeface="Roboto Black"/>
              <a:sym typeface="Roboto Black"/>
            </a:endParaRPr>
          </a:p>
        </p:txBody>
      </p:sp>
      <p:sp>
        <p:nvSpPr>
          <p:cNvPr id="79" name="Google Shape;79;p17"/>
          <p:cNvSpPr txBox="1"/>
          <p:nvPr/>
        </p:nvSpPr>
        <p:spPr>
          <a:xfrm>
            <a:off x="711975" y="1332750"/>
            <a:ext cx="4946700" cy="1752300"/>
          </a:xfrm>
          <a:prstGeom prst="rect">
            <a:avLst/>
          </a:prstGeom>
          <a:noFill/>
          <a:ln>
            <a:noFill/>
          </a:ln>
        </p:spPr>
        <p:txBody>
          <a:bodyPr spcFirstLastPara="1" wrap="square" lIns="91425" tIns="91425" rIns="91425" bIns="91425" anchor="t" anchorCtr="0">
            <a:noAutofit/>
          </a:bodyPr>
          <a:lstStyle/>
          <a:p>
            <a:pPr marL="457200" lvl="0" indent="-330200" algn="l" rtl="0">
              <a:lnSpc>
                <a:spcPct val="150000"/>
              </a:lnSpc>
              <a:spcBef>
                <a:spcPts val="0"/>
              </a:spcBef>
              <a:spcAft>
                <a:spcPts val="0"/>
              </a:spcAft>
              <a:buClr>
                <a:schemeClr val="dk1"/>
              </a:buClr>
              <a:buSzPts val="1600"/>
              <a:buFont typeface="Open Sans"/>
              <a:buChar char="❖"/>
            </a:pPr>
            <a:r>
              <a:rPr lang="en" sz="1600">
                <a:solidFill>
                  <a:schemeClr val="dk1"/>
                </a:solidFill>
                <a:latin typeface="Open Sans Light"/>
                <a:ea typeface="Open Sans Light"/>
                <a:cs typeface="Open Sans Light"/>
                <a:sym typeface="Open Sans"/>
              </a:rPr>
              <a:t>Point sur les participants du chantier</a:t>
            </a:r>
            <a:endParaRPr sz="1600">
              <a:solidFill>
                <a:schemeClr val="dk1"/>
              </a:solidFill>
              <a:latin typeface="Open Sans Light"/>
              <a:ea typeface="Open Sans Light"/>
              <a:cs typeface="Open Sans Light"/>
              <a:sym typeface="Open Sans"/>
            </a:endParaRPr>
          </a:p>
          <a:p>
            <a:pPr marL="457200" lvl="0" indent="-330200" algn="l" rtl="0">
              <a:lnSpc>
                <a:spcPct val="150000"/>
              </a:lnSpc>
              <a:spcBef>
                <a:spcPts val="0"/>
              </a:spcBef>
              <a:spcAft>
                <a:spcPts val="0"/>
              </a:spcAft>
              <a:buClr>
                <a:schemeClr val="dk1"/>
              </a:buClr>
              <a:buSzPts val="1600"/>
              <a:buFont typeface="Open Sans"/>
              <a:buChar char="❖"/>
            </a:pPr>
            <a:r>
              <a:rPr lang="en" sz="1600">
                <a:solidFill>
                  <a:schemeClr val="dk1"/>
                </a:solidFill>
                <a:latin typeface="Open Sans Light"/>
                <a:ea typeface="Open Sans Light"/>
                <a:cs typeface="Open Sans Light"/>
                <a:sym typeface="Open Sans"/>
              </a:rPr>
              <a:t>Présentation du Teams du chantier</a:t>
            </a:r>
            <a:endParaRPr sz="1600">
              <a:solidFill>
                <a:schemeClr val="dk1"/>
              </a:solidFill>
              <a:latin typeface="Open Sans Light"/>
              <a:ea typeface="Open Sans Light"/>
              <a:cs typeface="Open Sans Light"/>
              <a:sym typeface="Open Sans"/>
            </a:endParaRPr>
          </a:p>
          <a:p>
            <a:pPr marL="457200" lvl="0" indent="-330200" algn="l" rtl="0">
              <a:lnSpc>
                <a:spcPct val="150000"/>
              </a:lnSpc>
              <a:spcBef>
                <a:spcPts val="0"/>
              </a:spcBef>
              <a:spcAft>
                <a:spcPts val="0"/>
              </a:spcAft>
              <a:buClr>
                <a:schemeClr val="dk1"/>
              </a:buClr>
              <a:buSzPts val="1600"/>
              <a:buFont typeface="Open Sans"/>
              <a:buChar char="❖"/>
            </a:pPr>
            <a:r>
              <a:rPr lang="en" sz="1600">
                <a:solidFill>
                  <a:schemeClr val="dk1"/>
                </a:solidFill>
                <a:latin typeface="Open Sans Light"/>
                <a:ea typeface="Open Sans Light"/>
                <a:cs typeface="Open Sans Light"/>
                <a:sym typeface="Open Sans"/>
              </a:rPr>
              <a:t>Debrief des workshops</a:t>
            </a:r>
            <a:endParaRPr sz="1600">
              <a:solidFill>
                <a:schemeClr val="dk1"/>
              </a:solidFill>
              <a:latin typeface="Open Sans Light"/>
              <a:ea typeface="Open Sans Light"/>
              <a:cs typeface="Open Sans Light"/>
              <a:sym typeface="Open Sans"/>
            </a:endParaRPr>
          </a:p>
          <a:p>
            <a:pPr marL="457200" lvl="0" indent="-330200" algn="l" rtl="0">
              <a:lnSpc>
                <a:spcPct val="150000"/>
              </a:lnSpc>
              <a:spcBef>
                <a:spcPts val="0"/>
              </a:spcBef>
              <a:spcAft>
                <a:spcPts val="0"/>
              </a:spcAft>
              <a:buClr>
                <a:schemeClr val="dk1"/>
              </a:buClr>
              <a:buSzPts val="1600"/>
              <a:buFont typeface="Open Sans"/>
              <a:buChar char="❖"/>
            </a:pPr>
            <a:r>
              <a:rPr lang="en" sz="1600">
                <a:solidFill>
                  <a:schemeClr val="dk1"/>
                </a:solidFill>
                <a:latin typeface="Open Sans Light"/>
                <a:ea typeface="Open Sans Light"/>
                <a:cs typeface="Open Sans Light"/>
                <a:sym typeface="Open Sans"/>
              </a:rPr>
              <a:t>Présentation des Groupes de Travail</a:t>
            </a:r>
            <a:endParaRPr sz="1600">
              <a:solidFill>
                <a:schemeClr val="dk1"/>
              </a:solidFill>
              <a:latin typeface="Open Sans Light"/>
              <a:ea typeface="Open Sans Light"/>
              <a:cs typeface="Open Sans Light"/>
              <a:sym typeface="Open Sans"/>
            </a:endParaRPr>
          </a:p>
          <a:p>
            <a:pPr marL="457200" lvl="0" indent="-330200" algn="l" rtl="0">
              <a:lnSpc>
                <a:spcPct val="150000"/>
              </a:lnSpc>
              <a:spcBef>
                <a:spcPts val="0"/>
              </a:spcBef>
              <a:spcAft>
                <a:spcPts val="0"/>
              </a:spcAft>
              <a:buClr>
                <a:schemeClr val="dk1"/>
              </a:buClr>
              <a:buSzPts val="1600"/>
              <a:buFont typeface="Open Sans"/>
              <a:buChar char="❖"/>
            </a:pPr>
            <a:r>
              <a:rPr lang="en" sz="1600">
                <a:solidFill>
                  <a:schemeClr val="dk1"/>
                </a:solidFill>
                <a:latin typeface="Open Sans Light"/>
                <a:ea typeface="Open Sans Light"/>
                <a:cs typeface="Open Sans Light"/>
                <a:sym typeface="Open Sans"/>
              </a:rPr>
              <a:t>Point sur le “Cerveau collectif”</a:t>
            </a:r>
            <a:endParaRPr sz="1600">
              <a:solidFill>
                <a:schemeClr val="dk1"/>
              </a:solidFill>
              <a:latin typeface="Open Sans Light"/>
              <a:ea typeface="Open Sans Light"/>
              <a:cs typeface="Open Sans Light"/>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8"/>
          <p:cNvSpPr/>
          <p:nvPr/>
        </p:nvSpPr>
        <p:spPr>
          <a:xfrm>
            <a:off x="4002375" y="3255860"/>
            <a:ext cx="708000" cy="145800"/>
          </a:xfrm>
          <a:prstGeom prst="rect">
            <a:avLst/>
          </a:prstGeom>
          <a:solidFill>
            <a:schemeClr val="lt1"/>
          </a:solidFill>
          <a:ln>
            <a:noFill/>
          </a:ln>
        </p:spPr>
        <p:txBody>
          <a:bodyPr spcFirstLastPara="1" wrap="square" lIns="76250" tIns="76250" rIns="76250" bIns="76250" anchor="ctr" anchorCtr="0">
            <a:noAutofit/>
          </a:bodyPr>
          <a:lstStyle/>
          <a:p>
            <a:pPr marL="0" lvl="0" indent="0" algn="ctr" rtl="0">
              <a:spcBef>
                <a:spcPts val="0"/>
              </a:spcBef>
              <a:spcAft>
                <a:spcPts val="0"/>
              </a:spcAft>
              <a:buNone/>
            </a:pPr>
            <a:endParaRPr sz="1167"/>
          </a:p>
        </p:txBody>
      </p:sp>
      <p:sp>
        <p:nvSpPr>
          <p:cNvPr id="85" name="Google Shape;85;p18"/>
          <p:cNvSpPr/>
          <p:nvPr/>
        </p:nvSpPr>
        <p:spPr>
          <a:xfrm>
            <a:off x="3987137" y="3426638"/>
            <a:ext cx="708000" cy="145800"/>
          </a:xfrm>
          <a:prstGeom prst="rect">
            <a:avLst/>
          </a:prstGeom>
          <a:solidFill>
            <a:schemeClr val="lt1"/>
          </a:solidFill>
          <a:ln>
            <a:noFill/>
          </a:ln>
        </p:spPr>
        <p:txBody>
          <a:bodyPr spcFirstLastPara="1" wrap="square" lIns="76250" tIns="76250" rIns="76250" bIns="76250" anchor="ctr" anchorCtr="0">
            <a:noAutofit/>
          </a:bodyPr>
          <a:lstStyle/>
          <a:p>
            <a:pPr marL="0" lvl="0" indent="0" algn="ctr" rtl="0">
              <a:spcBef>
                <a:spcPts val="0"/>
              </a:spcBef>
              <a:spcAft>
                <a:spcPts val="0"/>
              </a:spcAft>
              <a:buNone/>
            </a:pPr>
            <a:endParaRPr sz="1167"/>
          </a:p>
        </p:txBody>
      </p:sp>
      <p:sp>
        <p:nvSpPr>
          <p:cNvPr id="86" name="Google Shape;86;p18"/>
          <p:cNvSpPr/>
          <p:nvPr/>
        </p:nvSpPr>
        <p:spPr>
          <a:xfrm>
            <a:off x="4016912" y="4037013"/>
            <a:ext cx="708000" cy="145800"/>
          </a:xfrm>
          <a:prstGeom prst="rect">
            <a:avLst/>
          </a:prstGeom>
          <a:solidFill>
            <a:schemeClr val="lt1"/>
          </a:solidFill>
          <a:ln>
            <a:noFill/>
          </a:ln>
        </p:spPr>
        <p:txBody>
          <a:bodyPr spcFirstLastPara="1" wrap="square" lIns="76250" tIns="76250" rIns="76250" bIns="76250" anchor="ctr" anchorCtr="0">
            <a:noAutofit/>
          </a:bodyPr>
          <a:lstStyle/>
          <a:p>
            <a:pPr marL="0" lvl="0" indent="0" algn="ctr" rtl="0">
              <a:spcBef>
                <a:spcPts val="0"/>
              </a:spcBef>
              <a:spcAft>
                <a:spcPts val="0"/>
              </a:spcAft>
              <a:buNone/>
            </a:pPr>
            <a:endParaRPr sz="1167"/>
          </a:p>
        </p:txBody>
      </p:sp>
      <p:sp>
        <p:nvSpPr>
          <p:cNvPr id="87" name="Google Shape;87;p18"/>
          <p:cNvSpPr/>
          <p:nvPr/>
        </p:nvSpPr>
        <p:spPr>
          <a:xfrm>
            <a:off x="4016912" y="4451338"/>
            <a:ext cx="708000" cy="145800"/>
          </a:xfrm>
          <a:prstGeom prst="rect">
            <a:avLst/>
          </a:prstGeom>
          <a:solidFill>
            <a:schemeClr val="lt1"/>
          </a:solidFill>
          <a:ln>
            <a:noFill/>
          </a:ln>
        </p:spPr>
        <p:txBody>
          <a:bodyPr spcFirstLastPara="1" wrap="square" lIns="76250" tIns="76250" rIns="76250" bIns="76250" anchor="ctr" anchorCtr="0">
            <a:noAutofit/>
          </a:bodyPr>
          <a:lstStyle/>
          <a:p>
            <a:pPr marL="0" lvl="0" indent="0" algn="ctr" rtl="0">
              <a:spcBef>
                <a:spcPts val="0"/>
              </a:spcBef>
              <a:spcAft>
                <a:spcPts val="0"/>
              </a:spcAft>
              <a:buNone/>
            </a:pPr>
            <a:endParaRPr sz="1167"/>
          </a:p>
        </p:txBody>
      </p:sp>
      <p:sp>
        <p:nvSpPr>
          <p:cNvPr id="88" name="Google Shape;88;p18"/>
          <p:cNvSpPr/>
          <p:nvPr/>
        </p:nvSpPr>
        <p:spPr>
          <a:xfrm>
            <a:off x="4015087" y="5781485"/>
            <a:ext cx="708000" cy="145800"/>
          </a:xfrm>
          <a:prstGeom prst="rect">
            <a:avLst/>
          </a:prstGeom>
          <a:solidFill>
            <a:schemeClr val="lt1"/>
          </a:solidFill>
          <a:ln>
            <a:noFill/>
          </a:ln>
        </p:spPr>
        <p:txBody>
          <a:bodyPr spcFirstLastPara="1" wrap="square" lIns="76250" tIns="76250" rIns="76250" bIns="76250" anchor="ctr" anchorCtr="0">
            <a:noAutofit/>
          </a:bodyPr>
          <a:lstStyle/>
          <a:p>
            <a:pPr marL="0" lvl="0" indent="0" algn="ctr" rtl="0">
              <a:spcBef>
                <a:spcPts val="0"/>
              </a:spcBef>
              <a:spcAft>
                <a:spcPts val="0"/>
              </a:spcAft>
              <a:buNone/>
            </a:pPr>
            <a:endParaRPr sz="1167"/>
          </a:p>
        </p:txBody>
      </p:sp>
      <p:sp>
        <p:nvSpPr>
          <p:cNvPr id="89" name="Google Shape;89;p18"/>
          <p:cNvSpPr/>
          <p:nvPr/>
        </p:nvSpPr>
        <p:spPr>
          <a:xfrm>
            <a:off x="3970637" y="6211685"/>
            <a:ext cx="708000" cy="145800"/>
          </a:xfrm>
          <a:prstGeom prst="rect">
            <a:avLst/>
          </a:prstGeom>
          <a:solidFill>
            <a:schemeClr val="lt1"/>
          </a:solidFill>
          <a:ln>
            <a:noFill/>
          </a:ln>
        </p:spPr>
        <p:txBody>
          <a:bodyPr spcFirstLastPara="1" wrap="square" lIns="76250" tIns="76250" rIns="76250" bIns="76250" anchor="ctr" anchorCtr="0">
            <a:noAutofit/>
          </a:bodyPr>
          <a:lstStyle/>
          <a:p>
            <a:pPr marL="0" lvl="0" indent="0" algn="ctr" rtl="0">
              <a:spcBef>
                <a:spcPts val="0"/>
              </a:spcBef>
              <a:spcAft>
                <a:spcPts val="0"/>
              </a:spcAft>
              <a:buNone/>
            </a:pPr>
            <a:endParaRPr sz="1167"/>
          </a:p>
        </p:txBody>
      </p:sp>
      <p:sp>
        <p:nvSpPr>
          <p:cNvPr id="90" name="Google Shape;90;p18"/>
          <p:cNvSpPr txBox="1"/>
          <p:nvPr/>
        </p:nvSpPr>
        <p:spPr>
          <a:xfrm>
            <a:off x="1242350" y="3246638"/>
            <a:ext cx="16179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b="1">
                <a:highlight>
                  <a:srgbClr val="FFFFFF"/>
                </a:highlight>
                <a:latin typeface="Open Sans ExtraBold"/>
                <a:ea typeface="Open Sans ExtraBold"/>
                <a:cs typeface="Open Sans ExtraBold"/>
                <a:sym typeface="Open Sans"/>
              </a:rPr>
              <a:t>Thierry CHAPPÉ</a:t>
            </a:r>
            <a:endParaRPr sz="1000">
              <a:solidFill>
                <a:srgbClr val="000000"/>
              </a:solidFill>
              <a:highlight>
                <a:srgbClr val="FFFFFF"/>
              </a:highlight>
              <a:latin typeface="Open Sans Light"/>
              <a:ea typeface="Open Sans Light"/>
              <a:cs typeface="Open Sans Light"/>
              <a:sym typeface="Open Sans"/>
            </a:endParaRPr>
          </a:p>
        </p:txBody>
      </p:sp>
      <p:pic>
        <p:nvPicPr>
          <p:cNvPr id="91" name="Google Shape;91;p18"/>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536574" y="3206681"/>
            <a:ext cx="426858" cy="418624"/>
          </a:xfrm>
          <a:prstGeom prst="rect">
            <a:avLst/>
          </a:prstGeom>
          <a:noFill/>
          <a:ln>
            <a:noFill/>
          </a:ln>
        </p:spPr>
      </p:pic>
      <p:pic>
        <p:nvPicPr>
          <p:cNvPr id="92" name="Google Shape;92;p18"/>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36573" y="3734476"/>
            <a:ext cx="408466" cy="418625"/>
          </a:xfrm>
          <a:prstGeom prst="rect">
            <a:avLst/>
          </a:prstGeom>
          <a:noFill/>
          <a:ln>
            <a:noFill/>
          </a:ln>
        </p:spPr>
      </p:pic>
      <p:sp>
        <p:nvSpPr>
          <p:cNvPr id="93" name="Google Shape;93;p18"/>
          <p:cNvSpPr txBox="1"/>
          <p:nvPr/>
        </p:nvSpPr>
        <p:spPr>
          <a:xfrm>
            <a:off x="1246025" y="3742888"/>
            <a:ext cx="16179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b="1">
                <a:highlight>
                  <a:srgbClr val="FFFFFF"/>
                </a:highlight>
                <a:latin typeface="Open Sans ExtraBold"/>
                <a:ea typeface="Open Sans ExtraBold"/>
                <a:cs typeface="Open Sans ExtraBold"/>
                <a:sym typeface="Open Sans"/>
              </a:rPr>
              <a:t>Constance MATHIEU</a:t>
            </a:r>
            <a:endParaRPr sz="1000">
              <a:solidFill>
                <a:srgbClr val="000000"/>
              </a:solidFill>
              <a:highlight>
                <a:srgbClr val="FFFFFF"/>
              </a:highlight>
              <a:latin typeface="Open Sans Light"/>
              <a:ea typeface="Open Sans Light"/>
              <a:cs typeface="Open Sans Light"/>
              <a:sym typeface="Open Sans"/>
            </a:endParaRPr>
          </a:p>
        </p:txBody>
      </p:sp>
      <p:pic>
        <p:nvPicPr>
          <p:cNvPr id="94" name="Google Shape;94;p18"/>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536571" y="1790000"/>
            <a:ext cx="408600" cy="414000"/>
          </a:xfrm>
          <a:prstGeom prst="ellipse">
            <a:avLst/>
          </a:prstGeom>
          <a:noFill/>
          <a:ln>
            <a:noFill/>
          </a:ln>
        </p:spPr>
      </p:pic>
      <p:sp>
        <p:nvSpPr>
          <p:cNvPr id="95" name="Google Shape;95;p18"/>
          <p:cNvSpPr txBox="1"/>
          <p:nvPr/>
        </p:nvSpPr>
        <p:spPr>
          <a:xfrm>
            <a:off x="1246064" y="1767203"/>
            <a:ext cx="17436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b="1">
                <a:highlight>
                  <a:srgbClr val="FFFFFF"/>
                </a:highlight>
                <a:latin typeface="Open Sans ExtraBold"/>
                <a:ea typeface="Open Sans ExtraBold"/>
                <a:cs typeface="Open Sans ExtraBold"/>
                <a:sym typeface="Open Sans"/>
              </a:rPr>
              <a:t>Michel Van RAEMDONCK</a:t>
            </a:r>
            <a:endParaRPr sz="1000" b="1">
              <a:solidFill>
                <a:srgbClr val="000000"/>
              </a:solidFill>
              <a:highlight>
                <a:srgbClr val="FFFFFF"/>
              </a:highlight>
              <a:latin typeface="Open Sans ExtraBold"/>
              <a:ea typeface="Open Sans ExtraBold"/>
              <a:cs typeface="Open Sans ExtraBold"/>
              <a:sym typeface="Open Sans"/>
            </a:endParaRPr>
          </a:p>
          <a:p>
            <a:pPr marL="0" lvl="0" indent="0" algn="l" rtl="0">
              <a:spcBef>
                <a:spcPts val="0"/>
              </a:spcBef>
              <a:spcAft>
                <a:spcPts val="0"/>
              </a:spcAft>
              <a:buClr>
                <a:srgbClr val="000000"/>
              </a:buClr>
              <a:buSzPts val="1100"/>
              <a:buFont typeface="Arial"/>
              <a:buNone/>
            </a:pPr>
            <a:r>
              <a:rPr lang="en" sz="1000">
                <a:highlight>
                  <a:srgbClr val="FFFFFF"/>
                </a:highlight>
                <a:latin typeface="Open Sans Light"/>
                <a:ea typeface="Open Sans Light"/>
                <a:cs typeface="Open Sans Light"/>
                <a:sym typeface="Open Sans"/>
              </a:rPr>
              <a:t>Responsable du chantier</a:t>
            </a:r>
            <a:endParaRPr sz="1000">
              <a:solidFill>
                <a:srgbClr val="000000"/>
              </a:solidFill>
              <a:highlight>
                <a:srgbClr val="FFFFFF"/>
              </a:highlight>
              <a:latin typeface="Open Sans Light"/>
              <a:ea typeface="Open Sans Light"/>
              <a:cs typeface="Open Sans Light"/>
              <a:sym typeface="Open Sans"/>
            </a:endParaRPr>
          </a:p>
        </p:txBody>
      </p:sp>
      <p:sp>
        <p:nvSpPr>
          <p:cNvPr id="96" name="Google Shape;96;p18"/>
          <p:cNvSpPr txBox="1"/>
          <p:nvPr/>
        </p:nvSpPr>
        <p:spPr>
          <a:xfrm>
            <a:off x="1287589" y="1183650"/>
            <a:ext cx="17436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b="1">
                <a:highlight>
                  <a:srgbClr val="FFFFFF"/>
                </a:highlight>
                <a:latin typeface="Open Sans ExtraBold"/>
                <a:ea typeface="Open Sans ExtraBold"/>
                <a:cs typeface="Open Sans ExtraBold"/>
                <a:sym typeface="Open Sans"/>
              </a:rPr>
              <a:t>Yves DELVAUX </a:t>
            </a:r>
            <a:endParaRPr sz="1000" b="1">
              <a:highlight>
                <a:srgbClr val="FFFFFF"/>
              </a:highlight>
              <a:latin typeface="Open Sans ExtraBold"/>
              <a:ea typeface="Open Sans ExtraBold"/>
              <a:cs typeface="Open Sans ExtraBold"/>
              <a:sym typeface="Open Sans"/>
            </a:endParaRPr>
          </a:p>
          <a:p>
            <a:pPr marL="0" lvl="0" indent="0" algn="l" rtl="0">
              <a:spcBef>
                <a:spcPts val="0"/>
              </a:spcBef>
              <a:spcAft>
                <a:spcPts val="0"/>
              </a:spcAft>
              <a:buNone/>
            </a:pPr>
            <a:r>
              <a:rPr lang="en" sz="1000">
                <a:highlight>
                  <a:srgbClr val="FFFFFF"/>
                </a:highlight>
                <a:latin typeface="Open Sans Light"/>
                <a:ea typeface="Open Sans Light"/>
                <a:cs typeface="Open Sans Light"/>
                <a:sym typeface="Open Sans"/>
              </a:rPr>
              <a:t>Sponsor</a:t>
            </a:r>
            <a:endParaRPr sz="1000">
              <a:solidFill>
                <a:srgbClr val="000000"/>
              </a:solidFill>
              <a:highlight>
                <a:srgbClr val="FFFFFF"/>
              </a:highlight>
              <a:latin typeface="Open Sans Light"/>
              <a:ea typeface="Open Sans Light"/>
              <a:cs typeface="Open Sans Light"/>
              <a:sym typeface="Open Sans"/>
            </a:endParaRPr>
          </a:p>
        </p:txBody>
      </p:sp>
      <p:pic>
        <p:nvPicPr>
          <p:cNvPr id="97" name="Google Shape;97;p18"/>
          <p:cNvPicPr preferRelativeResize="0"/>
          <p:nvPr/>
        </p:nvPicPr>
        <p:blipFill rotWithShape="1">
          <a:blip r:embed="rId6" cstate="email">
            <a:alphaModFix/>
            <a:extLst>
              <a:ext uri="{28A0092B-C50C-407E-A947-70E740481C1C}">
                <a14:useLocalDpi xmlns:a14="http://schemas.microsoft.com/office/drawing/2010/main"/>
              </a:ext>
            </a:extLst>
          </a:blip>
          <a:srcRect/>
          <a:stretch/>
        </p:blipFill>
        <p:spPr>
          <a:xfrm>
            <a:off x="536823" y="1229150"/>
            <a:ext cx="408600" cy="404700"/>
          </a:xfrm>
          <a:prstGeom prst="ellipse">
            <a:avLst/>
          </a:prstGeom>
          <a:noFill/>
          <a:ln>
            <a:noFill/>
          </a:ln>
        </p:spPr>
      </p:pic>
      <p:sp>
        <p:nvSpPr>
          <p:cNvPr id="98" name="Google Shape;98;p18"/>
          <p:cNvSpPr txBox="1"/>
          <p:nvPr/>
        </p:nvSpPr>
        <p:spPr>
          <a:xfrm>
            <a:off x="536575" y="288350"/>
            <a:ext cx="2520600" cy="4617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None/>
            </a:pPr>
            <a:r>
              <a:rPr lang="en" sz="1800" i="1">
                <a:solidFill>
                  <a:srgbClr val="354095"/>
                </a:solidFill>
                <a:latin typeface="Roboto Black"/>
                <a:ea typeface="Roboto Black"/>
                <a:cs typeface="Roboto Black"/>
                <a:sym typeface="Roboto Black"/>
              </a:rPr>
              <a:t>Participants</a:t>
            </a:r>
            <a:endParaRPr sz="1000" i="1">
              <a:solidFill>
                <a:srgbClr val="0A00BE"/>
              </a:solidFill>
              <a:latin typeface="Open Sans ExtraBold"/>
              <a:ea typeface="Open Sans ExtraBold"/>
              <a:cs typeface="Open Sans ExtraBold"/>
              <a:sym typeface="Open Sans"/>
            </a:endParaRPr>
          </a:p>
        </p:txBody>
      </p:sp>
      <p:grpSp>
        <p:nvGrpSpPr>
          <p:cNvPr id="99" name="Google Shape;99;p18"/>
          <p:cNvGrpSpPr/>
          <p:nvPr/>
        </p:nvGrpSpPr>
        <p:grpSpPr>
          <a:xfrm>
            <a:off x="3399450" y="1070950"/>
            <a:ext cx="2788974" cy="3139176"/>
            <a:chOff x="3435600" y="501100"/>
            <a:chExt cx="2788974" cy="3139176"/>
          </a:xfrm>
        </p:grpSpPr>
        <p:pic>
          <p:nvPicPr>
            <p:cNvPr id="100" name="Google Shape;100;p18"/>
            <p:cNvPicPr preferRelativeResize="0"/>
            <p:nvPr/>
          </p:nvPicPr>
          <p:blipFill rotWithShape="1">
            <a:blip r:embed="rId7" cstate="email">
              <a:alphaModFix/>
              <a:extLst>
                <a:ext uri="{28A0092B-C50C-407E-A947-70E740481C1C}">
                  <a14:useLocalDpi xmlns:a14="http://schemas.microsoft.com/office/drawing/2010/main"/>
                </a:ext>
              </a:extLst>
            </a:blip>
            <a:srcRect/>
            <a:stretch/>
          </p:blipFill>
          <p:spPr>
            <a:xfrm>
              <a:off x="3435600" y="501100"/>
              <a:ext cx="2788974" cy="410775"/>
            </a:xfrm>
            <a:prstGeom prst="rect">
              <a:avLst/>
            </a:prstGeom>
            <a:noFill/>
            <a:ln>
              <a:noFill/>
            </a:ln>
          </p:spPr>
        </p:pic>
        <p:pic>
          <p:nvPicPr>
            <p:cNvPr id="101" name="Google Shape;101;p18"/>
            <p:cNvPicPr preferRelativeResize="0"/>
            <p:nvPr/>
          </p:nvPicPr>
          <p:blipFill rotWithShape="1">
            <a:blip r:embed="rId8" cstate="email">
              <a:alphaModFix/>
              <a:extLst>
                <a:ext uri="{28A0092B-C50C-407E-A947-70E740481C1C}">
                  <a14:useLocalDpi xmlns:a14="http://schemas.microsoft.com/office/drawing/2010/main"/>
                </a:ext>
              </a:extLst>
            </a:blip>
            <a:srcRect/>
            <a:stretch/>
          </p:blipFill>
          <p:spPr>
            <a:xfrm>
              <a:off x="3435600" y="2732130"/>
              <a:ext cx="2788974" cy="410783"/>
            </a:xfrm>
            <a:prstGeom prst="rect">
              <a:avLst/>
            </a:prstGeom>
            <a:noFill/>
            <a:ln>
              <a:noFill/>
            </a:ln>
          </p:spPr>
        </p:pic>
        <p:sp>
          <p:nvSpPr>
            <p:cNvPr id="102" name="Google Shape;102;p18"/>
            <p:cNvSpPr/>
            <p:nvPr/>
          </p:nvSpPr>
          <p:spPr>
            <a:xfrm>
              <a:off x="4000550" y="752229"/>
              <a:ext cx="708000" cy="145800"/>
            </a:xfrm>
            <a:prstGeom prst="rect">
              <a:avLst/>
            </a:prstGeom>
            <a:solidFill>
              <a:schemeClr val="lt1"/>
            </a:solidFill>
            <a:ln>
              <a:noFill/>
            </a:ln>
          </p:spPr>
          <p:txBody>
            <a:bodyPr spcFirstLastPara="1" wrap="square" lIns="76250" tIns="76250" rIns="76250" bIns="76250" anchor="ctr" anchorCtr="0">
              <a:noAutofit/>
            </a:bodyPr>
            <a:lstStyle/>
            <a:p>
              <a:pPr marL="0" lvl="0" indent="0" algn="ctr" rtl="0">
                <a:spcBef>
                  <a:spcPts val="0"/>
                </a:spcBef>
                <a:spcAft>
                  <a:spcPts val="0"/>
                </a:spcAft>
                <a:buNone/>
              </a:pPr>
              <a:endParaRPr sz="1167"/>
            </a:p>
          </p:txBody>
        </p:sp>
        <p:sp>
          <p:nvSpPr>
            <p:cNvPr id="103" name="Google Shape;103;p18"/>
            <p:cNvSpPr/>
            <p:nvPr/>
          </p:nvSpPr>
          <p:spPr>
            <a:xfrm>
              <a:off x="4000550" y="1183797"/>
              <a:ext cx="708000" cy="145800"/>
            </a:xfrm>
            <a:prstGeom prst="rect">
              <a:avLst/>
            </a:prstGeom>
            <a:solidFill>
              <a:schemeClr val="lt1"/>
            </a:solidFill>
            <a:ln>
              <a:noFill/>
            </a:ln>
          </p:spPr>
          <p:txBody>
            <a:bodyPr spcFirstLastPara="1" wrap="square" lIns="76250" tIns="76250" rIns="76250" bIns="76250" anchor="ctr" anchorCtr="0">
              <a:noAutofit/>
            </a:bodyPr>
            <a:lstStyle/>
            <a:p>
              <a:pPr marL="0" lvl="0" indent="0" algn="ctr" rtl="0">
                <a:spcBef>
                  <a:spcPts val="0"/>
                </a:spcBef>
                <a:spcAft>
                  <a:spcPts val="0"/>
                </a:spcAft>
                <a:buNone/>
              </a:pPr>
              <a:endParaRPr sz="1167"/>
            </a:p>
          </p:txBody>
        </p:sp>
        <p:sp>
          <p:nvSpPr>
            <p:cNvPr id="104" name="Google Shape;104;p18"/>
            <p:cNvSpPr/>
            <p:nvPr/>
          </p:nvSpPr>
          <p:spPr>
            <a:xfrm>
              <a:off x="4000550" y="1615365"/>
              <a:ext cx="708000" cy="145800"/>
            </a:xfrm>
            <a:prstGeom prst="rect">
              <a:avLst/>
            </a:prstGeom>
            <a:solidFill>
              <a:schemeClr val="lt1"/>
            </a:solidFill>
            <a:ln>
              <a:noFill/>
            </a:ln>
          </p:spPr>
          <p:txBody>
            <a:bodyPr spcFirstLastPara="1" wrap="square" lIns="76250" tIns="76250" rIns="76250" bIns="76250" anchor="ctr" anchorCtr="0">
              <a:noAutofit/>
            </a:bodyPr>
            <a:lstStyle/>
            <a:p>
              <a:pPr marL="0" lvl="0" indent="0" algn="ctr" rtl="0">
                <a:spcBef>
                  <a:spcPts val="0"/>
                </a:spcBef>
                <a:spcAft>
                  <a:spcPts val="0"/>
                </a:spcAft>
                <a:buNone/>
              </a:pPr>
              <a:endParaRPr sz="1167"/>
            </a:p>
          </p:txBody>
        </p:sp>
        <p:sp>
          <p:nvSpPr>
            <p:cNvPr id="105" name="Google Shape;105;p18"/>
            <p:cNvSpPr/>
            <p:nvPr/>
          </p:nvSpPr>
          <p:spPr>
            <a:xfrm>
              <a:off x="4000550" y="2046932"/>
              <a:ext cx="708000" cy="145800"/>
            </a:xfrm>
            <a:prstGeom prst="rect">
              <a:avLst/>
            </a:prstGeom>
            <a:solidFill>
              <a:schemeClr val="lt1"/>
            </a:solidFill>
            <a:ln>
              <a:noFill/>
            </a:ln>
          </p:spPr>
          <p:txBody>
            <a:bodyPr spcFirstLastPara="1" wrap="square" lIns="76250" tIns="76250" rIns="76250" bIns="76250" anchor="ctr" anchorCtr="0">
              <a:noAutofit/>
            </a:bodyPr>
            <a:lstStyle/>
            <a:p>
              <a:pPr marL="0" lvl="0" indent="0" algn="ctr" rtl="0">
                <a:spcBef>
                  <a:spcPts val="0"/>
                </a:spcBef>
                <a:spcAft>
                  <a:spcPts val="0"/>
                </a:spcAft>
                <a:buNone/>
              </a:pPr>
              <a:endParaRPr sz="1167"/>
            </a:p>
          </p:txBody>
        </p:sp>
        <p:sp>
          <p:nvSpPr>
            <p:cNvPr id="106" name="Google Shape;106;p18"/>
            <p:cNvSpPr/>
            <p:nvPr/>
          </p:nvSpPr>
          <p:spPr>
            <a:xfrm>
              <a:off x="4000550" y="2502642"/>
              <a:ext cx="708000" cy="145800"/>
            </a:xfrm>
            <a:prstGeom prst="rect">
              <a:avLst/>
            </a:prstGeom>
            <a:solidFill>
              <a:schemeClr val="lt1"/>
            </a:solidFill>
            <a:ln>
              <a:noFill/>
            </a:ln>
          </p:spPr>
          <p:txBody>
            <a:bodyPr spcFirstLastPara="1" wrap="square" lIns="76250" tIns="76250" rIns="76250" bIns="76250" anchor="ctr" anchorCtr="0">
              <a:noAutofit/>
            </a:bodyPr>
            <a:lstStyle/>
            <a:p>
              <a:pPr marL="0" lvl="0" indent="0" algn="ctr" rtl="0">
                <a:spcBef>
                  <a:spcPts val="0"/>
                </a:spcBef>
                <a:spcAft>
                  <a:spcPts val="0"/>
                </a:spcAft>
                <a:buNone/>
              </a:pPr>
              <a:endParaRPr sz="1167"/>
            </a:p>
          </p:txBody>
        </p:sp>
        <p:sp>
          <p:nvSpPr>
            <p:cNvPr id="107" name="Google Shape;107;p18"/>
            <p:cNvSpPr/>
            <p:nvPr/>
          </p:nvSpPr>
          <p:spPr>
            <a:xfrm>
              <a:off x="4015075" y="2958351"/>
              <a:ext cx="708000" cy="145800"/>
            </a:xfrm>
            <a:prstGeom prst="rect">
              <a:avLst/>
            </a:prstGeom>
            <a:solidFill>
              <a:schemeClr val="lt1"/>
            </a:solidFill>
            <a:ln>
              <a:noFill/>
            </a:ln>
          </p:spPr>
          <p:txBody>
            <a:bodyPr spcFirstLastPara="1" wrap="square" lIns="76250" tIns="76250" rIns="76250" bIns="76250" anchor="ctr" anchorCtr="0">
              <a:noAutofit/>
            </a:bodyPr>
            <a:lstStyle/>
            <a:p>
              <a:pPr marL="0" lvl="0" indent="0" algn="ctr" rtl="0">
                <a:spcBef>
                  <a:spcPts val="0"/>
                </a:spcBef>
                <a:spcAft>
                  <a:spcPts val="0"/>
                </a:spcAft>
                <a:buNone/>
              </a:pPr>
              <a:endParaRPr sz="1167"/>
            </a:p>
          </p:txBody>
        </p:sp>
        <p:pic>
          <p:nvPicPr>
            <p:cNvPr id="108" name="Google Shape;108;p18"/>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3473675" y="1041425"/>
              <a:ext cx="2396825" cy="492600"/>
            </a:xfrm>
            <a:prstGeom prst="rect">
              <a:avLst/>
            </a:prstGeom>
            <a:noFill/>
            <a:ln>
              <a:noFill/>
            </a:ln>
          </p:spPr>
        </p:pic>
        <p:pic>
          <p:nvPicPr>
            <p:cNvPr id="109" name="Google Shape;109;p18"/>
            <p:cNvPicPr preferRelativeResize="0"/>
            <p:nvPr/>
          </p:nvPicPr>
          <p:blipFill>
            <a:blip r:embed="rId10" cstate="email">
              <a:alphaModFix/>
              <a:extLst>
                <a:ext uri="{28A0092B-C50C-407E-A947-70E740481C1C}">
                  <a14:useLocalDpi xmlns:a14="http://schemas.microsoft.com/office/drawing/2010/main"/>
                </a:ext>
              </a:extLst>
            </a:blip>
            <a:stretch>
              <a:fillRect/>
            </a:stretch>
          </p:blipFill>
          <p:spPr>
            <a:xfrm>
              <a:off x="3522672" y="1633300"/>
              <a:ext cx="1936703" cy="397650"/>
            </a:xfrm>
            <a:prstGeom prst="rect">
              <a:avLst/>
            </a:prstGeom>
            <a:noFill/>
            <a:ln>
              <a:noFill/>
            </a:ln>
          </p:spPr>
        </p:pic>
        <p:pic>
          <p:nvPicPr>
            <p:cNvPr id="110" name="Google Shape;110;p18"/>
            <p:cNvPicPr preferRelativeResize="0"/>
            <p:nvPr/>
          </p:nvPicPr>
          <p:blipFill rotWithShape="1">
            <a:blip r:embed="rId11" cstate="email">
              <a:alphaModFix/>
              <a:extLst>
                <a:ext uri="{28A0092B-C50C-407E-A947-70E740481C1C}">
                  <a14:useLocalDpi xmlns:a14="http://schemas.microsoft.com/office/drawing/2010/main"/>
                </a:ext>
              </a:extLst>
            </a:blip>
            <a:srcRect/>
            <a:stretch/>
          </p:blipFill>
          <p:spPr>
            <a:xfrm>
              <a:off x="3473675" y="2125999"/>
              <a:ext cx="2115750" cy="467525"/>
            </a:xfrm>
            <a:prstGeom prst="rect">
              <a:avLst/>
            </a:prstGeom>
            <a:noFill/>
            <a:ln>
              <a:noFill/>
            </a:ln>
          </p:spPr>
        </p:pic>
        <p:pic>
          <p:nvPicPr>
            <p:cNvPr id="111" name="Google Shape;111;p18"/>
            <p:cNvPicPr preferRelativeResize="0"/>
            <p:nvPr/>
          </p:nvPicPr>
          <p:blipFill>
            <a:blip r:embed="rId12" cstate="email">
              <a:alphaModFix/>
              <a:extLst>
                <a:ext uri="{28A0092B-C50C-407E-A947-70E740481C1C}">
                  <a14:useLocalDpi xmlns:a14="http://schemas.microsoft.com/office/drawing/2010/main"/>
                </a:ext>
              </a:extLst>
            </a:blip>
            <a:stretch>
              <a:fillRect/>
            </a:stretch>
          </p:blipFill>
          <p:spPr>
            <a:xfrm>
              <a:off x="3522675" y="3229476"/>
              <a:ext cx="1824778" cy="410800"/>
            </a:xfrm>
            <a:prstGeom prst="rect">
              <a:avLst/>
            </a:prstGeom>
            <a:noFill/>
            <a:ln>
              <a:noFill/>
            </a:ln>
          </p:spPr>
        </p:pic>
      </p:grpSp>
      <p:sp>
        <p:nvSpPr>
          <p:cNvPr id="112" name="Google Shape;112;p18"/>
          <p:cNvSpPr/>
          <p:nvPr/>
        </p:nvSpPr>
        <p:spPr>
          <a:xfrm>
            <a:off x="3926875" y="4007288"/>
            <a:ext cx="708000" cy="145800"/>
          </a:xfrm>
          <a:prstGeom prst="rect">
            <a:avLst/>
          </a:prstGeom>
          <a:solidFill>
            <a:schemeClr val="lt1"/>
          </a:solidFill>
          <a:ln>
            <a:noFill/>
          </a:ln>
        </p:spPr>
        <p:txBody>
          <a:bodyPr spcFirstLastPara="1" wrap="square" lIns="76250" tIns="76250" rIns="76250" bIns="76250" anchor="ctr" anchorCtr="0">
            <a:noAutofit/>
          </a:bodyPr>
          <a:lstStyle/>
          <a:p>
            <a:pPr marL="0" lvl="0" indent="0" algn="ctr" rtl="0">
              <a:spcBef>
                <a:spcPts val="0"/>
              </a:spcBef>
              <a:spcAft>
                <a:spcPts val="0"/>
              </a:spcAft>
              <a:buNone/>
            </a:pPr>
            <a:endParaRPr sz="1167"/>
          </a:p>
        </p:txBody>
      </p:sp>
      <p:grpSp>
        <p:nvGrpSpPr>
          <p:cNvPr id="113" name="Google Shape;113;p18"/>
          <p:cNvGrpSpPr/>
          <p:nvPr/>
        </p:nvGrpSpPr>
        <p:grpSpPr>
          <a:xfrm>
            <a:off x="6409508" y="1475150"/>
            <a:ext cx="2140749" cy="3592059"/>
            <a:chOff x="6294750" y="483198"/>
            <a:chExt cx="2589824" cy="4345058"/>
          </a:xfrm>
        </p:grpSpPr>
        <p:grpSp>
          <p:nvGrpSpPr>
            <p:cNvPr id="114" name="Google Shape;114;p18"/>
            <p:cNvGrpSpPr/>
            <p:nvPr/>
          </p:nvGrpSpPr>
          <p:grpSpPr>
            <a:xfrm>
              <a:off x="6294750" y="3414052"/>
              <a:ext cx="2589824" cy="397650"/>
              <a:chOff x="3435600" y="3747327"/>
              <a:chExt cx="2589824" cy="397650"/>
            </a:xfrm>
          </p:grpSpPr>
          <p:pic>
            <p:nvPicPr>
              <p:cNvPr id="115" name="Google Shape;115;p18"/>
              <p:cNvPicPr preferRelativeResize="0"/>
              <p:nvPr/>
            </p:nvPicPr>
            <p:blipFill rotWithShape="1">
              <a:blip r:embed="rId13" cstate="email">
                <a:alphaModFix/>
                <a:extLst>
                  <a:ext uri="{28A0092B-C50C-407E-A947-70E740481C1C}">
                    <a14:useLocalDpi xmlns:a14="http://schemas.microsoft.com/office/drawing/2010/main"/>
                  </a:ext>
                </a:extLst>
              </a:blip>
              <a:srcRect/>
              <a:stretch/>
            </p:blipFill>
            <p:spPr>
              <a:xfrm>
                <a:off x="3435600" y="3747327"/>
                <a:ext cx="2589824" cy="397650"/>
              </a:xfrm>
              <a:prstGeom prst="rect">
                <a:avLst/>
              </a:prstGeom>
              <a:noFill/>
              <a:ln>
                <a:noFill/>
              </a:ln>
            </p:spPr>
          </p:pic>
          <p:sp>
            <p:nvSpPr>
              <p:cNvPr id="116" name="Google Shape;116;p18"/>
              <p:cNvSpPr/>
              <p:nvPr/>
            </p:nvSpPr>
            <p:spPr>
              <a:xfrm>
                <a:off x="3985312" y="3999163"/>
                <a:ext cx="708000" cy="145800"/>
              </a:xfrm>
              <a:prstGeom prst="rect">
                <a:avLst/>
              </a:prstGeom>
              <a:solidFill>
                <a:schemeClr val="lt1"/>
              </a:solidFill>
              <a:ln>
                <a:noFill/>
              </a:ln>
            </p:spPr>
            <p:txBody>
              <a:bodyPr spcFirstLastPara="1" wrap="square" lIns="63050" tIns="63050" rIns="63050" bIns="63050" anchor="ctr" anchorCtr="0">
                <a:noAutofit/>
              </a:bodyPr>
              <a:lstStyle/>
              <a:p>
                <a:pPr marL="0" lvl="0" indent="0" algn="ctr" rtl="0">
                  <a:spcBef>
                    <a:spcPts val="0"/>
                  </a:spcBef>
                  <a:spcAft>
                    <a:spcPts val="0"/>
                  </a:spcAft>
                  <a:buNone/>
                </a:pPr>
                <a:endParaRPr sz="965"/>
              </a:p>
            </p:txBody>
          </p:sp>
        </p:grpSp>
        <p:grpSp>
          <p:nvGrpSpPr>
            <p:cNvPr id="117" name="Google Shape;117;p18"/>
            <p:cNvGrpSpPr/>
            <p:nvPr/>
          </p:nvGrpSpPr>
          <p:grpSpPr>
            <a:xfrm>
              <a:off x="6312975" y="483198"/>
              <a:ext cx="2553375" cy="2814625"/>
              <a:chOff x="6019300" y="1192760"/>
              <a:chExt cx="2553375" cy="2814625"/>
            </a:xfrm>
          </p:grpSpPr>
          <p:pic>
            <p:nvPicPr>
              <p:cNvPr id="118" name="Google Shape;118;p18"/>
              <p:cNvPicPr preferRelativeResize="0"/>
              <p:nvPr/>
            </p:nvPicPr>
            <p:blipFill rotWithShape="1">
              <a:blip r:embed="rId14" cstate="email">
                <a:alphaModFix/>
                <a:extLst>
                  <a:ext uri="{28A0092B-C50C-407E-A947-70E740481C1C}">
                    <a14:useLocalDpi xmlns:a14="http://schemas.microsoft.com/office/drawing/2010/main"/>
                  </a:ext>
                </a:extLst>
              </a:blip>
              <a:srcRect/>
              <a:stretch/>
            </p:blipFill>
            <p:spPr>
              <a:xfrm>
                <a:off x="6019300" y="1837738"/>
                <a:ext cx="2553375" cy="2169637"/>
              </a:xfrm>
              <a:prstGeom prst="rect">
                <a:avLst/>
              </a:prstGeom>
              <a:noFill/>
              <a:ln>
                <a:noFill/>
              </a:ln>
            </p:spPr>
          </p:pic>
          <p:sp>
            <p:nvSpPr>
              <p:cNvPr id="119" name="Google Shape;119;p18"/>
              <p:cNvSpPr/>
              <p:nvPr/>
            </p:nvSpPr>
            <p:spPr>
              <a:xfrm>
                <a:off x="6577925" y="1192760"/>
                <a:ext cx="708000" cy="145800"/>
              </a:xfrm>
              <a:prstGeom prst="rect">
                <a:avLst/>
              </a:prstGeom>
              <a:solidFill>
                <a:schemeClr val="lt1"/>
              </a:solidFill>
              <a:ln>
                <a:noFill/>
              </a:ln>
            </p:spPr>
            <p:txBody>
              <a:bodyPr spcFirstLastPara="1" wrap="square" lIns="63050" tIns="63050" rIns="63050" bIns="63050" anchor="ctr" anchorCtr="0">
                <a:noAutofit/>
              </a:bodyPr>
              <a:lstStyle/>
              <a:p>
                <a:pPr marL="0" lvl="0" indent="0" algn="ctr" rtl="0">
                  <a:spcBef>
                    <a:spcPts val="0"/>
                  </a:spcBef>
                  <a:spcAft>
                    <a:spcPts val="0"/>
                  </a:spcAft>
                  <a:buNone/>
                </a:pPr>
                <a:endParaRPr sz="965"/>
              </a:p>
            </p:txBody>
          </p:sp>
          <p:sp>
            <p:nvSpPr>
              <p:cNvPr id="120" name="Google Shape;120;p18"/>
              <p:cNvSpPr/>
              <p:nvPr/>
            </p:nvSpPr>
            <p:spPr>
              <a:xfrm>
                <a:off x="6577925" y="1640210"/>
                <a:ext cx="708000" cy="145800"/>
              </a:xfrm>
              <a:prstGeom prst="rect">
                <a:avLst/>
              </a:prstGeom>
              <a:solidFill>
                <a:schemeClr val="lt1"/>
              </a:solidFill>
              <a:ln>
                <a:noFill/>
              </a:ln>
            </p:spPr>
            <p:txBody>
              <a:bodyPr spcFirstLastPara="1" wrap="square" lIns="63050" tIns="63050" rIns="63050" bIns="63050" anchor="ctr" anchorCtr="0">
                <a:noAutofit/>
              </a:bodyPr>
              <a:lstStyle/>
              <a:p>
                <a:pPr marL="0" lvl="0" indent="0" algn="ctr" rtl="0">
                  <a:spcBef>
                    <a:spcPts val="0"/>
                  </a:spcBef>
                  <a:spcAft>
                    <a:spcPts val="0"/>
                  </a:spcAft>
                  <a:buNone/>
                </a:pPr>
                <a:endParaRPr sz="965"/>
              </a:p>
            </p:txBody>
          </p:sp>
          <p:sp>
            <p:nvSpPr>
              <p:cNvPr id="121" name="Google Shape;121;p18"/>
              <p:cNvSpPr/>
              <p:nvPr/>
            </p:nvSpPr>
            <p:spPr>
              <a:xfrm>
                <a:off x="6577925" y="2087660"/>
                <a:ext cx="708000" cy="145800"/>
              </a:xfrm>
              <a:prstGeom prst="rect">
                <a:avLst/>
              </a:prstGeom>
              <a:solidFill>
                <a:schemeClr val="lt1"/>
              </a:solidFill>
              <a:ln>
                <a:noFill/>
              </a:ln>
            </p:spPr>
            <p:txBody>
              <a:bodyPr spcFirstLastPara="1" wrap="square" lIns="63050" tIns="63050" rIns="63050" bIns="63050" anchor="ctr" anchorCtr="0">
                <a:noAutofit/>
              </a:bodyPr>
              <a:lstStyle/>
              <a:p>
                <a:pPr marL="0" lvl="0" indent="0" algn="ctr" rtl="0">
                  <a:spcBef>
                    <a:spcPts val="0"/>
                  </a:spcBef>
                  <a:spcAft>
                    <a:spcPts val="0"/>
                  </a:spcAft>
                  <a:buNone/>
                </a:pPr>
                <a:endParaRPr sz="965"/>
              </a:p>
            </p:txBody>
          </p:sp>
          <p:sp>
            <p:nvSpPr>
              <p:cNvPr id="122" name="Google Shape;122;p18"/>
              <p:cNvSpPr/>
              <p:nvPr/>
            </p:nvSpPr>
            <p:spPr>
              <a:xfrm>
                <a:off x="6577925" y="2535110"/>
                <a:ext cx="708000" cy="145800"/>
              </a:xfrm>
              <a:prstGeom prst="rect">
                <a:avLst/>
              </a:prstGeom>
              <a:solidFill>
                <a:schemeClr val="lt1"/>
              </a:solidFill>
              <a:ln>
                <a:noFill/>
              </a:ln>
            </p:spPr>
            <p:txBody>
              <a:bodyPr spcFirstLastPara="1" wrap="square" lIns="63050" tIns="63050" rIns="63050" bIns="63050" anchor="ctr" anchorCtr="0">
                <a:noAutofit/>
              </a:bodyPr>
              <a:lstStyle/>
              <a:p>
                <a:pPr marL="0" lvl="0" indent="0" algn="ctr" rtl="0">
                  <a:spcBef>
                    <a:spcPts val="0"/>
                  </a:spcBef>
                  <a:spcAft>
                    <a:spcPts val="0"/>
                  </a:spcAft>
                  <a:buNone/>
                </a:pPr>
                <a:endParaRPr sz="965"/>
              </a:p>
            </p:txBody>
          </p:sp>
          <p:sp>
            <p:nvSpPr>
              <p:cNvPr id="123" name="Google Shape;123;p18"/>
              <p:cNvSpPr/>
              <p:nvPr/>
            </p:nvSpPr>
            <p:spPr>
              <a:xfrm>
                <a:off x="6577925" y="2982560"/>
                <a:ext cx="708000" cy="145800"/>
              </a:xfrm>
              <a:prstGeom prst="rect">
                <a:avLst/>
              </a:prstGeom>
              <a:solidFill>
                <a:schemeClr val="lt1"/>
              </a:solidFill>
              <a:ln>
                <a:noFill/>
              </a:ln>
            </p:spPr>
            <p:txBody>
              <a:bodyPr spcFirstLastPara="1" wrap="square" lIns="63050" tIns="63050" rIns="63050" bIns="63050" anchor="ctr" anchorCtr="0">
                <a:noAutofit/>
              </a:bodyPr>
              <a:lstStyle/>
              <a:p>
                <a:pPr marL="0" lvl="0" indent="0" algn="ctr" rtl="0">
                  <a:spcBef>
                    <a:spcPts val="0"/>
                  </a:spcBef>
                  <a:spcAft>
                    <a:spcPts val="0"/>
                  </a:spcAft>
                  <a:buNone/>
                </a:pPr>
                <a:endParaRPr sz="965"/>
              </a:p>
            </p:txBody>
          </p:sp>
          <p:sp>
            <p:nvSpPr>
              <p:cNvPr id="124" name="Google Shape;124;p18"/>
              <p:cNvSpPr/>
              <p:nvPr/>
            </p:nvSpPr>
            <p:spPr>
              <a:xfrm>
                <a:off x="6577925" y="3430010"/>
                <a:ext cx="708000" cy="145800"/>
              </a:xfrm>
              <a:prstGeom prst="rect">
                <a:avLst/>
              </a:prstGeom>
              <a:solidFill>
                <a:schemeClr val="lt1"/>
              </a:solidFill>
              <a:ln>
                <a:noFill/>
              </a:ln>
            </p:spPr>
            <p:txBody>
              <a:bodyPr spcFirstLastPara="1" wrap="square" lIns="63050" tIns="63050" rIns="63050" bIns="63050" anchor="ctr" anchorCtr="0">
                <a:noAutofit/>
              </a:bodyPr>
              <a:lstStyle/>
              <a:p>
                <a:pPr marL="0" lvl="0" indent="0" algn="ctr" rtl="0">
                  <a:spcBef>
                    <a:spcPts val="0"/>
                  </a:spcBef>
                  <a:spcAft>
                    <a:spcPts val="0"/>
                  </a:spcAft>
                  <a:buNone/>
                </a:pPr>
                <a:endParaRPr sz="965"/>
              </a:p>
            </p:txBody>
          </p:sp>
          <p:sp>
            <p:nvSpPr>
              <p:cNvPr id="125" name="Google Shape;125;p18"/>
              <p:cNvSpPr/>
              <p:nvPr/>
            </p:nvSpPr>
            <p:spPr>
              <a:xfrm>
                <a:off x="6577925" y="3861585"/>
                <a:ext cx="708000" cy="145800"/>
              </a:xfrm>
              <a:prstGeom prst="rect">
                <a:avLst/>
              </a:prstGeom>
              <a:solidFill>
                <a:schemeClr val="lt1"/>
              </a:solidFill>
              <a:ln>
                <a:noFill/>
              </a:ln>
            </p:spPr>
            <p:txBody>
              <a:bodyPr spcFirstLastPara="1" wrap="square" lIns="63050" tIns="63050" rIns="63050" bIns="63050" anchor="ctr" anchorCtr="0">
                <a:noAutofit/>
              </a:bodyPr>
              <a:lstStyle/>
              <a:p>
                <a:pPr marL="0" lvl="0" indent="0" algn="ctr" rtl="0">
                  <a:spcBef>
                    <a:spcPts val="0"/>
                  </a:spcBef>
                  <a:spcAft>
                    <a:spcPts val="0"/>
                  </a:spcAft>
                  <a:buNone/>
                </a:pPr>
                <a:endParaRPr sz="965"/>
              </a:p>
            </p:txBody>
          </p:sp>
        </p:grpSp>
        <p:pic>
          <p:nvPicPr>
            <p:cNvPr id="126" name="Google Shape;126;p18"/>
            <p:cNvPicPr preferRelativeResize="0"/>
            <p:nvPr/>
          </p:nvPicPr>
          <p:blipFill>
            <a:blip r:embed="rId15" cstate="email">
              <a:alphaModFix/>
              <a:extLst>
                <a:ext uri="{28A0092B-C50C-407E-A947-70E740481C1C}">
                  <a14:useLocalDpi xmlns:a14="http://schemas.microsoft.com/office/drawing/2010/main"/>
                </a:ext>
              </a:extLst>
            </a:blip>
            <a:stretch>
              <a:fillRect/>
            </a:stretch>
          </p:blipFill>
          <p:spPr>
            <a:xfrm>
              <a:off x="6343354" y="3892666"/>
              <a:ext cx="2326418" cy="467525"/>
            </a:xfrm>
            <a:prstGeom prst="rect">
              <a:avLst/>
            </a:prstGeom>
            <a:noFill/>
            <a:ln>
              <a:noFill/>
            </a:ln>
          </p:spPr>
        </p:pic>
        <p:sp>
          <p:nvSpPr>
            <p:cNvPr id="127" name="Google Shape;127;p18"/>
            <p:cNvSpPr/>
            <p:nvPr/>
          </p:nvSpPr>
          <p:spPr>
            <a:xfrm>
              <a:off x="6864700" y="4165488"/>
              <a:ext cx="708000" cy="145800"/>
            </a:xfrm>
            <a:prstGeom prst="rect">
              <a:avLst/>
            </a:prstGeom>
            <a:solidFill>
              <a:schemeClr val="lt1"/>
            </a:solidFill>
            <a:ln>
              <a:noFill/>
            </a:ln>
          </p:spPr>
          <p:txBody>
            <a:bodyPr spcFirstLastPara="1" wrap="square" lIns="63050" tIns="63050" rIns="63050" bIns="63050" anchor="ctr" anchorCtr="0">
              <a:noAutofit/>
            </a:bodyPr>
            <a:lstStyle/>
            <a:p>
              <a:pPr marL="0" lvl="0" indent="0" algn="ctr" rtl="0">
                <a:spcBef>
                  <a:spcPts val="0"/>
                </a:spcBef>
                <a:spcAft>
                  <a:spcPts val="0"/>
                </a:spcAft>
                <a:buNone/>
              </a:pPr>
              <a:endParaRPr sz="965"/>
            </a:p>
          </p:txBody>
        </p:sp>
        <p:pic>
          <p:nvPicPr>
            <p:cNvPr id="128" name="Google Shape;128;p18"/>
            <p:cNvPicPr preferRelativeResize="0"/>
            <p:nvPr/>
          </p:nvPicPr>
          <p:blipFill>
            <a:blip r:embed="rId16" cstate="email">
              <a:alphaModFix/>
              <a:extLst>
                <a:ext uri="{28A0092B-C50C-407E-A947-70E740481C1C}">
                  <a14:useLocalDpi xmlns:a14="http://schemas.microsoft.com/office/drawing/2010/main"/>
                </a:ext>
              </a:extLst>
            </a:blip>
            <a:stretch>
              <a:fillRect/>
            </a:stretch>
          </p:blipFill>
          <p:spPr>
            <a:xfrm>
              <a:off x="6388941" y="4360730"/>
              <a:ext cx="2040109" cy="467525"/>
            </a:xfrm>
            <a:prstGeom prst="rect">
              <a:avLst/>
            </a:prstGeom>
            <a:noFill/>
            <a:ln>
              <a:noFill/>
            </a:ln>
          </p:spPr>
        </p:pic>
        <p:sp>
          <p:nvSpPr>
            <p:cNvPr id="129" name="Google Shape;129;p18"/>
            <p:cNvSpPr/>
            <p:nvPr/>
          </p:nvSpPr>
          <p:spPr>
            <a:xfrm>
              <a:off x="6864700" y="4609538"/>
              <a:ext cx="708000" cy="145800"/>
            </a:xfrm>
            <a:prstGeom prst="rect">
              <a:avLst/>
            </a:prstGeom>
            <a:solidFill>
              <a:schemeClr val="lt1"/>
            </a:solidFill>
            <a:ln>
              <a:noFill/>
            </a:ln>
          </p:spPr>
          <p:txBody>
            <a:bodyPr spcFirstLastPara="1" wrap="square" lIns="63050" tIns="63050" rIns="63050" bIns="63050" anchor="ctr" anchorCtr="0">
              <a:noAutofit/>
            </a:bodyPr>
            <a:lstStyle/>
            <a:p>
              <a:pPr marL="0" lvl="0" indent="0" algn="ctr" rtl="0">
                <a:spcBef>
                  <a:spcPts val="0"/>
                </a:spcBef>
                <a:spcAft>
                  <a:spcPts val="0"/>
                </a:spcAft>
                <a:buNone/>
              </a:pPr>
              <a:endParaRPr sz="965"/>
            </a:p>
          </p:txBody>
        </p:sp>
        <p:pic>
          <p:nvPicPr>
            <p:cNvPr id="130" name="Google Shape;130;p18"/>
            <p:cNvPicPr preferRelativeResize="0"/>
            <p:nvPr/>
          </p:nvPicPr>
          <p:blipFill>
            <a:blip r:embed="rId17" cstate="email">
              <a:alphaModFix/>
              <a:extLst>
                <a:ext uri="{28A0092B-C50C-407E-A947-70E740481C1C}">
                  <a14:useLocalDpi xmlns:a14="http://schemas.microsoft.com/office/drawing/2010/main"/>
                </a:ext>
              </a:extLst>
            </a:blip>
            <a:stretch>
              <a:fillRect/>
            </a:stretch>
          </p:blipFill>
          <p:spPr>
            <a:xfrm>
              <a:off x="6343350" y="688400"/>
              <a:ext cx="2235050" cy="437075"/>
            </a:xfrm>
            <a:prstGeom prst="rect">
              <a:avLst/>
            </a:prstGeom>
            <a:noFill/>
            <a:ln>
              <a:noFill/>
            </a:ln>
          </p:spPr>
        </p:pic>
        <p:sp>
          <p:nvSpPr>
            <p:cNvPr id="131" name="Google Shape;131;p18"/>
            <p:cNvSpPr/>
            <p:nvPr/>
          </p:nvSpPr>
          <p:spPr>
            <a:xfrm>
              <a:off x="6864700" y="941824"/>
              <a:ext cx="708000" cy="145800"/>
            </a:xfrm>
            <a:prstGeom prst="rect">
              <a:avLst/>
            </a:prstGeom>
            <a:solidFill>
              <a:schemeClr val="lt1"/>
            </a:solidFill>
            <a:ln>
              <a:noFill/>
            </a:ln>
          </p:spPr>
          <p:txBody>
            <a:bodyPr spcFirstLastPara="1" wrap="square" lIns="63050" tIns="63050" rIns="63050" bIns="63050" anchor="ctr" anchorCtr="0">
              <a:noAutofit/>
            </a:bodyPr>
            <a:lstStyle/>
            <a:p>
              <a:pPr marL="0" lvl="0" indent="0" algn="ctr" rtl="0">
                <a:spcBef>
                  <a:spcPts val="0"/>
                </a:spcBef>
                <a:spcAft>
                  <a:spcPts val="0"/>
                </a:spcAft>
                <a:buNone/>
              </a:pPr>
              <a:endParaRPr sz="965"/>
            </a:p>
          </p:txBody>
        </p:sp>
      </p:grpSp>
      <p:pic>
        <p:nvPicPr>
          <p:cNvPr id="132" name="Google Shape;132;p18"/>
          <p:cNvPicPr preferRelativeResize="0"/>
          <p:nvPr/>
        </p:nvPicPr>
        <p:blipFill>
          <a:blip r:embed="rId18" cstate="email">
            <a:alphaModFix/>
            <a:extLst>
              <a:ext uri="{28A0092B-C50C-407E-A947-70E740481C1C}">
                <a14:useLocalDpi xmlns:a14="http://schemas.microsoft.com/office/drawing/2010/main"/>
              </a:ext>
            </a:extLst>
          </a:blip>
          <a:stretch>
            <a:fillRect/>
          </a:stretch>
        </p:blipFill>
        <p:spPr>
          <a:xfrm>
            <a:off x="6483165" y="987575"/>
            <a:ext cx="2060769" cy="653278"/>
          </a:xfrm>
          <a:prstGeom prst="rect">
            <a:avLst/>
          </a:prstGeom>
          <a:noFill/>
          <a:ln>
            <a:noFill/>
          </a:ln>
        </p:spPr>
      </p:pic>
      <p:pic>
        <p:nvPicPr>
          <p:cNvPr id="133" name="Google Shape;133;p18"/>
          <p:cNvPicPr preferRelativeResize="0"/>
          <p:nvPr/>
        </p:nvPicPr>
        <p:blipFill>
          <a:blip r:embed="rId19" cstate="email">
            <a:alphaModFix/>
            <a:extLst>
              <a:ext uri="{28A0092B-C50C-407E-A947-70E740481C1C}">
                <a14:useLocalDpi xmlns:a14="http://schemas.microsoft.com/office/drawing/2010/main"/>
              </a:ext>
            </a:extLst>
          </a:blip>
          <a:stretch>
            <a:fillRect/>
          </a:stretch>
        </p:blipFill>
        <p:spPr>
          <a:xfrm>
            <a:off x="6497541" y="654600"/>
            <a:ext cx="1483625" cy="302425"/>
          </a:xfrm>
          <a:prstGeom prst="rect">
            <a:avLst/>
          </a:prstGeom>
          <a:noFill/>
          <a:ln>
            <a:noFill/>
          </a:ln>
        </p:spPr>
      </p:pic>
      <p:sp>
        <p:nvSpPr>
          <p:cNvPr id="134" name="Google Shape;134;p18"/>
          <p:cNvSpPr txBox="1"/>
          <p:nvPr/>
        </p:nvSpPr>
        <p:spPr>
          <a:xfrm>
            <a:off x="3501875" y="273625"/>
            <a:ext cx="2520600" cy="302400"/>
          </a:xfrm>
          <a:prstGeom prst="rect">
            <a:avLst/>
          </a:prstGeom>
          <a:solidFill>
            <a:srgbClr val="D9EA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b="1">
                <a:solidFill>
                  <a:schemeClr val="dk1"/>
                </a:solidFill>
                <a:latin typeface="Open Sans ExtraBold"/>
                <a:ea typeface="Open Sans ExtraBold"/>
                <a:cs typeface="Open Sans ExtraBold"/>
                <a:sym typeface="Open Sans"/>
              </a:rPr>
              <a:t>Contributeurs (6)</a:t>
            </a:r>
            <a:endParaRPr sz="1000" b="1">
              <a:solidFill>
                <a:schemeClr val="dk1"/>
              </a:solidFill>
              <a:latin typeface="Open Sans ExtraBold"/>
              <a:ea typeface="Open Sans ExtraBold"/>
              <a:cs typeface="Open Sans ExtraBold"/>
              <a:sym typeface="Open Sans"/>
            </a:endParaRPr>
          </a:p>
        </p:txBody>
      </p:sp>
      <p:sp>
        <p:nvSpPr>
          <p:cNvPr id="135" name="Google Shape;135;p18"/>
          <p:cNvSpPr txBox="1"/>
          <p:nvPr/>
        </p:nvSpPr>
        <p:spPr>
          <a:xfrm>
            <a:off x="6253250" y="273625"/>
            <a:ext cx="2520600" cy="302400"/>
          </a:xfrm>
          <a:prstGeom prst="rect">
            <a:avLst/>
          </a:prstGeom>
          <a:solidFill>
            <a:srgbClr val="D9EA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b="1">
                <a:solidFill>
                  <a:schemeClr val="dk1"/>
                </a:solidFill>
                <a:latin typeface="Open Sans ExtraBold"/>
                <a:ea typeface="Open Sans ExtraBold"/>
                <a:cs typeface="Open Sans ExtraBold"/>
                <a:sym typeface="Open Sans"/>
              </a:rPr>
              <a:t>Supporteurs (12)</a:t>
            </a:r>
            <a:endParaRPr sz="1000" b="1">
              <a:solidFill>
                <a:schemeClr val="dk1"/>
              </a:solidFill>
              <a:latin typeface="Open Sans ExtraBold"/>
              <a:ea typeface="Open Sans ExtraBold"/>
              <a:cs typeface="Open Sans ExtraBold"/>
              <a:sym typeface="Open Sans"/>
            </a:endParaRPr>
          </a:p>
        </p:txBody>
      </p:sp>
      <p:sp>
        <p:nvSpPr>
          <p:cNvPr id="136" name="Google Shape;136;p18"/>
          <p:cNvSpPr txBox="1"/>
          <p:nvPr/>
        </p:nvSpPr>
        <p:spPr>
          <a:xfrm>
            <a:off x="469075" y="2709475"/>
            <a:ext cx="2520600" cy="302400"/>
          </a:xfrm>
          <a:prstGeom prst="rect">
            <a:avLst/>
          </a:prstGeom>
          <a:solidFill>
            <a:srgbClr val="D9EA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b="1">
                <a:solidFill>
                  <a:schemeClr val="dk1"/>
                </a:solidFill>
                <a:latin typeface="Open Sans ExtraBold"/>
                <a:ea typeface="Open Sans ExtraBold"/>
                <a:cs typeface="Open Sans ExtraBold"/>
                <a:sym typeface="Open Sans"/>
              </a:rPr>
              <a:t>Coordinateurs (2)</a:t>
            </a:r>
            <a:endParaRPr sz="1000" b="1">
              <a:solidFill>
                <a:schemeClr val="dk1"/>
              </a:solidFill>
              <a:latin typeface="Open Sans ExtraBold"/>
              <a:ea typeface="Open Sans ExtraBold"/>
              <a:cs typeface="Open Sans ExtraBold"/>
              <a:sym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19"/>
          <p:cNvSpPr txBox="1"/>
          <p:nvPr/>
        </p:nvSpPr>
        <p:spPr>
          <a:xfrm>
            <a:off x="532400" y="367125"/>
            <a:ext cx="53592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800" i="1">
                <a:solidFill>
                  <a:srgbClr val="354095"/>
                </a:solidFill>
                <a:latin typeface="Roboto Black"/>
                <a:ea typeface="Roboto Black"/>
                <a:cs typeface="Roboto Black"/>
                <a:sym typeface="Roboto Black"/>
              </a:rPr>
              <a:t>Teams - SOUVERAINTE - BMC CH12</a:t>
            </a:r>
            <a:endParaRPr sz="1800">
              <a:solidFill>
                <a:srgbClr val="354095"/>
              </a:solidFill>
              <a:highlight>
                <a:srgbClr val="354095"/>
              </a:highlight>
              <a:latin typeface="Roboto Black"/>
              <a:ea typeface="Roboto Black"/>
              <a:cs typeface="Roboto Black"/>
              <a:sym typeface="Roboto Black"/>
            </a:endParaRPr>
          </a:p>
        </p:txBody>
      </p:sp>
      <p:pic>
        <p:nvPicPr>
          <p:cNvPr id="142" name="Google Shape;142;p19"/>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684250" y="1092875"/>
            <a:ext cx="7475174" cy="37083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0"/>
          <p:cNvSpPr txBox="1"/>
          <p:nvPr/>
        </p:nvSpPr>
        <p:spPr>
          <a:xfrm>
            <a:off x="546475" y="344100"/>
            <a:ext cx="66387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800" i="1">
                <a:solidFill>
                  <a:srgbClr val="354095"/>
                </a:solidFill>
                <a:latin typeface="Roboto Black"/>
                <a:ea typeface="Roboto Black"/>
                <a:cs typeface="Roboto Black"/>
                <a:sym typeface="Roboto Black"/>
              </a:rPr>
              <a:t>Restitution des 2 workshops</a:t>
            </a:r>
            <a:endParaRPr sz="1800">
              <a:solidFill>
                <a:srgbClr val="354095"/>
              </a:solidFill>
              <a:highlight>
                <a:srgbClr val="354095"/>
              </a:highlight>
              <a:latin typeface="Roboto Black"/>
              <a:ea typeface="Roboto Black"/>
              <a:cs typeface="Roboto Black"/>
              <a:sym typeface="Roboto Black"/>
            </a:endParaRPr>
          </a:p>
        </p:txBody>
      </p:sp>
      <p:pic>
        <p:nvPicPr>
          <p:cNvPr id="148" name="Google Shape;148;p20"/>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5669425" y="898200"/>
            <a:ext cx="3474575" cy="2250874"/>
          </a:xfrm>
          <a:prstGeom prst="rect">
            <a:avLst/>
          </a:prstGeom>
          <a:noFill/>
          <a:ln>
            <a:noFill/>
          </a:ln>
        </p:spPr>
      </p:pic>
      <p:pic>
        <p:nvPicPr>
          <p:cNvPr id="149" name="Google Shape;149;p20"/>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669425" y="2849725"/>
            <a:ext cx="3474575" cy="1889979"/>
          </a:xfrm>
          <a:prstGeom prst="rect">
            <a:avLst/>
          </a:prstGeom>
          <a:noFill/>
          <a:ln>
            <a:noFill/>
          </a:ln>
        </p:spPr>
      </p:pic>
      <p:sp>
        <p:nvSpPr>
          <p:cNvPr id="150" name="Google Shape;150;p20"/>
          <p:cNvSpPr txBox="1"/>
          <p:nvPr/>
        </p:nvSpPr>
        <p:spPr>
          <a:xfrm>
            <a:off x="639425" y="952925"/>
            <a:ext cx="3697800" cy="61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latin typeface="Open Sans Light"/>
                <a:ea typeface="Open Sans Light"/>
                <a:cs typeface="Open Sans Light"/>
                <a:sym typeface="Open Sans"/>
              </a:rPr>
              <a:t>La restitution des 2 workshops est disponible dans les fichiers partagés du Teams du chantier</a:t>
            </a:r>
            <a:endParaRPr sz="1200">
              <a:latin typeface="Open Sans Light"/>
              <a:ea typeface="Open Sans Light"/>
              <a:cs typeface="Open Sans Light"/>
              <a:sym typeface="Open Sans"/>
            </a:endParaRPr>
          </a:p>
          <a:p>
            <a:pPr marL="0" lvl="0" indent="0" algn="l" rtl="0">
              <a:spcBef>
                <a:spcPts val="600"/>
              </a:spcBef>
              <a:spcAft>
                <a:spcPts val="0"/>
              </a:spcAft>
              <a:buNone/>
            </a:pPr>
            <a:endParaRPr sz="1200">
              <a:latin typeface="Open Sans Light"/>
              <a:ea typeface="Open Sans Light"/>
              <a:cs typeface="Open Sans Light"/>
              <a:sym typeface="Open Sans"/>
            </a:endParaRPr>
          </a:p>
          <a:p>
            <a:pPr marL="0" lvl="0" indent="0" algn="l" rtl="0">
              <a:spcBef>
                <a:spcPts val="600"/>
              </a:spcBef>
              <a:spcAft>
                <a:spcPts val="0"/>
              </a:spcAft>
              <a:buNone/>
            </a:pPr>
            <a:endParaRPr sz="1200">
              <a:latin typeface="Open Sans Light"/>
              <a:ea typeface="Open Sans Light"/>
              <a:cs typeface="Open Sans Light"/>
              <a:sym typeface="Open Sans"/>
            </a:endParaRPr>
          </a:p>
          <a:p>
            <a:pPr marL="0" lvl="0" indent="0" algn="l" rtl="0">
              <a:spcBef>
                <a:spcPts val="600"/>
              </a:spcBef>
              <a:spcAft>
                <a:spcPts val="0"/>
              </a:spcAft>
              <a:buNone/>
            </a:pPr>
            <a:endParaRPr sz="1200">
              <a:latin typeface="Open Sans Light"/>
              <a:ea typeface="Open Sans Light"/>
              <a:cs typeface="Open Sans Light"/>
              <a:sym typeface="Open Sans"/>
            </a:endParaRPr>
          </a:p>
          <a:p>
            <a:pPr marL="0" lvl="0" indent="0" algn="l" rtl="0">
              <a:spcBef>
                <a:spcPts val="0"/>
              </a:spcBef>
              <a:spcAft>
                <a:spcPts val="0"/>
              </a:spcAft>
              <a:buNone/>
            </a:pPr>
            <a:endParaRPr sz="1200">
              <a:latin typeface="Open Sans Light"/>
              <a:ea typeface="Open Sans Light"/>
              <a:cs typeface="Open Sans Light"/>
              <a:sym typeface="Open Sans"/>
            </a:endParaRPr>
          </a:p>
        </p:txBody>
      </p:sp>
      <p:pic>
        <p:nvPicPr>
          <p:cNvPr id="151" name="Google Shape;151;p20"/>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737200" y="1566125"/>
            <a:ext cx="2817824" cy="1642350"/>
          </a:xfrm>
          <a:prstGeom prst="rect">
            <a:avLst/>
          </a:prstGeom>
          <a:noFill/>
          <a:ln>
            <a:noFill/>
          </a:ln>
        </p:spPr>
      </p:pic>
      <p:sp>
        <p:nvSpPr>
          <p:cNvPr id="152" name="Google Shape;152;p20"/>
          <p:cNvSpPr/>
          <p:nvPr/>
        </p:nvSpPr>
        <p:spPr>
          <a:xfrm>
            <a:off x="950050" y="2682400"/>
            <a:ext cx="2604900" cy="250500"/>
          </a:xfrm>
          <a:prstGeom prst="roundRect">
            <a:avLst>
              <a:gd name="adj" fmla="val 16667"/>
            </a:avLst>
          </a:prstGeom>
          <a:noFill/>
          <a:ln w="9525"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53" name="Google Shape;153;p20"/>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319475" y="3504300"/>
            <a:ext cx="1973550" cy="1235399"/>
          </a:xfrm>
          <a:prstGeom prst="rect">
            <a:avLst/>
          </a:prstGeom>
          <a:noFill/>
          <a:ln>
            <a:noFill/>
          </a:ln>
        </p:spPr>
      </p:pic>
      <p:pic>
        <p:nvPicPr>
          <p:cNvPr id="154" name="Google Shape;154;p20"/>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2293025" y="3584498"/>
            <a:ext cx="1497452" cy="1193450"/>
          </a:xfrm>
          <a:prstGeom prst="rect">
            <a:avLst/>
          </a:prstGeom>
          <a:noFill/>
          <a:ln>
            <a:noFill/>
          </a:ln>
        </p:spPr>
      </p:pic>
      <p:pic>
        <p:nvPicPr>
          <p:cNvPr id="155" name="Google Shape;155;p20"/>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3748116" y="3563526"/>
            <a:ext cx="1764049" cy="12354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1"/>
          <p:cNvSpPr txBox="1"/>
          <p:nvPr/>
        </p:nvSpPr>
        <p:spPr>
          <a:xfrm>
            <a:off x="546475" y="344100"/>
            <a:ext cx="66387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800" i="1">
                <a:solidFill>
                  <a:srgbClr val="354095"/>
                </a:solidFill>
                <a:latin typeface="Roboto Black"/>
                <a:ea typeface="Roboto Black"/>
                <a:cs typeface="Roboto Black"/>
                <a:sym typeface="Roboto Black"/>
              </a:rPr>
              <a:t>Restitution des 2 workshops</a:t>
            </a:r>
            <a:endParaRPr sz="1800">
              <a:solidFill>
                <a:srgbClr val="354095"/>
              </a:solidFill>
              <a:highlight>
                <a:srgbClr val="354095"/>
              </a:highlight>
              <a:latin typeface="Roboto Black"/>
              <a:ea typeface="Roboto Black"/>
              <a:cs typeface="Roboto Black"/>
              <a:sym typeface="Roboto Black"/>
            </a:endParaRPr>
          </a:p>
        </p:txBody>
      </p:sp>
      <p:pic>
        <p:nvPicPr>
          <p:cNvPr id="161" name="Google Shape;161;p21"/>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5669425" y="898200"/>
            <a:ext cx="3474575" cy="2250874"/>
          </a:xfrm>
          <a:prstGeom prst="rect">
            <a:avLst/>
          </a:prstGeom>
          <a:noFill/>
          <a:ln>
            <a:noFill/>
          </a:ln>
        </p:spPr>
      </p:pic>
      <p:pic>
        <p:nvPicPr>
          <p:cNvPr id="162" name="Google Shape;162;p21"/>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669425" y="2849725"/>
            <a:ext cx="3474575" cy="1889979"/>
          </a:xfrm>
          <a:prstGeom prst="rect">
            <a:avLst/>
          </a:prstGeom>
          <a:noFill/>
          <a:ln>
            <a:noFill/>
          </a:ln>
        </p:spPr>
      </p:pic>
      <p:sp>
        <p:nvSpPr>
          <p:cNvPr id="163" name="Google Shape;163;p21"/>
          <p:cNvSpPr txBox="1"/>
          <p:nvPr/>
        </p:nvSpPr>
        <p:spPr>
          <a:xfrm>
            <a:off x="544975" y="1080100"/>
            <a:ext cx="3697800" cy="34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latin typeface="Open Sans Light"/>
                <a:ea typeface="Open Sans Light"/>
                <a:cs typeface="Open Sans Light"/>
                <a:sym typeface="Open Sans"/>
              </a:rPr>
              <a:t>Objectifs du chantier</a:t>
            </a:r>
            <a:endParaRPr sz="1200">
              <a:latin typeface="Open Sans Light"/>
              <a:ea typeface="Open Sans Light"/>
              <a:cs typeface="Open Sans Light"/>
              <a:sym typeface="Open Sans"/>
            </a:endParaRPr>
          </a:p>
          <a:p>
            <a:pPr marL="0" lvl="0" indent="0" algn="l" rtl="0">
              <a:spcBef>
                <a:spcPts val="600"/>
              </a:spcBef>
              <a:spcAft>
                <a:spcPts val="0"/>
              </a:spcAft>
              <a:buNone/>
            </a:pPr>
            <a:endParaRPr sz="1200">
              <a:latin typeface="Open Sans Light"/>
              <a:ea typeface="Open Sans Light"/>
              <a:cs typeface="Open Sans Light"/>
              <a:sym typeface="Open Sans"/>
            </a:endParaRPr>
          </a:p>
          <a:p>
            <a:pPr marL="0" lvl="0" indent="0" algn="l" rtl="0">
              <a:spcBef>
                <a:spcPts val="600"/>
              </a:spcBef>
              <a:spcAft>
                <a:spcPts val="0"/>
              </a:spcAft>
              <a:buNone/>
            </a:pPr>
            <a:endParaRPr sz="1200">
              <a:latin typeface="Open Sans Light"/>
              <a:ea typeface="Open Sans Light"/>
              <a:cs typeface="Open Sans Light"/>
              <a:sym typeface="Open Sans"/>
            </a:endParaRPr>
          </a:p>
          <a:p>
            <a:pPr marL="0" lvl="0" indent="0" algn="l" rtl="0">
              <a:spcBef>
                <a:spcPts val="600"/>
              </a:spcBef>
              <a:spcAft>
                <a:spcPts val="0"/>
              </a:spcAft>
              <a:buNone/>
            </a:pPr>
            <a:endParaRPr sz="1200">
              <a:latin typeface="Open Sans Light"/>
              <a:ea typeface="Open Sans Light"/>
              <a:cs typeface="Open Sans Light"/>
              <a:sym typeface="Open Sans"/>
            </a:endParaRPr>
          </a:p>
          <a:p>
            <a:pPr marL="0" lvl="0" indent="0" algn="l" rtl="0">
              <a:spcBef>
                <a:spcPts val="0"/>
              </a:spcBef>
              <a:spcAft>
                <a:spcPts val="0"/>
              </a:spcAft>
              <a:buNone/>
            </a:pPr>
            <a:endParaRPr sz="1200">
              <a:latin typeface="Open Sans Light"/>
              <a:ea typeface="Open Sans Light"/>
              <a:cs typeface="Open Sans Light"/>
              <a:sym typeface="Open Sans"/>
            </a:endParaRPr>
          </a:p>
        </p:txBody>
      </p:sp>
      <p:sp>
        <p:nvSpPr>
          <p:cNvPr id="164" name="Google Shape;164;p21"/>
          <p:cNvSpPr/>
          <p:nvPr/>
        </p:nvSpPr>
        <p:spPr>
          <a:xfrm>
            <a:off x="546475" y="1594811"/>
            <a:ext cx="3694800" cy="613200"/>
          </a:xfrm>
          <a:prstGeom prst="roundRect">
            <a:avLst>
              <a:gd name="adj" fmla="val 3921"/>
            </a:avLst>
          </a:prstGeom>
          <a:solidFill>
            <a:srgbClr val="F6F7FF"/>
          </a:solidFill>
          <a:ln w="9525" cap="flat"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5" name="Google Shape;165;p21"/>
          <p:cNvSpPr/>
          <p:nvPr/>
        </p:nvSpPr>
        <p:spPr>
          <a:xfrm>
            <a:off x="546475" y="2438711"/>
            <a:ext cx="3694800" cy="613200"/>
          </a:xfrm>
          <a:prstGeom prst="roundRect">
            <a:avLst>
              <a:gd name="adj" fmla="val 3921"/>
            </a:avLst>
          </a:prstGeom>
          <a:solidFill>
            <a:srgbClr val="F6F7FF"/>
          </a:solidFill>
          <a:ln w="9525" cap="flat"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6" name="Google Shape;166;p21"/>
          <p:cNvSpPr/>
          <p:nvPr/>
        </p:nvSpPr>
        <p:spPr>
          <a:xfrm>
            <a:off x="546475" y="3282611"/>
            <a:ext cx="3694800" cy="613200"/>
          </a:xfrm>
          <a:prstGeom prst="roundRect">
            <a:avLst>
              <a:gd name="adj" fmla="val 3921"/>
            </a:avLst>
          </a:prstGeom>
          <a:solidFill>
            <a:srgbClr val="F6F7FF"/>
          </a:solidFill>
          <a:ln w="9525" cap="flat"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7" name="Google Shape;167;p21"/>
          <p:cNvSpPr/>
          <p:nvPr/>
        </p:nvSpPr>
        <p:spPr>
          <a:xfrm>
            <a:off x="546475" y="4126511"/>
            <a:ext cx="3694800" cy="613200"/>
          </a:xfrm>
          <a:prstGeom prst="roundRect">
            <a:avLst>
              <a:gd name="adj" fmla="val 3921"/>
            </a:avLst>
          </a:prstGeom>
          <a:solidFill>
            <a:srgbClr val="F6F7FF"/>
          </a:solidFill>
          <a:ln w="9525" cap="flat"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8" name="Google Shape;168;p21"/>
          <p:cNvSpPr txBox="1"/>
          <p:nvPr/>
        </p:nvSpPr>
        <p:spPr>
          <a:xfrm>
            <a:off x="775675" y="1654389"/>
            <a:ext cx="3000000" cy="474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100">
                <a:solidFill>
                  <a:schemeClr val="dk1"/>
                </a:solidFill>
                <a:latin typeface="Syne"/>
                <a:ea typeface="Syne"/>
                <a:cs typeface="Syne"/>
                <a:sym typeface="Syne"/>
              </a:rPr>
              <a:t>Objectif 1  - </a:t>
            </a:r>
            <a:r>
              <a:rPr lang="en" sz="1100" b="1">
                <a:solidFill>
                  <a:schemeClr val="dk1"/>
                </a:solidFill>
                <a:latin typeface="Syne"/>
                <a:ea typeface="Syne"/>
                <a:cs typeface="Syne"/>
                <a:sym typeface="Syne"/>
              </a:rPr>
              <a:t>Réaliser état des lieux : étude, rapport d’analyse, livre blanc</a:t>
            </a:r>
            <a:endParaRPr sz="1100" b="1">
              <a:solidFill>
                <a:schemeClr val="dk1"/>
              </a:solidFill>
              <a:latin typeface="Syne"/>
              <a:ea typeface="Syne"/>
              <a:cs typeface="Syne"/>
              <a:sym typeface="Syne"/>
            </a:endParaRPr>
          </a:p>
        </p:txBody>
      </p:sp>
      <p:sp>
        <p:nvSpPr>
          <p:cNvPr id="169" name="Google Shape;169;p21"/>
          <p:cNvSpPr txBox="1"/>
          <p:nvPr/>
        </p:nvSpPr>
        <p:spPr>
          <a:xfrm>
            <a:off x="813655" y="2506812"/>
            <a:ext cx="3212400" cy="474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600"/>
              </a:spcAft>
              <a:buNone/>
            </a:pPr>
            <a:r>
              <a:rPr lang="en" sz="1100">
                <a:solidFill>
                  <a:schemeClr val="dk1"/>
                </a:solidFill>
                <a:latin typeface="Syne"/>
                <a:ea typeface="Syne"/>
                <a:cs typeface="Syne"/>
                <a:sym typeface="Syne"/>
              </a:rPr>
              <a:t>Objectif 2  - </a:t>
            </a:r>
            <a:r>
              <a:rPr lang="en" sz="1100" b="1">
                <a:solidFill>
                  <a:schemeClr val="dk1"/>
                </a:solidFill>
                <a:latin typeface="Syne"/>
                <a:ea typeface="Syne"/>
                <a:cs typeface="Syne"/>
                <a:sym typeface="Syne"/>
              </a:rPr>
              <a:t>Sensibiliser et communiquer sur le sujet</a:t>
            </a:r>
            <a:endParaRPr sz="1100" b="1">
              <a:solidFill>
                <a:schemeClr val="dk1"/>
              </a:solidFill>
              <a:latin typeface="Syne"/>
              <a:ea typeface="Syne"/>
              <a:cs typeface="Syne"/>
              <a:sym typeface="Syne"/>
            </a:endParaRPr>
          </a:p>
        </p:txBody>
      </p:sp>
      <p:sp>
        <p:nvSpPr>
          <p:cNvPr id="170" name="Google Shape;170;p21"/>
          <p:cNvSpPr txBox="1"/>
          <p:nvPr/>
        </p:nvSpPr>
        <p:spPr>
          <a:xfrm>
            <a:off x="783270" y="3350798"/>
            <a:ext cx="3000000" cy="554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600"/>
              </a:spcAft>
              <a:buNone/>
            </a:pPr>
            <a:r>
              <a:rPr lang="en" sz="1100">
                <a:solidFill>
                  <a:schemeClr val="dk1"/>
                </a:solidFill>
                <a:latin typeface="Syne"/>
                <a:ea typeface="Syne"/>
                <a:cs typeface="Syne"/>
                <a:sym typeface="Syne"/>
              </a:rPr>
              <a:t>Objectif 3  - </a:t>
            </a:r>
            <a:r>
              <a:rPr lang="en" sz="1100" b="1">
                <a:solidFill>
                  <a:schemeClr val="dk1"/>
                </a:solidFill>
                <a:latin typeface="Syne"/>
                <a:ea typeface="Syne"/>
                <a:cs typeface="Syne"/>
                <a:sym typeface="Syne"/>
              </a:rPr>
              <a:t>Participer à des groupes de travail sur le sujet</a:t>
            </a:r>
            <a:endParaRPr sz="1100">
              <a:solidFill>
                <a:schemeClr val="dk1"/>
              </a:solidFill>
              <a:latin typeface="Syne"/>
              <a:ea typeface="Syne"/>
              <a:cs typeface="Syne"/>
              <a:sym typeface="Syne"/>
            </a:endParaRPr>
          </a:p>
        </p:txBody>
      </p:sp>
      <p:sp>
        <p:nvSpPr>
          <p:cNvPr id="171" name="Google Shape;171;p21"/>
          <p:cNvSpPr txBox="1"/>
          <p:nvPr/>
        </p:nvSpPr>
        <p:spPr>
          <a:xfrm>
            <a:off x="787675" y="4236027"/>
            <a:ext cx="3212400" cy="403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600"/>
              </a:spcAft>
              <a:buNone/>
            </a:pPr>
            <a:r>
              <a:rPr lang="en" sz="1100">
                <a:solidFill>
                  <a:schemeClr val="dk1"/>
                </a:solidFill>
                <a:latin typeface="Syne"/>
                <a:ea typeface="Syne"/>
                <a:cs typeface="Syne"/>
                <a:sym typeface="Syne"/>
              </a:rPr>
              <a:t>Objectif 4  - </a:t>
            </a:r>
            <a:r>
              <a:rPr lang="en" sz="1100" b="1">
                <a:solidFill>
                  <a:schemeClr val="dk1"/>
                </a:solidFill>
                <a:latin typeface="Syne"/>
                <a:ea typeface="Syne"/>
                <a:cs typeface="Syne"/>
                <a:sym typeface="Syne"/>
              </a:rPr>
              <a:t>Mener des projets concrets</a:t>
            </a:r>
            <a:endParaRPr sz="1100">
              <a:solidFill>
                <a:schemeClr val="dk1"/>
              </a:solidFill>
              <a:latin typeface="Syne"/>
              <a:ea typeface="Syne"/>
              <a:cs typeface="Syne"/>
              <a:sym typeface="Syne"/>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2"/>
          <p:cNvSpPr txBox="1"/>
          <p:nvPr/>
        </p:nvSpPr>
        <p:spPr>
          <a:xfrm>
            <a:off x="1635075" y="666600"/>
            <a:ext cx="6985200" cy="3976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900" b="1">
                <a:solidFill>
                  <a:schemeClr val="dk1"/>
                </a:solidFill>
                <a:latin typeface="Open Sans ExtraBold"/>
                <a:ea typeface="Open Sans ExtraBold"/>
                <a:cs typeface="Open Sans ExtraBold"/>
                <a:sym typeface="Open Sans"/>
              </a:rPr>
              <a:t>GT 1 – Analyse et production des livrables stratégiques</a:t>
            </a:r>
            <a:br>
              <a:rPr lang="en" sz="900" b="1">
                <a:solidFill>
                  <a:schemeClr val="dk1"/>
                </a:solidFill>
                <a:latin typeface="Open Sans ExtraBold"/>
                <a:ea typeface="Open Sans ExtraBold"/>
                <a:cs typeface="Open Sans ExtraBold"/>
                <a:sym typeface="Open Sans"/>
              </a:rPr>
            </a:br>
            <a:r>
              <a:rPr lang="en" sz="900">
                <a:solidFill>
                  <a:schemeClr val="dk1"/>
                </a:solidFill>
                <a:latin typeface="Open Sans Light"/>
                <a:ea typeface="Open Sans Light"/>
                <a:cs typeface="Open Sans Light"/>
                <a:sym typeface="Open Sans"/>
              </a:rPr>
              <a:t>Consolider et analyser les travaux des différents GT afin de produire les notes, rapports, recommandations, scénarios et autres livrables attendus par les sponsors du Chantier 12.</a:t>
            </a:r>
            <a:endParaRPr sz="900">
              <a:solidFill>
                <a:schemeClr val="dk1"/>
              </a:solidFill>
              <a:latin typeface="Open Sans Light"/>
              <a:ea typeface="Open Sans Light"/>
              <a:cs typeface="Open Sans Light"/>
              <a:sym typeface="Open Sans"/>
            </a:endParaRPr>
          </a:p>
          <a:p>
            <a:pPr marL="0" lvl="0" indent="0" algn="l" rtl="0">
              <a:lnSpc>
                <a:spcPct val="115000"/>
              </a:lnSpc>
              <a:spcBef>
                <a:spcPts val="1200"/>
              </a:spcBef>
              <a:spcAft>
                <a:spcPts val="0"/>
              </a:spcAft>
              <a:buNone/>
            </a:pPr>
            <a:r>
              <a:rPr lang="en" sz="900" b="1">
                <a:solidFill>
                  <a:schemeClr val="dk1"/>
                </a:solidFill>
                <a:latin typeface="Open Sans ExtraBold"/>
                <a:ea typeface="Open Sans ExtraBold"/>
                <a:cs typeface="Open Sans ExtraBold"/>
                <a:sym typeface="Open Sans"/>
              </a:rPr>
              <a:t>GT 2 – Gestion de la connaissance</a:t>
            </a:r>
            <a:br>
              <a:rPr lang="en" sz="900" b="1">
                <a:solidFill>
                  <a:schemeClr val="dk1"/>
                </a:solidFill>
                <a:latin typeface="Open Sans ExtraBold"/>
                <a:ea typeface="Open Sans ExtraBold"/>
                <a:cs typeface="Open Sans ExtraBold"/>
                <a:sym typeface="Open Sans"/>
              </a:rPr>
            </a:br>
            <a:r>
              <a:rPr lang="en" sz="900">
                <a:solidFill>
                  <a:schemeClr val="dk1"/>
                </a:solidFill>
                <a:latin typeface="Open Sans Light"/>
                <a:ea typeface="Open Sans Light"/>
                <a:cs typeface="Open Sans Light"/>
                <a:sym typeface="Open Sans"/>
              </a:rPr>
              <a:t>Mettre en place un « cerveau collectif » avec Obsidian pour centraliser, structurer et partager les connaissances du chantier, avec la possibilité d’interroger le corpus à l’aide d’une IA souveraine ou maîtrisée.</a:t>
            </a:r>
            <a:endParaRPr sz="900">
              <a:solidFill>
                <a:schemeClr val="dk1"/>
              </a:solidFill>
              <a:latin typeface="Open Sans Light"/>
              <a:ea typeface="Open Sans Light"/>
              <a:cs typeface="Open Sans Light"/>
              <a:sym typeface="Open Sans"/>
            </a:endParaRPr>
          </a:p>
          <a:p>
            <a:pPr marL="0" lvl="0" indent="0" algn="l" rtl="0">
              <a:lnSpc>
                <a:spcPct val="115000"/>
              </a:lnSpc>
              <a:spcBef>
                <a:spcPts val="1200"/>
              </a:spcBef>
              <a:spcAft>
                <a:spcPts val="0"/>
              </a:spcAft>
              <a:buNone/>
            </a:pPr>
            <a:r>
              <a:rPr lang="en" sz="900" b="1">
                <a:solidFill>
                  <a:schemeClr val="dk1"/>
                </a:solidFill>
                <a:latin typeface="Open Sans ExtraBold"/>
                <a:ea typeface="Open Sans ExtraBold"/>
                <a:cs typeface="Open Sans ExtraBold"/>
                <a:sym typeface="Open Sans"/>
              </a:rPr>
              <a:t>GT 3 – interviews et retours d’expérience</a:t>
            </a:r>
            <a:br>
              <a:rPr lang="en" sz="900" b="1">
                <a:solidFill>
                  <a:schemeClr val="dk1"/>
                </a:solidFill>
                <a:latin typeface="Open Sans ExtraBold"/>
                <a:ea typeface="Open Sans ExtraBold"/>
                <a:cs typeface="Open Sans ExtraBold"/>
                <a:sym typeface="Open Sans"/>
              </a:rPr>
            </a:br>
            <a:r>
              <a:rPr lang="en" sz="900">
                <a:solidFill>
                  <a:schemeClr val="dk1"/>
                </a:solidFill>
                <a:latin typeface="Open Sans Light"/>
                <a:ea typeface="Open Sans Light"/>
                <a:cs typeface="Open Sans Light"/>
                <a:sym typeface="Open Sans"/>
              </a:rPr>
              <a:t>Interroger des experts internes et externes afin de mieux comprendre les spécificités de la Région, d’identifier les risques et opportunités et d’ancrer les travaux du chantier dans la réalité opérationnelle.</a:t>
            </a:r>
            <a:endParaRPr sz="900">
              <a:solidFill>
                <a:schemeClr val="dk1"/>
              </a:solidFill>
              <a:latin typeface="Open Sans Light"/>
              <a:ea typeface="Open Sans Light"/>
              <a:cs typeface="Open Sans Light"/>
              <a:sym typeface="Open Sans"/>
            </a:endParaRPr>
          </a:p>
          <a:p>
            <a:pPr marL="0" lvl="0" indent="0" algn="l" rtl="0">
              <a:lnSpc>
                <a:spcPct val="115000"/>
              </a:lnSpc>
              <a:spcBef>
                <a:spcPts val="1200"/>
              </a:spcBef>
              <a:spcAft>
                <a:spcPts val="0"/>
              </a:spcAft>
              <a:buNone/>
            </a:pPr>
            <a:r>
              <a:rPr lang="en" sz="900" b="1">
                <a:solidFill>
                  <a:schemeClr val="dk1"/>
                </a:solidFill>
                <a:latin typeface="Open Sans ExtraBold"/>
                <a:ea typeface="Open Sans ExtraBold"/>
                <a:cs typeface="Open Sans ExtraBold"/>
                <a:sym typeface="Open Sans"/>
              </a:rPr>
              <a:t>GT 4 – Benchmark des initiatives et solutions</a:t>
            </a:r>
            <a:br>
              <a:rPr lang="en" sz="900" b="1">
                <a:solidFill>
                  <a:schemeClr val="dk1"/>
                </a:solidFill>
                <a:latin typeface="Open Sans ExtraBold"/>
                <a:ea typeface="Open Sans ExtraBold"/>
                <a:cs typeface="Open Sans ExtraBold"/>
                <a:sym typeface="Open Sans"/>
              </a:rPr>
            </a:br>
            <a:r>
              <a:rPr lang="en" sz="900">
                <a:solidFill>
                  <a:schemeClr val="dk1"/>
                </a:solidFill>
                <a:latin typeface="Open Sans Light"/>
                <a:ea typeface="Open Sans Light"/>
                <a:cs typeface="Open Sans Light"/>
                <a:sym typeface="Open Sans"/>
              </a:rPr>
              <a:t>Identifier et analyser les stratégies, initiatives, actions et solutions mises en œuvre par des acteurs publics et privés afin d’en tirer des enseignements applicables à la Région bruxelloise.</a:t>
            </a:r>
            <a:endParaRPr sz="900">
              <a:solidFill>
                <a:schemeClr val="dk1"/>
              </a:solidFill>
              <a:latin typeface="Open Sans Light"/>
              <a:ea typeface="Open Sans Light"/>
              <a:cs typeface="Open Sans Light"/>
              <a:sym typeface="Open Sans"/>
            </a:endParaRPr>
          </a:p>
          <a:p>
            <a:pPr marL="0" lvl="0" indent="0" algn="l" rtl="0">
              <a:lnSpc>
                <a:spcPct val="115000"/>
              </a:lnSpc>
              <a:spcBef>
                <a:spcPts val="1200"/>
              </a:spcBef>
              <a:spcAft>
                <a:spcPts val="0"/>
              </a:spcAft>
              <a:buNone/>
            </a:pPr>
            <a:r>
              <a:rPr lang="en" sz="900" b="1">
                <a:solidFill>
                  <a:schemeClr val="dk1"/>
                </a:solidFill>
                <a:latin typeface="Open Sans ExtraBold"/>
                <a:ea typeface="Open Sans ExtraBold"/>
                <a:cs typeface="Open Sans ExtraBold"/>
                <a:sym typeface="Open Sans"/>
              </a:rPr>
              <a:t>GT 5 – Connexion à l’écosystème de la souveraineté numérique</a:t>
            </a:r>
            <a:br>
              <a:rPr lang="en" sz="900" b="1">
                <a:solidFill>
                  <a:schemeClr val="dk1"/>
                </a:solidFill>
                <a:latin typeface="Open Sans ExtraBold"/>
                <a:ea typeface="Open Sans ExtraBold"/>
                <a:cs typeface="Open Sans ExtraBold"/>
                <a:sym typeface="Open Sans"/>
              </a:rPr>
            </a:br>
            <a:r>
              <a:rPr lang="en" sz="900">
                <a:solidFill>
                  <a:schemeClr val="dk1"/>
                </a:solidFill>
                <a:latin typeface="Open Sans Light"/>
                <a:ea typeface="Open Sans Light"/>
                <a:cs typeface="Open Sans Light"/>
                <a:sym typeface="Open Sans"/>
              </a:rPr>
              <a:t>Identifier les acteurs, réseaux, groupes de travail et initiatives de référence en Belgique et en Europe, et développer des échanges et collaborations utiles pour Paradigm et la Région.</a:t>
            </a:r>
            <a:endParaRPr sz="900">
              <a:solidFill>
                <a:schemeClr val="dk1"/>
              </a:solidFill>
              <a:latin typeface="Open Sans Light"/>
              <a:ea typeface="Open Sans Light"/>
              <a:cs typeface="Open Sans Light"/>
              <a:sym typeface="Open Sans"/>
            </a:endParaRPr>
          </a:p>
          <a:p>
            <a:pPr marL="0" lvl="0" indent="0" algn="l" rtl="0">
              <a:lnSpc>
                <a:spcPct val="115000"/>
              </a:lnSpc>
              <a:spcBef>
                <a:spcPts val="1200"/>
              </a:spcBef>
              <a:spcAft>
                <a:spcPts val="0"/>
              </a:spcAft>
              <a:buNone/>
            </a:pPr>
            <a:r>
              <a:rPr lang="en" sz="900" b="1">
                <a:solidFill>
                  <a:schemeClr val="dk1"/>
                </a:solidFill>
                <a:latin typeface="Open Sans ExtraBold"/>
                <a:ea typeface="Open Sans ExtraBold"/>
                <a:cs typeface="Open Sans ExtraBold"/>
                <a:sym typeface="Open Sans"/>
              </a:rPr>
              <a:t>GT 6 – Outil d’évaluation de la maturité et des risques</a:t>
            </a:r>
            <a:br>
              <a:rPr lang="en" sz="900" b="1">
                <a:solidFill>
                  <a:schemeClr val="dk1"/>
                </a:solidFill>
                <a:latin typeface="Open Sans ExtraBold"/>
                <a:ea typeface="Open Sans ExtraBold"/>
                <a:cs typeface="Open Sans ExtraBold"/>
                <a:sym typeface="Open Sans"/>
              </a:rPr>
            </a:br>
            <a:r>
              <a:rPr lang="en" sz="900">
                <a:solidFill>
                  <a:schemeClr val="dk1"/>
                </a:solidFill>
                <a:latin typeface="Open Sans Light"/>
                <a:ea typeface="Open Sans Light"/>
                <a:cs typeface="Open Sans Light"/>
                <a:sym typeface="Open Sans"/>
              </a:rPr>
              <a:t>Choisir un outil permettant à une organisation d’identifier ses dépendances numériques, d’évaluer les risques associés et de mesurer son niveau de maîtrise et de résilience.</a:t>
            </a:r>
            <a:endParaRPr sz="900">
              <a:solidFill>
                <a:schemeClr val="dk1"/>
              </a:solidFill>
              <a:latin typeface="Open Sans Light"/>
              <a:ea typeface="Open Sans Light"/>
              <a:cs typeface="Open Sans Light"/>
              <a:sym typeface="Open Sans"/>
            </a:endParaRPr>
          </a:p>
          <a:p>
            <a:pPr marL="0" lvl="0" indent="0" algn="l" rtl="0">
              <a:lnSpc>
                <a:spcPct val="115000"/>
              </a:lnSpc>
              <a:spcBef>
                <a:spcPts val="1200"/>
              </a:spcBef>
              <a:spcAft>
                <a:spcPts val="0"/>
              </a:spcAft>
              <a:buNone/>
            </a:pPr>
            <a:r>
              <a:rPr lang="en" sz="900" b="1">
                <a:solidFill>
                  <a:schemeClr val="dk1"/>
                </a:solidFill>
                <a:latin typeface="Open Sans ExtraBold"/>
                <a:ea typeface="Open Sans ExtraBold"/>
                <a:cs typeface="Open Sans ExtraBold"/>
                <a:sym typeface="Open Sans"/>
              </a:rPr>
              <a:t>GT 7 – Sensibilisation et communication</a:t>
            </a:r>
            <a:br>
              <a:rPr lang="en" sz="900" b="1">
                <a:solidFill>
                  <a:schemeClr val="dk1"/>
                </a:solidFill>
                <a:latin typeface="Open Sans ExtraBold"/>
                <a:ea typeface="Open Sans ExtraBold"/>
                <a:cs typeface="Open Sans ExtraBold"/>
                <a:sym typeface="Open Sans"/>
              </a:rPr>
            </a:br>
            <a:r>
              <a:rPr lang="en" sz="900">
                <a:solidFill>
                  <a:schemeClr val="dk1"/>
                </a:solidFill>
                <a:latin typeface="Open Sans Light"/>
                <a:ea typeface="Open Sans Light"/>
                <a:cs typeface="Open Sans Light"/>
                <a:sym typeface="Open Sans"/>
              </a:rPr>
              <a:t>Sensibiliser les collaborateurs de Paradigm et des administrations régionales aux enjeux de la souveraineté numérique et communiquer sur les travaux, enseignements et résultats du Chantier 12.</a:t>
            </a:r>
            <a:endParaRPr sz="900">
              <a:solidFill>
                <a:schemeClr val="dk1"/>
              </a:solidFill>
              <a:latin typeface="Open Sans Light"/>
              <a:ea typeface="Open Sans Light"/>
              <a:cs typeface="Open Sans Light"/>
              <a:sym typeface="Open Sans"/>
            </a:endParaRPr>
          </a:p>
          <a:p>
            <a:pPr marL="0" lvl="0" indent="0" algn="l" rtl="0">
              <a:lnSpc>
                <a:spcPct val="115000"/>
              </a:lnSpc>
              <a:spcBef>
                <a:spcPts val="1200"/>
              </a:spcBef>
              <a:spcAft>
                <a:spcPts val="0"/>
              </a:spcAft>
              <a:buNone/>
            </a:pPr>
            <a:endParaRPr sz="900" b="1">
              <a:solidFill>
                <a:schemeClr val="accent2"/>
              </a:solidFill>
              <a:latin typeface="Open Sans ExtraBold"/>
              <a:ea typeface="Open Sans ExtraBold"/>
              <a:cs typeface="Open Sans ExtraBold"/>
              <a:sym typeface="Open Sans"/>
            </a:endParaRPr>
          </a:p>
        </p:txBody>
      </p:sp>
      <p:sp>
        <p:nvSpPr>
          <p:cNvPr id="177" name="Google Shape;177;p22"/>
          <p:cNvSpPr txBox="1"/>
          <p:nvPr/>
        </p:nvSpPr>
        <p:spPr>
          <a:xfrm>
            <a:off x="432125" y="148325"/>
            <a:ext cx="53592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800" i="1">
                <a:solidFill>
                  <a:srgbClr val="354095"/>
                </a:solidFill>
                <a:latin typeface="Roboto Black"/>
                <a:ea typeface="Roboto Black"/>
                <a:cs typeface="Roboto Black"/>
                <a:sym typeface="Roboto Black"/>
              </a:rPr>
              <a:t>Les Groupes de Travail (GTs)</a:t>
            </a:r>
            <a:endParaRPr sz="1800">
              <a:solidFill>
                <a:srgbClr val="354095"/>
              </a:solidFill>
              <a:highlight>
                <a:srgbClr val="354095"/>
              </a:highlight>
              <a:latin typeface="Roboto Black"/>
              <a:ea typeface="Roboto Black"/>
              <a:cs typeface="Roboto Black"/>
              <a:sym typeface="Roboto Black"/>
            </a:endParaRPr>
          </a:p>
        </p:txBody>
      </p:sp>
      <p:sp>
        <p:nvSpPr>
          <p:cNvPr id="178" name="Google Shape;178;p22"/>
          <p:cNvSpPr/>
          <p:nvPr/>
        </p:nvSpPr>
        <p:spPr>
          <a:xfrm>
            <a:off x="499800" y="764650"/>
            <a:ext cx="885900" cy="208500"/>
          </a:xfrm>
          <a:prstGeom prst="roundRect">
            <a:avLst>
              <a:gd name="adj" fmla="val 50000"/>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700" b="1">
                <a:latin typeface="Open Sans ExtraBold"/>
                <a:ea typeface="Open Sans ExtraBold"/>
                <a:cs typeface="Open Sans ExtraBold"/>
                <a:sym typeface="Open Sans"/>
              </a:rPr>
              <a:t>Prioritaire</a:t>
            </a:r>
            <a:endParaRPr sz="700" b="1">
              <a:latin typeface="Open Sans ExtraBold"/>
              <a:ea typeface="Open Sans ExtraBold"/>
              <a:cs typeface="Open Sans ExtraBold"/>
              <a:sym typeface="Open Sans"/>
            </a:endParaRPr>
          </a:p>
        </p:txBody>
      </p:sp>
      <p:sp>
        <p:nvSpPr>
          <p:cNvPr id="179" name="Google Shape;179;p22"/>
          <p:cNvSpPr/>
          <p:nvPr/>
        </p:nvSpPr>
        <p:spPr>
          <a:xfrm>
            <a:off x="499800" y="1408675"/>
            <a:ext cx="885900" cy="208500"/>
          </a:xfrm>
          <a:prstGeom prst="roundRect">
            <a:avLst>
              <a:gd name="adj" fmla="val 50000"/>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700" b="1">
                <a:latin typeface="Open Sans ExtraBold"/>
                <a:ea typeface="Open Sans ExtraBold"/>
                <a:cs typeface="Open Sans ExtraBold"/>
                <a:sym typeface="Open Sans"/>
              </a:rPr>
              <a:t>Prioritaire</a:t>
            </a:r>
            <a:endParaRPr sz="700" b="1">
              <a:latin typeface="Open Sans ExtraBold"/>
              <a:ea typeface="Open Sans ExtraBold"/>
              <a:cs typeface="Open Sans ExtraBold"/>
              <a:sym typeface="Open Sans"/>
            </a:endParaRPr>
          </a:p>
        </p:txBody>
      </p:sp>
      <p:sp>
        <p:nvSpPr>
          <p:cNvPr id="180" name="Google Shape;180;p22"/>
          <p:cNvSpPr/>
          <p:nvPr/>
        </p:nvSpPr>
        <p:spPr>
          <a:xfrm>
            <a:off x="499800" y="2007550"/>
            <a:ext cx="885900" cy="208500"/>
          </a:xfrm>
          <a:prstGeom prst="roundRect">
            <a:avLst>
              <a:gd name="adj" fmla="val 50000"/>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700" b="1">
                <a:latin typeface="Open Sans ExtraBold"/>
                <a:ea typeface="Open Sans ExtraBold"/>
                <a:cs typeface="Open Sans ExtraBold"/>
                <a:sym typeface="Open Sans"/>
              </a:rPr>
              <a:t>Prioritaire</a:t>
            </a:r>
            <a:endParaRPr sz="700" b="1">
              <a:latin typeface="Open Sans ExtraBold"/>
              <a:ea typeface="Open Sans ExtraBold"/>
              <a:cs typeface="Open Sans ExtraBold"/>
              <a:sym typeface="Open Sans"/>
            </a:endParaRPr>
          </a:p>
        </p:txBody>
      </p:sp>
      <p:sp>
        <p:nvSpPr>
          <p:cNvPr id="181" name="Google Shape;181;p22"/>
          <p:cNvSpPr/>
          <p:nvPr/>
        </p:nvSpPr>
        <p:spPr>
          <a:xfrm>
            <a:off x="499800" y="2606425"/>
            <a:ext cx="885900" cy="208500"/>
          </a:xfrm>
          <a:prstGeom prst="roundRect">
            <a:avLst>
              <a:gd name="adj" fmla="val 50000"/>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700" b="1">
                <a:latin typeface="Open Sans ExtraBold"/>
                <a:ea typeface="Open Sans ExtraBold"/>
                <a:cs typeface="Open Sans ExtraBold"/>
                <a:sym typeface="Open Sans"/>
              </a:rPr>
              <a:t>Prioritaire</a:t>
            </a:r>
            <a:endParaRPr sz="700" b="1">
              <a:latin typeface="Open Sans ExtraBold"/>
              <a:ea typeface="Open Sans ExtraBold"/>
              <a:cs typeface="Open Sans ExtraBold"/>
              <a:sym typeface="Open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3"/>
          <p:cNvSpPr txBox="1"/>
          <p:nvPr/>
        </p:nvSpPr>
        <p:spPr>
          <a:xfrm>
            <a:off x="438100" y="958025"/>
            <a:ext cx="3887100" cy="38988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sz="1000" b="1">
                <a:solidFill>
                  <a:srgbClr val="1200C5"/>
                </a:solidFill>
                <a:latin typeface="Open Sans ExtraBold"/>
                <a:ea typeface="Open Sans ExtraBold"/>
                <a:cs typeface="Open Sans ExtraBold"/>
                <a:sym typeface="Open Sans"/>
              </a:rPr>
              <a:t>Participants</a:t>
            </a:r>
            <a:endParaRPr sz="1000" b="1">
              <a:solidFill>
                <a:srgbClr val="1200C5"/>
              </a:solidFill>
              <a:latin typeface="Open Sans ExtraBold"/>
              <a:ea typeface="Open Sans ExtraBold"/>
              <a:cs typeface="Open Sans ExtraBold"/>
              <a:sym typeface="Open Sans"/>
            </a:endParaRPr>
          </a:p>
          <a:p>
            <a:pPr marL="0" marR="0" lvl="0" indent="0" algn="l" rtl="0">
              <a:lnSpc>
                <a:spcPct val="115000"/>
              </a:lnSpc>
              <a:spcBef>
                <a:spcPts val="0"/>
              </a:spcBef>
              <a:spcAft>
                <a:spcPts val="0"/>
              </a:spcAft>
              <a:buNone/>
            </a:pPr>
            <a:endParaRPr sz="1000">
              <a:solidFill>
                <a:schemeClr val="dk1"/>
              </a:solidFill>
              <a:latin typeface="Open Sans Light"/>
              <a:ea typeface="Open Sans Light"/>
              <a:cs typeface="Open Sans Light"/>
              <a:sym typeface="Open Sans"/>
            </a:endParaRPr>
          </a:p>
          <a:p>
            <a:pPr marL="0" marR="0" lvl="0" indent="0" algn="l" rtl="0">
              <a:lnSpc>
                <a:spcPct val="115000"/>
              </a:lnSpc>
              <a:spcBef>
                <a:spcPts val="0"/>
              </a:spcBef>
              <a:spcAft>
                <a:spcPts val="0"/>
              </a:spcAft>
              <a:buNone/>
            </a:pPr>
            <a:endParaRPr sz="1000">
              <a:solidFill>
                <a:schemeClr val="dk1"/>
              </a:solidFill>
              <a:latin typeface="Open Sans Light"/>
              <a:ea typeface="Open Sans Light"/>
              <a:cs typeface="Open Sans Light"/>
              <a:sym typeface="Open Sans"/>
            </a:endParaRPr>
          </a:p>
          <a:p>
            <a:pPr marL="0" lvl="0" indent="0" algn="l" rtl="0">
              <a:lnSpc>
                <a:spcPct val="115000"/>
              </a:lnSpc>
              <a:spcBef>
                <a:spcPts val="1200"/>
              </a:spcBef>
              <a:spcAft>
                <a:spcPts val="0"/>
              </a:spcAft>
              <a:buNone/>
            </a:pPr>
            <a:endParaRPr sz="1000" b="1">
              <a:solidFill>
                <a:srgbClr val="1200C5"/>
              </a:solidFill>
              <a:latin typeface="Open Sans ExtraBold"/>
              <a:ea typeface="Open Sans ExtraBold"/>
              <a:cs typeface="Open Sans ExtraBold"/>
              <a:sym typeface="Open Sans"/>
            </a:endParaRPr>
          </a:p>
          <a:p>
            <a:pPr marL="0" lvl="0" indent="0" algn="l" rtl="0">
              <a:lnSpc>
                <a:spcPct val="115000"/>
              </a:lnSpc>
              <a:spcBef>
                <a:spcPts val="1200"/>
              </a:spcBef>
              <a:spcAft>
                <a:spcPts val="0"/>
              </a:spcAft>
              <a:buNone/>
            </a:pPr>
            <a:r>
              <a:rPr lang="en" sz="1000" b="1">
                <a:solidFill>
                  <a:srgbClr val="1200C5"/>
                </a:solidFill>
                <a:latin typeface="Open Sans ExtraBold"/>
                <a:ea typeface="Open Sans ExtraBold"/>
                <a:cs typeface="Open Sans ExtraBold"/>
                <a:sym typeface="Open Sans"/>
              </a:rPr>
              <a:t>Description</a:t>
            </a:r>
            <a:br>
              <a:rPr lang="en" sz="1000" b="1">
                <a:solidFill>
                  <a:schemeClr val="dk1"/>
                </a:solidFill>
                <a:latin typeface="Open Sans ExtraBold"/>
                <a:ea typeface="Open Sans ExtraBold"/>
                <a:cs typeface="Open Sans ExtraBold"/>
                <a:sym typeface="Open Sans"/>
              </a:rPr>
            </a:br>
            <a:r>
              <a:rPr lang="en" sz="1000">
                <a:solidFill>
                  <a:schemeClr val="dk1"/>
                </a:solidFill>
                <a:latin typeface="Open Sans Light"/>
                <a:ea typeface="Open Sans Light"/>
                <a:cs typeface="Open Sans Light"/>
                <a:sym typeface="Open Sans"/>
              </a:rPr>
              <a:t>Transformer les connaissances produites par les différents GT en un diagnostic des dépendances et atouts régionaux, construire des scénarios d’évolution et proposer une feuille de route progressive pour Paradigm et la Région.</a:t>
            </a:r>
            <a:endParaRPr sz="1000">
              <a:solidFill>
                <a:schemeClr val="dk1"/>
              </a:solidFill>
              <a:latin typeface="Open Sans Light"/>
              <a:ea typeface="Open Sans Light"/>
              <a:cs typeface="Open Sans Light"/>
              <a:sym typeface="Open Sans"/>
            </a:endParaRPr>
          </a:p>
          <a:p>
            <a:pPr marL="0" lvl="0" indent="0" algn="l" rtl="0">
              <a:lnSpc>
                <a:spcPct val="115000"/>
              </a:lnSpc>
              <a:spcBef>
                <a:spcPts val="1200"/>
              </a:spcBef>
              <a:spcAft>
                <a:spcPts val="0"/>
              </a:spcAft>
              <a:buNone/>
            </a:pPr>
            <a:r>
              <a:rPr lang="en" sz="1000" b="1">
                <a:solidFill>
                  <a:srgbClr val="1200C5"/>
                </a:solidFill>
                <a:latin typeface="Open Sans ExtraBold"/>
                <a:ea typeface="Open Sans ExtraBold"/>
                <a:cs typeface="Open Sans ExtraBold"/>
                <a:sym typeface="Open Sans"/>
              </a:rPr>
              <a:t>Objectifs</a:t>
            </a:r>
            <a:endParaRPr sz="1000" b="1">
              <a:solidFill>
                <a:schemeClr val="dk1"/>
              </a:solidFill>
              <a:latin typeface="Open Sans ExtraBold"/>
              <a:ea typeface="Open Sans ExtraBold"/>
              <a:cs typeface="Open Sans ExtraBold"/>
              <a:sym typeface="Open Sans"/>
            </a:endParaRPr>
          </a:p>
          <a:p>
            <a:pPr marL="457200" lvl="0" indent="-292100" algn="l" rtl="0">
              <a:lnSpc>
                <a:spcPct val="115000"/>
              </a:lnSpc>
              <a:spcBef>
                <a:spcPts val="1200"/>
              </a:spcBef>
              <a:spcAft>
                <a:spcPts val="0"/>
              </a:spcAft>
              <a:buClr>
                <a:schemeClr val="dk1"/>
              </a:buClr>
              <a:buSzPts val="1000"/>
              <a:buFont typeface="Open Sans"/>
              <a:buChar char="●"/>
            </a:pPr>
            <a:r>
              <a:rPr lang="en" sz="1000">
                <a:solidFill>
                  <a:schemeClr val="dk1"/>
                </a:solidFill>
                <a:latin typeface="Open Sans Light"/>
                <a:ea typeface="Open Sans Light"/>
                <a:cs typeface="Open Sans Light"/>
                <a:sym typeface="Open Sans"/>
              </a:rPr>
              <a:t>Analyser les contenus produits par les différents groupes</a:t>
            </a:r>
            <a:endParaRPr sz="1000">
              <a:solidFill>
                <a:schemeClr val="dk1"/>
              </a:solidFill>
              <a:latin typeface="Open Sans Light"/>
              <a:ea typeface="Open Sans Light"/>
              <a:cs typeface="Open Sans Light"/>
              <a:sym typeface="Open Sans"/>
            </a:endParaRPr>
          </a:p>
          <a:p>
            <a:pPr marL="457200" lvl="0" indent="-292100" algn="l" rtl="0">
              <a:lnSpc>
                <a:spcPct val="115000"/>
              </a:lnSpc>
              <a:spcBef>
                <a:spcPts val="0"/>
              </a:spcBef>
              <a:spcAft>
                <a:spcPts val="0"/>
              </a:spcAft>
              <a:buClr>
                <a:schemeClr val="dk1"/>
              </a:buClr>
              <a:buSzPts val="1000"/>
              <a:buFont typeface="Open Sans"/>
              <a:buChar char="●"/>
            </a:pPr>
            <a:r>
              <a:rPr lang="en" sz="1000">
                <a:solidFill>
                  <a:schemeClr val="dk1"/>
                </a:solidFill>
                <a:latin typeface="Open Sans Light"/>
                <a:ea typeface="Open Sans Light"/>
                <a:cs typeface="Open Sans Light"/>
                <a:sym typeface="Open Sans"/>
              </a:rPr>
              <a:t>Définir et comparer plusieurs scénarios réalistes pour la région.</a:t>
            </a:r>
            <a:endParaRPr sz="1000">
              <a:solidFill>
                <a:schemeClr val="dk1"/>
              </a:solidFill>
              <a:latin typeface="Open Sans Light"/>
              <a:ea typeface="Open Sans Light"/>
              <a:cs typeface="Open Sans Light"/>
              <a:sym typeface="Open Sans"/>
            </a:endParaRPr>
          </a:p>
          <a:p>
            <a:pPr marL="457200" lvl="0" indent="-292100" algn="l" rtl="0">
              <a:lnSpc>
                <a:spcPct val="115000"/>
              </a:lnSpc>
              <a:spcBef>
                <a:spcPts val="0"/>
              </a:spcBef>
              <a:spcAft>
                <a:spcPts val="0"/>
              </a:spcAft>
              <a:buClr>
                <a:schemeClr val="dk1"/>
              </a:buClr>
              <a:buSzPts val="1000"/>
              <a:buFont typeface="Open Sans"/>
              <a:buChar char="●"/>
            </a:pPr>
            <a:r>
              <a:rPr lang="en" sz="1000">
                <a:solidFill>
                  <a:schemeClr val="dk1"/>
                </a:solidFill>
                <a:latin typeface="Open Sans Light"/>
                <a:ea typeface="Open Sans Light"/>
                <a:cs typeface="Open Sans Light"/>
                <a:sym typeface="Open Sans"/>
              </a:rPr>
              <a:t>Produire les livrables stratégiques attendus par les sponsors du chantier.</a:t>
            </a:r>
            <a:endParaRPr sz="1000">
              <a:solidFill>
                <a:schemeClr val="dk1"/>
              </a:solidFill>
              <a:latin typeface="Open Sans Light"/>
              <a:ea typeface="Open Sans Light"/>
              <a:cs typeface="Open Sans Light"/>
              <a:sym typeface="Open Sans"/>
            </a:endParaRPr>
          </a:p>
          <a:p>
            <a:pPr marL="457200" lvl="0" indent="0" algn="l" rtl="0">
              <a:lnSpc>
                <a:spcPct val="115000"/>
              </a:lnSpc>
              <a:spcBef>
                <a:spcPts val="1200"/>
              </a:spcBef>
              <a:spcAft>
                <a:spcPts val="0"/>
              </a:spcAft>
              <a:buNone/>
            </a:pPr>
            <a:endParaRPr sz="1000">
              <a:solidFill>
                <a:schemeClr val="dk1"/>
              </a:solidFill>
              <a:latin typeface="Open Sans Light"/>
              <a:ea typeface="Open Sans Light"/>
              <a:cs typeface="Open Sans Light"/>
              <a:sym typeface="Open Sans"/>
            </a:endParaRPr>
          </a:p>
          <a:p>
            <a:pPr marL="457200" lvl="0" indent="0" algn="l" rtl="0">
              <a:lnSpc>
                <a:spcPct val="115000"/>
              </a:lnSpc>
              <a:spcBef>
                <a:spcPts val="1200"/>
              </a:spcBef>
              <a:spcAft>
                <a:spcPts val="0"/>
              </a:spcAft>
              <a:buNone/>
            </a:pPr>
            <a:endParaRPr sz="1000">
              <a:solidFill>
                <a:schemeClr val="dk1"/>
              </a:solidFill>
              <a:latin typeface="Open Sans Light"/>
              <a:ea typeface="Open Sans Light"/>
              <a:cs typeface="Open Sans Light"/>
              <a:sym typeface="Open Sans"/>
            </a:endParaRPr>
          </a:p>
          <a:p>
            <a:pPr marL="457200" lvl="0" indent="0" algn="l" rtl="0">
              <a:lnSpc>
                <a:spcPct val="115000"/>
              </a:lnSpc>
              <a:spcBef>
                <a:spcPts val="1200"/>
              </a:spcBef>
              <a:spcAft>
                <a:spcPts val="0"/>
              </a:spcAft>
              <a:buNone/>
            </a:pPr>
            <a:endParaRPr sz="1000">
              <a:solidFill>
                <a:schemeClr val="dk1"/>
              </a:solidFill>
              <a:latin typeface="Open Sans Light"/>
              <a:ea typeface="Open Sans Light"/>
              <a:cs typeface="Open Sans Light"/>
              <a:sym typeface="Open Sans"/>
            </a:endParaRPr>
          </a:p>
          <a:p>
            <a:pPr marL="0" marR="0" lvl="0" indent="0" algn="l" rtl="0">
              <a:lnSpc>
                <a:spcPct val="115000"/>
              </a:lnSpc>
              <a:spcBef>
                <a:spcPts val="1200"/>
              </a:spcBef>
              <a:spcAft>
                <a:spcPts val="0"/>
              </a:spcAft>
              <a:buNone/>
            </a:pPr>
            <a:endParaRPr sz="1100" b="1">
              <a:solidFill>
                <a:srgbClr val="1200C5"/>
              </a:solidFill>
              <a:latin typeface="Open Sans ExtraBold"/>
              <a:ea typeface="Open Sans ExtraBold"/>
              <a:cs typeface="Open Sans ExtraBold"/>
              <a:sym typeface="Open Sans"/>
            </a:endParaRPr>
          </a:p>
        </p:txBody>
      </p:sp>
      <p:sp>
        <p:nvSpPr>
          <p:cNvPr id="187" name="Google Shape;187;p23"/>
          <p:cNvSpPr txBox="1"/>
          <p:nvPr/>
        </p:nvSpPr>
        <p:spPr>
          <a:xfrm>
            <a:off x="388350" y="239025"/>
            <a:ext cx="43323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b="1">
                <a:solidFill>
                  <a:srgbClr val="0A00BE"/>
                </a:solidFill>
                <a:latin typeface="Open Sans ExtraBold"/>
                <a:ea typeface="Open Sans ExtraBold"/>
                <a:cs typeface="Open Sans ExtraBold"/>
                <a:sym typeface="Open Sans"/>
              </a:rPr>
              <a:t>GT 1 – Analyse et production des livrables stratégiques</a:t>
            </a:r>
            <a:endParaRPr b="1" i="0" u="none" strike="noStrike" cap="none">
              <a:solidFill>
                <a:srgbClr val="234291"/>
              </a:solidFill>
              <a:latin typeface="Open Sans ExtraBold"/>
              <a:ea typeface="Open Sans ExtraBold"/>
              <a:cs typeface="Open Sans ExtraBold"/>
              <a:sym typeface="Open Sans"/>
            </a:endParaRPr>
          </a:p>
        </p:txBody>
      </p:sp>
      <p:sp>
        <p:nvSpPr>
          <p:cNvPr id="188" name="Google Shape;188;p23"/>
          <p:cNvSpPr/>
          <p:nvPr/>
        </p:nvSpPr>
        <p:spPr>
          <a:xfrm>
            <a:off x="4823425" y="7450"/>
            <a:ext cx="4332300" cy="5143500"/>
          </a:xfrm>
          <a:prstGeom prst="rect">
            <a:avLst/>
          </a:prstGeom>
          <a:solidFill>
            <a:srgbClr val="134F5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9" name="Google Shape;189;p23"/>
          <p:cNvSpPr txBox="1"/>
          <p:nvPr/>
        </p:nvSpPr>
        <p:spPr>
          <a:xfrm>
            <a:off x="5151025" y="308550"/>
            <a:ext cx="3677100" cy="4342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100" b="1">
                <a:solidFill>
                  <a:schemeClr val="lt1"/>
                </a:solidFill>
                <a:latin typeface="Open Sans ExtraBold"/>
                <a:ea typeface="Open Sans ExtraBold"/>
                <a:cs typeface="Open Sans ExtraBold"/>
                <a:sym typeface="Open Sans"/>
              </a:rPr>
              <a:t>Tâches / Livrables</a:t>
            </a:r>
            <a:endParaRPr sz="1100" b="1">
              <a:solidFill>
                <a:schemeClr val="lt1"/>
              </a:solidFill>
              <a:latin typeface="Open Sans ExtraBold"/>
              <a:ea typeface="Open Sans ExtraBold"/>
              <a:cs typeface="Open Sans ExtraBold"/>
              <a:sym typeface="Open Sans"/>
            </a:endParaRPr>
          </a:p>
          <a:p>
            <a:pPr marL="0" lvl="0" indent="0" algn="l" rtl="0">
              <a:lnSpc>
                <a:spcPct val="115000"/>
              </a:lnSpc>
              <a:spcBef>
                <a:spcPts val="1200"/>
              </a:spcBef>
              <a:spcAft>
                <a:spcPts val="0"/>
              </a:spcAft>
              <a:buNone/>
            </a:pPr>
            <a:endParaRPr sz="1100" b="1">
              <a:solidFill>
                <a:schemeClr val="lt1"/>
              </a:solidFill>
              <a:latin typeface="Open Sans ExtraBold"/>
              <a:ea typeface="Open Sans ExtraBold"/>
              <a:cs typeface="Open Sans ExtraBold"/>
              <a:sym typeface="Open Sans"/>
            </a:endParaRPr>
          </a:p>
          <a:p>
            <a:pPr marL="457200" lvl="0" indent="-298450" algn="l" rtl="0">
              <a:lnSpc>
                <a:spcPct val="115000"/>
              </a:lnSpc>
              <a:spcBef>
                <a:spcPts val="1200"/>
              </a:spcBef>
              <a:spcAft>
                <a:spcPts val="0"/>
              </a:spcAft>
              <a:buClr>
                <a:schemeClr val="lt1"/>
              </a:buClr>
              <a:buSzPts val="1100"/>
              <a:buFont typeface="Open Sans"/>
              <a:buChar char="❏"/>
            </a:pPr>
            <a:r>
              <a:rPr lang="en" sz="1100">
                <a:solidFill>
                  <a:schemeClr val="lt1"/>
                </a:solidFill>
                <a:latin typeface="Open Sans Light"/>
                <a:ea typeface="Open Sans Light"/>
                <a:cs typeface="Open Sans Light"/>
                <a:sym typeface="Open Sans"/>
              </a:rPr>
              <a:t>Livrables intermédiaire pour le Pilier 1 ( fin Août 2026)</a:t>
            </a:r>
            <a:endParaRPr sz="1100">
              <a:solidFill>
                <a:schemeClr val="lt1"/>
              </a:solidFill>
              <a:latin typeface="Open Sans Light"/>
              <a:ea typeface="Open Sans Light"/>
              <a:cs typeface="Open Sans Light"/>
              <a:sym typeface="Open Sans"/>
            </a:endParaRPr>
          </a:p>
          <a:p>
            <a:pPr marL="457200" lvl="0" indent="-298450" algn="l" rtl="0">
              <a:lnSpc>
                <a:spcPct val="115000"/>
              </a:lnSpc>
              <a:spcBef>
                <a:spcPts val="600"/>
              </a:spcBef>
              <a:spcAft>
                <a:spcPts val="0"/>
              </a:spcAft>
              <a:buClr>
                <a:schemeClr val="lt1"/>
              </a:buClr>
              <a:buSzPts val="1100"/>
              <a:buChar char="❏"/>
            </a:pPr>
            <a:r>
              <a:rPr lang="en" sz="1100">
                <a:solidFill>
                  <a:schemeClr val="lt1"/>
                </a:solidFill>
                <a:latin typeface="Open Sans Light"/>
                <a:ea typeface="Open Sans Light"/>
                <a:cs typeface="Open Sans Light"/>
                <a:sym typeface="Open Sans"/>
              </a:rPr>
              <a:t>Note rose sur le CADA et son impact potentiel sur le projet de migration vers le cloud (mi-Août 2026)</a:t>
            </a:r>
            <a:endParaRPr sz="1100">
              <a:solidFill>
                <a:schemeClr val="lt1"/>
              </a:solidFill>
              <a:latin typeface="Open Sans Light"/>
              <a:ea typeface="Open Sans Light"/>
              <a:cs typeface="Open Sans Light"/>
              <a:sym typeface="Open Sans"/>
            </a:endParaRPr>
          </a:p>
          <a:p>
            <a:pPr marL="457200" lvl="0" indent="-298450" algn="l" rtl="0">
              <a:lnSpc>
                <a:spcPct val="115000"/>
              </a:lnSpc>
              <a:spcBef>
                <a:spcPts val="600"/>
              </a:spcBef>
              <a:spcAft>
                <a:spcPts val="0"/>
              </a:spcAft>
              <a:buClr>
                <a:schemeClr val="lt1"/>
              </a:buClr>
              <a:buSzPts val="1100"/>
              <a:buFont typeface="Open Sans"/>
              <a:buChar char="❏"/>
            </a:pPr>
            <a:r>
              <a:rPr lang="en" sz="1100">
                <a:solidFill>
                  <a:schemeClr val="lt1"/>
                </a:solidFill>
                <a:latin typeface="Open Sans Light"/>
                <a:ea typeface="Open Sans Light"/>
                <a:cs typeface="Open Sans Light"/>
                <a:sym typeface="Open Sans"/>
              </a:rPr>
              <a:t>Rapport stratégique final et notes de synthèse pour les décideurs. (fin Decembre 2026)</a:t>
            </a:r>
            <a:endParaRPr sz="1100">
              <a:solidFill>
                <a:schemeClr val="lt1"/>
              </a:solidFill>
              <a:latin typeface="Open Sans Light"/>
              <a:ea typeface="Open Sans Light"/>
              <a:cs typeface="Open Sans Light"/>
              <a:sym typeface="Open Sans"/>
            </a:endParaRPr>
          </a:p>
          <a:p>
            <a:pPr marL="0" lvl="0" indent="0" algn="l" rtl="0">
              <a:lnSpc>
                <a:spcPct val="115000"/>
              </a:lnSpc>
              <a:spcBef>
                <a:spcPts val="1200"/>
              </a:spcBef>
              <a:spcAft>
                <a:spcPts val="0"/>
              </a:spcAft>
              <a:buNone/>
            </a:pPr>
            <a:endParaRPr sz="1100">
              <a:solidFill>
                <a:schemeClr val="lt1"/>
              </a:solidFill>
              <a:latin typeface="Open Sans Light"/>
              <a:ea typeface="Open Sans Light"/>
              <a:cs typeface="Open Sans Light"/>
              <a:sym typeface="Open Sans"/>
            </a:endParaRPr>
          </a:p>
          <a:p>
            <a:pPr marL="0" lvl="0" indent="0" algn="l" rtl="0">
              <a:lnSpc>
                <a:spcPct val="115000"/>
              </a:lnSpc>
              <a:spcBef>
                <a:spcPts val="1200"/>
              </a:spcBef>
              <a:spcAft>
                <a:spcPts val="0"/>
              </a:spcAft>
              <a:buNone/>
            </a:pPr>
            <a:endParaRPr sz="1100" b="1">
              <a:solidFill>
                <a:schemeClr val="lt1"/>
              </a:solidFill>
              <a:latin typeface="Open Sans ExtraBold"/>
              <a:ea typeface="Open Sans ExtraBold"/>
              <a:cs typeface="Open Sans ExtraBold"/>
              <a:sym typeface="Open Sans"/>
            </a:endParaRPr>
          </a:p>
          <a:p>
            <a:pPr marL="0" lvl="0" indent="0" algn="l" rtl="0">
              <a:lnSpc>
                <a:spcPct val="115000"/>
              </a:lnSpc>
              <a:spcBef>
                <a:spcPts val="1200"/>
              </a:spcBef>
              <a:spcAft>
                <a:spcPts val="0"/>
              </a:spcAft>
              <a:buNone/>
            </a:pPr>
            <a:endParaRPr sz="1100">
              <a:solidFill>
                <a:schemeClr val="lt1"/>
              </a:solidFill>
              <a:latin typeface="Open Sans Light"/>
              <a:ea typeface="Open Sans Light"/>
              <a:cs typeface="Open Sans Light"/>
              <a:sym typeface="Open Sans"/>
            </a:endParaRPr>
          </a:p>
          <a:p>
            <a:pPr marL="457200" lvl="0" indent="0" algn="l" rtl="0">
              <a:lnSpc>
                <a:spcPct val="115000"/>
              </a:lnSpc>
              <a:spcBef>
                <a:spcPts val="1200"/>
              </a:spcBef>
              <a:spcAft>
                <a:spcPts val="0"/>
              </a:spcAft>
              <a:buNone/>
            </a:pPr>
            <a:endParaRPr sz="1100">
              <a:solidFill>
                <a:schemeClr val="lt1"/>
              </a:solidFill>
              <a:latin typeface="Open Sans Light"/>
              <a:ea typeface="Open Sans Light"/>
              <a:cs typeface="Open Sans Light"/>
              <a:sym typeface="Open Sans"/>
            </a:endParaRPr>
          </a:p>
          <a:p>
            <a:pPr marL="0" lvl="0" indent="0" algn="l" rtl="0">
              <a:spcBef>
                <a:spcPts val="1200"/>
              </a:spcBef>
              <a:spcAft>
                <a:spcPts val="0"/>
              </a:spcAft>
              <a:buClr>
                <a:schemeClr val="dk1"/>
              </a:buClr>
              <a:buSzPts val="1100"/>
              <a:buFont typeface="Arial"/>
              <a:buNone/>
            </a:pPr>
            <a:endParaRPr sz="1200" b="1">
              <a:solidFill>
                <a:schemeClr val="lt1"/>
              </a:solidFill>
              <a:latin typeface="Open Sans ExtraBold"/>
              <a:ea typeface="Open Sans ExtraBold"/>
              <a:cs typeface="Open Sans ExtraBold"/>
              <a:sym typeface="Open Sans"/>
            </a:endParaRPr>
          </a:p>
        </p:txBody>
      </p:sp>
      <p:sp>
        <p:nvSpPr>
          <p:cNvPr id="190" name="Google Shape;190;p23"/>
          <p:cNvSpPr txBox="1"/>
          <p:nvPr/>
        </p:nvSpPr>
        <p:spPr>
          <a:xfrm>
            <a:off x="2970018" y="1323850"/>
            <a:ext cx="16179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b="1">
                <a:highlight>
                  <a:srgbClr val="FFFFFF"/>
                </a:highlight>
                <a:latin typeface="Open Sans ExtraBold"/>
                <a:ea typeface="Open Sans ExtraBold"/>
                <a:cs typeface="Open Sans ExtraBold"/>
                <a:sym typeface="Open Sans"/>
              </a:rPr>
              <a:t>Thierry CHAPPÉ</a:t>
            </a:r>
            <a:endParaRPr sz="800">
              <a:solidFill>
                <a:srgbClr val="000000"/>
              </a:solidFill>
              <a:highlight>
                <a:srgbClr val="FFFFFF"/>
              </a:highlight>
              <a:latin typeface="Open Sans Light"/>
              <a:ea typeface="Open Sans Light"/>
              <a:cs typeface="Open Sans Light"/>
              <a:sym typeface="Open Sans"/>
            </a:endParaRPr>
          </a:p>
        </p:txBody>
      </p:sp>
      <p:pic>
        <p:nvPicPr>
          <p:cNvPr id="191" name="Google Shape;191;p23"/>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2615927" y="1302131"/>
            <a:ext cx="358176" cy="351267"/>
          </a:xfrm>
          <a:prstGeom prst="rect">
            <a:avLst/>
          </a:prstGeom>
          <a:noFill/>
          <a:ln>
            <a:noFill/>
          </a:ln>
        </p:spPr>
      </p:pic>
      <p:pic>
        <p:nvPicPr>
          <p:cNvPr id="192" name="Google Shape;192;p23"/>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656611" y="1302123"/>
            <a:ext cx="342743" cy="351268"/>
          </a:xfrm>
          <a:prstGeom prst="rect">
            <a:avLst/>
          </a:prstGeom>
          <a:noFill/>
          <a:ln>
            <a:noFill/>
          </a:ln>
        </p:spPr>
      </p:pic>
      <p:sp>
        <p:nvSpPr>
          <p:cNvPr id="193" name="Google Shape;193;p23"/>
          <p:cNvSpPr txBox="1"/>
          <p:nvPr/>
        </p:nvSpPr>
        <p:spPr>
          <a:xfrm>
            <a:off x="987803" y="1323863"/>
            <a:ext cx="16179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b="1">
                <a:highlight>
                  <a:srgbClr val="FFFFFF"/>
                </a:highlight>
                <a:latin typeface="Open Sans ExtraBold"/>
                <a:ea typeface="Open Sans ExtraBold"/>
                <a:cs typeface="Open Sans ExtraBold"/>
                <a:sym typeface="Open Sans"/>
              </a:rPr>
              <a:t>Constance MATHIEU</a:t>
            </a:r>
            <a:endParaRPr sz="800">
              <a:solidFill>
                <a:srgbClr val="000000"/>
              </a:solidFill>
              <a:highlight>
                <a:srgbClr val="FFFFFF"/>
              </a:highlight>
              <a:latin typeface="Open Sans Light"/>
              <a:ea typeface="Open Sans Light"/>
              <a:cs typeface="Open Sans Light"/>
              <a:sym typeface="Open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24"/>
          <p:cNvSpPr txBox="1"/>
          <p:nvPr/>
        </p:nvSpPr>
        <p:spPr>
          <a:xfrm>
            <a:off x="454700" y="742325"/>
            <a:ext cx="3887100" cy="38988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sz="1000" b="1">
                <a:solidFill>
                  <a:srgbClr val="1200C5"/>
                </a:solidFill>
                <a:latin typeface="Open Sans ExtraBold"/>
                <a:ea typeface="Open Sans ExtraBold"/>
                <a:cs typeface="Open Sans ExtraBold"/>
                <a:sym typeface="Open Sans"/>
              </a:rPr>
              <a:t>Participants</a:t>
            </a:r>
            <a:endParaRPr sz="1000" b="1">
              <a:solidFill>
                <a:srgbClr val="1200C5"/>
              </a:solidFill>
              <a:latin typeface="Open Sans ExtraBold"/>
              <a:ea typeface="Open Sans ExtraBold"/>
              <a:cs typeface="Open Sans ExtraBold"/>
              <a:sym typeface="Open Sans"/>
            </a:endParaRPr>
          </a:p>
          <a:p>
            <a:pPr marL="0" marR="0" lvl="0" indent="0" algn="l" rtl="0">
              <a:lnSpc>
                <a:spcPct val="115000"/>
              </a:lnSpc>
              <a:spcBef>
                <a:spcPts val="0"/>
              </a:spcBef>
              <a:spcAft>
                <a:spcPts val="0"/>
              </a:spcAft>
              <a:buNone/>
            </a:pPr>
            <a:endParaRPr sz="1000">
              <a:solidFill>
                <a:schemeClr val="dk1"/>
              </a:solidFill>
              <a:latin typeface="Open Sans Light"/>
              <a:ea typeface="Open Sans Light"/>
              <a:cs typeface="Open Sans Light"/>
              <a:sym typeface="Open Sans"/>
            </a:endParaRPr>
          </a:p>
          <a:p>
            <a:pPr marL="0" marR="0" lvl="0" indent="0" algn="l" rtl="0">
              <a:lnSpc>
                <a:spcPct val="115000"/>
              </a:lnSpc>
              <a:spcBef>
                <a:spcPts val="0"/>
              </a:spcBef>
              <a:spcAft>
                <a:spcPts val="0"/>
              </a:spcAft>
              <a:buNone/>
            </a:pPr>
            <a:endParaRPr sz="1000">
              <a:solidFill>
                <a:schemeClr val="dk1"/>
              </a:solidFill>
              <a:latin typeface="Open Sans Light"/>
              <a:ea typeface="Open Sans Light"/>
              <a:cs typeface="Open Sans Light"/>
              <a:sym typeface="Open Sans"/>
            </a:endParaRPr>
          </a:p>
          <a:p>
            <a:pPr marL="0" lvl="0" indent="0" algn="l" rtl="0">
              <a:lnSpc>
                <a:spcPct val="115000"/>
              </a:lnSpc>
              <a:spcBef>
                <a:spcPts val="1200"/>
              </a:spcBef>
              <a:spcAft>
                <a:spcPts val="0"/>
              </a:spcAft>
              <a:buClr>
                <a:schemeClr val="dk1"/>
              </a:buClr>
              <a:buSzPts val="1100"/>
              <a:buFont typeface="Arial"/>
              <a:buNone/>
            </a:pPr>
            <a:endParaRPr sz="1000" b="1">
              <a:solidFill>
                <a:srgbClr val="1200C5"/>
              </a:solidFill>
              <a:latin typeface="Open Sans ExtraBold"/>
              <a:ea typeface="Open Sans ExtraBold"/>
              <a:cs typeface="Open Sans ExtraBold"/>
              <a:sym typeface="Open Sans"/>
            </a:endParaRPr>
          </a:p>
          <a:p>
            <a:pPr marL="0" lvl="0" indent="0" algn="l" rtl="0">
              <a:lnSpc>
                <a:spcPct val="115000"/>
              </a:lnSpc>
              <a:spcBef>
                <a:spcPts val="1200"/>
              </a:spcBef>
              <a:spcAft>
                <a:spcPts val="0"/>
              </a:spcAft>
              <a:buClr>
                <a:schemeClr val="dk1"/>
              </a:buClr>
              <a:buSzPts val="1100"/>
              <a:buFont typeface="Arial"/>
              <a:buNone/>
            </a:pPr>
            <a:endParaRPr sz="300" b="1">
              <a:solidFill>
                <a:srgbClr val="1200C5"/>
              </a:solidFill>
              <a:latin typeface="Open Sans ExtraBold"/>
              <a:ea typeface="Open Sans ExtraBold"/>
              <a:cs typeface="Open Sans ExtraBold"/>
              <a:sym typeface="Open Sans"/>
            </a:endParaRPr>
          </a:p>
          <a:p>
            <a:pPr marL="0" lvl="0" indent="0" algn="l" rtl="0">
              <a:lnSpc>
                <a:spcPct val="115000"/>
              </a:lnSpc>
              <a:spcBef>
                <a:spcPts val="1200"/>
              </a:spcBef>
              <a:spcAft>
                <a:spcPts val="0"/>
              </a:spcAft>
              <a:buClr>
                <a:schemeClr val="dk1"/>
              </a:buClr>
              <a:buSzPts val="1100"/>
              <a:buFont typeface="Arial"/>
              <a:buNone/>
            </a:pPr>
            <a:r>
              <a:rPr lang="en" sz="1000" b="1">
                <a:solidFill>
                  <a:srgbClr val="1200C5"/>
                </a:solidFill>
                <a:latin typeface="Open Sans ExtraBold"/>
                <a:ea typeface="Open Sans ExtraBold"/>
                <a:cs typeface="Open Sans ExtraBold"/>
                <a:sym typeface="Open Sans"/>
              </a:rPr>
              <a:t>Description</a:t>
            </a:r>
            <a:br>
              <a:rPr lang="en" sz="1000" b="1">
                <a:solidFill>
                  <a:schemeClr val="dk1"/>
                </a:solidFill>
                <a:latin typeface="Open Sans ExtraBold"/>
                <a:ea typeface="Open Sans ExtraBold"/>
                <a:cs typeface="Open Sans ExtraBold"/>
                <a:sym typeface="Open Sans"/>
              </a:rPr>
            </a:br>
            <a:r>
              <a:rPr lang="en" sz="1000">
                <a:solidFill>
                  <a:schemeClr val="dk1"/>
                </a:solidFill>
                <a:latin typeface="Open Sans Light"/>
                <a:ea typeface="Open Sans Light"/>
                <a:cs typeface="Open Sans Light"/>
                <a:sym typeface="Open Sans"/>
              </a:rPr>
              <a:t>Mettre en place un « cerveau collectif » permettant de centraliser, structurer et partager les connaissances produites ou collectées dans le cadre du chantier. Cet espace pourra s’appuyer sur Obsidian et expérimenter l’utilisation d’une IA souveraine ou maîtrisée pour interroger le corpus documentaire.</a:t>
            </a:r>
            <a:endParaRPr sz="1000">
              <a:solidFill>
                <a:schemeClr val="dk1"/>
              </a:solidFill>
              <a:latin typeface="Open Sans Light"/>
              <a:ea typeface="Open Sans Light"/>
              <a:cs typeface="Open Sans Light"/>
              <a:sym typeface="Open Sans"/>
            </a:endParaRPr>
          </a:p>
          <a:p>
            <a:pPr marL="0" lvl="0" indent="0" algn="l" rtl="0">
              <a:lnSpc>
                <a:spcPct val="115000"/>
              </a:lnSpc>
              <a:spcBef>
                <a:spcPts val="1200"/>
              </a:spcBef>
              <a:spcAft>
                <a:spcPts val="0"/>
              </a:spcAft>
              <a:buClr>
                <a:schemeClr val="dk1"/>
              </a:buClr>
              <a:buSzPts val="1100"/>
              <a:buFont typeface="Arial"/>
              <a:buNone/>
            </a:pPr>
            <a:r>
              <a:rPr lang="en" sz="1000" b="1">
                <a:solidFill>
                  <a:srgbClr val="1200C5"/>
                </a:solidFill>
                <a:latin typeface="Open Sans ExtraBold"/>
                <a:ea typeface="Open Sans ExtraBold"/>
                <a:cs typeface="Open Sans ExtraBold"/>
                <a:sym typeface="Open Sans"/>
              </a:rPr>
              <a:t>Objectifs</a:t>
            </a:r>
            <a:endParaRPr sz="1000" b="1">
              <a:solidFill>
                <a:schemeClr val="dk1"/>
              </a:solidFill>
              <a:latin typeface="Open Sans ExtraBold"/>
              <a:ea typeface="Open Sans ExtraBold"/>
              <a:cs typeface="Open Sans ExtraBold"/>
              <a:sym typeface="Open Sans"/>
            </a:endParaRPr>
          </a:p>
          <a:p>
            <a:pPr marL="457200" lvl="0" indent="-292100" algn="l" rtl="0">
              <a:lnSpc>
                <a:spcPct val="115000"/>
              </a:lnSpc>
              <a:spcBef>
                <a:spcPts val="1200"/>
              </a:spcBef>
              <a:spcAft>
                <a:spcPts val="0"/>
              </a:spcAft>
              <a:buClr>
                <a:schemeClr val="dk1"/>
              </a:buClr>
              <a:buSzPts val="1000"/>
              <a:buFont typeface="Open Sans"/>
              <a:buChar char="●"/>
            </a:pPr>
            <a:r>
              <a:rPr lang="en" sz="1000">
                <a:solidFill>
                  <a:schemeClr val="dk1"/>
                </a:solidFill>
                <a:latin typeface="Open Sans Light"/>
                <a:ea typeface="Open Sans Light"/>
                <a:cs typeface="Open Sans Light"/>
                <a:sym typeface="Open Sans"/>
              </a:rPr>
              <a:t>Centraliser et structurer les connaissances du chantier.</a:t>
            </a:r>
            <a:endParaRPr sz="1000">
              <a:solidFill>
                <a:schemeClr val="dk1"/>
              </a:solidFill>
              <a:latin typeface="Open Sans Light"/>
              <a:ea typeface="Open Sans Light"/>
              <a:cs typeface="Open Sans Light"/>
              <a:sym typeface="Open Sans"/>
            </a:endParaRPr>
          </a:p>
          <a:p>
            <a:pPr marL="457200" lvl="0" indent="-292100" algn="l" rtl="0">
              <a:lnSpc>
                <a:spcPct val="115000"/>
              </a:lnSpc>
              <a:spcBef>
                <a:spcPts val="0"/>
              </a:spcBef>
              <a:spcAft>
                <a:spcPts val="0"/>
              </a:spcAft>
              <a:buClr>
                <a:schemeClr val="dk1"/>
              </a:buClr>
              <a:buSzPts val="1000"/>
              <a:buFont typeface="Open Sans"/>
              <a:buChar char="●"/>
            </a:pPr>
            <a:r>
              <a:rPr lang="en" sz="1000">
                <a:solidFill>
                  <a:schemeClr val="dk1"/>
                </a:solidFill>
                <a:latin typeface="Open Sans Light"/>
                <a:ea typeface="Open Sans Light"/>
                <a:cs typeface="Open Sans Light"/>
                <a:sym typeface="Open Sans"/>
              </a:rPr>
              <a:t>Faciliter le partage d’information entre les GT.</a:t>
            </a:r>
            <a:endParaRPr sz="1000">
              <a:solidFill>
                <a:schemeClr val="dk1"/>
              </a:solidFill>
              <a:latin typeface="Open Sans Light"/>
              <a:ea typeface="Open Sans Light"/>
              <a:cs typeface="Open Sans Light"/>
              <a:sym typeface="Open Sans"/>
            </a:endParaRPr>
          </a:p>
          <a:p>
            <a:pPr marL="457200" lvl="0" indent="-292100" algn="l" rtl="0">
              <a:lnSpc>
                <a:spcPct val="115000"/>
              </a:lnSpc>
              <a:spcBef>
                <a:spcPts val="0"/>
              </a:spcBef>
              <a:spcAft>
                <a:spcPts val="0"/>
              </a:spcAft>
              <a:buClr>
                <a:schemeClr val="dk1"/>
              </a:buClr>
              <a:buSzPts val="1000"/>
              <a:buFont typeface="Open Sans"/>
              <a:buChar char="●"/>
            </a:pPr>
            <a:r>
              <a:rPr lang="en" sz="1000">
                <a:solidFill>
                  <a:schemeClr val="dk1"/>
                </a:solidFill>
                <a:latin typeface="Open Sans Light"/>
                <a:ea typeface="Open Sans Light"/>
                <a:cs typeface="Open Sans Light"/>
                <a:sym typeface="Open Sans"/>
              </a:rPr>
              <a:t>Constituer une mémoire durable et réversible du projet.</a:t>
            </a:r>
            <a:endParaRPr sz="1000">
              <a:solidFill>
                <a:schemeClr val="dk1"/>
              </a:solidFill>
              <a:latin typeface="Open Sans Light"/>
              <a:ea typeface="Open Sans Light"/>
              <a:cs typeface="Open Sans Light"/>
              <a:sym typeface="Open Sans"/>
            </a:endParaRPr>
          </a:p>
          <a:p>
            <a:pPr marL="457200" lvl="0" indent="-292100" algn="l" rtl="0">
              <a:lnSpc>
                <a:spcPct val="115000"/>
              </a:lnSpc>
              <a:spcBef>
                <a:spcPts val="0"/>
              </a:spcBef>
              <a:spcAft>
                <a:spcPts val="0"/>
              </a:spcAft>
              <a:buClr>
                <a:schemeClr val="dk1"/>
              </a:buClr>
              <a:buSzPts val="1000"/>
              <a:buFont typeface="Open Sans"/>
              <a:buChar char="●"/>
            </a:pPr>
            <a:r>
              <a:rPr lang="en" sz="1000">
                <a:solidFill>
                  <a:schemeClr val="dk1"/>
                </a:solidFill>
                <a:latin typeface="Open Sans Light"/>
                <a:ea typeface="Open Sans Light"/>
                <a:cs typeface="Open Sans Light"/>
                <a:sym typeface="Open Sans"/>
              </a:rPr>
              <a:t>Expérimenter l’utilisation d’une IA souveraine sur le “cerveau collectif” constitué</a:t>
            </a:r>
            <a:endParaRPr sz="1000">
              <a:solidFill>
                <a:schemeClr val="dk1"/>
              </a:solidFill>
              <a:latin typeface="Open Sans Light"/>
              <a:ea typeface="Open Sans Light"/>
              <a:cs typeface="Open Sans Light"/>
              <a:sym typeface="Open Sans"/>
            </a:endParaRPr>
          </a:p>
          <a:p>
            <a:pPr marL="0" marR="0" lvl="0" indent="0" algn="l" rtl="0">
              <a:lnSpc>
                <a:spcPct val="115000"/>
              </a:lnSpc>
              <a:spcBef>
                <a:spcPts val="1200"/>
              </a:spcBef>
              <a:spcAft>
                <a:spcPts val="0"/>
              </a:spcAft>
              <a:buNone/>
            </a:pPr>
            <a:endParaRPr sz="1100" b="1">
              <a:solidFill>
                <a:srgbClr val="1200C5"/>
              </a:solidFill>
              <a:latin typeface="Open Sans ExtraBold"/>
              <a:ea typeface="Open Sans ExtraBold"/>
              <a:cs typeface="Open Sans ExtraBold"/>
              <a:sym typeface="Open Sans"/>
            </a:endParaRPr>
          </a:p>
        </p:txBody>
      </p:sp>
      <p:sp>
        <p:nvSpPr>
          <p:cNvPr id="199" name="Google Shape;199;p24"/>
          <p:cNvSpPr txBox="1"/>
          <p:nvPr/>
        </p:nvSpPr>
        <p:spPr>
          <a:xfrm>
            <a:off x="2331864" y="1474842"/>
            <a:ext cx="16179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b="1">
                <a:highlight>
                  <a:srgbClr val="FFFFFF"/>
                </a:highlight>
                <a:latin typeface="Open Sans ExtraBold"/>
                <a:ea typeface="Open Sans ExtraBold"/>
                <a:cs typeface="Open Sans ExtraBold"/>
                <a:sym typeface="Open Sans"/>
              </a:rPr>
              <a:t>Duc PHAN</a:t>
            </a:r>
            <a:endParaRPr sz="800">
              <a:solidFill>
                <a:srgbClr val="000000"/>
              </a:solidFill>
              <a:highlight>
                <a:srgbClr val="FFFFFF"/>
              </a:highlight>
              <a:latin typeface="Open Sans Light"/>
              <a:ea typeface="Open Sans Light"/>
              <a:cs typeface="Open Sans Light"/>
              <a:sym typeface="Open Sans"/>
            </a:endParaRPr>
          </a:p>
        </p:txBody>
      </p:sp>
      <p:pic>
        <p:nvPicPr>
          <p:cNvPr id="200" name="Google Shape;200;p24"/>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1910615" y="1383734"/>
            <a:ext cx="459200" cy="485000"/>
          </a:xfrm>
          <a:prstGeom prst="rect">
            <a:avLst/>
          </a:prstGeom>
          <a:noFill/>
          <a:ln>
            <a:noFill/>
          </a:ln>
        </p:spPr>
      </p:pic>
      <p:sp>
        <p:nvSpPr>
          <p:cNvPr id="201" name="Google Shape;201;p24"/>
          <p:cNvSpPr txBox="1"/>
          <p:nvPr/>
        </p:nvSpPr>
        <p:spPr>
          <a:xfrm>
            <a:off x="388352" y="239025"/>
            <a:ext cx="34227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b="1">
                <a:solidFill>
                  <a:srgbClr val="0A00BE"/>
                </a:solidFill>
                <a:latin typeface="Open Sans ExtraBold"/>
                <a:ea typeface="Open Sans ExtraBold"/>
                <a:cs typeface="Open Sans ExtraBold"/>
                <a:sym typeface="Open Sans"/>
              </a:rPr>
              <a:t>GT2 - Gestion de la connaissance</a:t>
            </a:r>
            <a:endParaRPr b="1" i="0" u="none" strike="noStrike" cap="none">
              <a:solidFill>
                <a:srgbClr val="234291"/>
              </a:solidFill>
              <a:latin typeface="Open Sans ExtraBold"/>
              <a:ea typeface="Open Sans ExtraBold"/>
              <a:cs typeface="Open Sans ExtraBold"/>
              <a:sym typeface="Open Sans"/>
            </a:endParaRPr>
          </a:p>
        </p:txBody>
      </p:sp>
      <p:sp>
        <p:nvSpPr>
          <p:cNvPr id="202" name="Google Shape;202;p24"/>
          <p:cNvSpPr/>
          <p:nvPr/>
        </p:nvSpPr>
        <p:spPr>
          <a:xfrm>
            <a:off x="4823425" y="7450"/>
            <a:ext cx="4332300" cy="5143500"/>
          </a:xfrm>
          <a:prstGeom prst="rect">
            <a:avLst/>
          </a:prstGeom>
          <a:solidFill>
            <a:srgbClr val="134F5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3" name="Google Shape;203;p24"/>
          <p:cNvSpPr txBox="1"/>
          <p:nvPr/>
        </p:nvSpPr>
        <p:spPr>
          <a:xfrm>
            <a:off x="5180750" y="466175"/>
            <a:ext cx="3677100" cy="4342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100" b="1">
                <a:solidFill>
                  <a:schemeClr val="lt1"/>
                </a:solidFill>
                <a:latin typeface="Open Sans ExtraBold"/>
                <a:ea typeface="Open Sans ExtraBold"/>
                <a:cs typeface="Open Sans ExtraBold"/>
                <a:sym typeface="Open Sans"/>
              </a:rPr>
              <a:t>Tâches / Livrables</a:t>
            </a:r>
            <a:endParaRPr sz="1100" b="1">
              <a:solidFill>
                <a:schemeClr val="lt1"/>
              </a:solidFill>
              <a:latin typeface="Open Sans ExtraBold"/>
              <a:ea typeface="Open Sans ExtraBold"/>
              <a:cs typeface="Open Sans ExtraBold"/>
              <a:sym typeface="Open Sans"/>
            </a:endParaRPr>
          </a:p>
          <a:p>
            <a:pPr marL="0" lvl="0" indent="0" algn="l" rtl="0">
              <a:lnSpc>
                <a:spcPct val="115000"/>
              </a:lnSpc>
              <a:spcBef>
                <a:spcPts val="1200"/>
              </a:spcBef>
              <a:spcAft>
                <a:spcPts val="0"/>
              </a:spcAft>
              <a:buNone/>
            </a:pPr>
            <a:endParaRPr sz="1100" b="1">
              <a:solidFill>
                <a:schemeClr val="lt1"/>
              </a:solidFill>
              <a:latin typeface="Open Sans ExtraBold"/>
              <a:ea typeface="Open Sans ExtraBold"/>
              <a:cs typeface="Open Sans ExtraBold"/>
              <a:sym typeface="Open Sans"/>
            </a:endParaRPr>
          </a:p>
          <a:p>
            <a:pPr marL="457200" lvl="0" indent="-298450" algn="l" rtl="0">
              <a:lnSpc>
                <a:spcPct val="115000"/>
              </a:lnSpc>
              <a:spcBef>
                <a:spcPts val="1200"/>
              </a:spcBef>
              <a:spcAft>
                <a:spcPts val="0"/>
              </a:spcAft>
              <a:buClr>
                <a:schemeClr val="lt1"/>
              </a:buClr>
              <a:buSzPts val="1100"/>
              <a:buFont typeface="Open Sans"/>
              <a:buChar char="❏"/>
            </a:pPr>
            <a:r>
              <a:rPr lang="en" sz="1100">
                <a:solidFill>
                  <a:schemeClr val="lt1"/>
                </a:solidFill>
                <a:latin typeface="Open Sans Light"/>
                <a:ea typeface="Open Sans Light"/>
                <a:cs typeface="Open Sans Light"/>
                <a:sym typeface="Open Sans"/>
              </a:rPr>
              <a:t>Mise en place d’un espace Obsidian partagé et structuré.</a:t>
            </a:r>
            <a:endParaRPr sz="1100">
              <a:solidFill>
                <a:schemeClr val="lt1"/>
              </a:solidFill>
              <a:latin typeface="Open Sans Light"/>
              <a:ea typeface="Open Sans Light"/>
              <a:cs typeface="Open Sans Light"/>
              <a:sym typeface="Open Sans"/>
            </a:endParaRPr>
          </a:p>
          <a:p>
            <a:pPr marL="457200" lvl="0" indent="-298450" algn="l" rtl="0">
              <a:lnSpc>
                <a:spcPct val="115000"/>
              </a:lnSpc>
              <a:spcBef>
                <a:spcPts val="600"/>
              </a:spcBef>
              <a:spcAft>
                <a:spcPts val="0"/>
              </a:spcAft>
              <a:buClr>
                <a:schemeClr val="lt1"/>
              </a:buClr>
              <a:buSzPts val="1100"/>
              <a:buFont typeface="Open Sans"/>
              <a:buChar char="❏"/>
            </a:pPr>
            <a:r>
              <a:rPr lang="en" sz="1100">
                <a:solidFill>
                  <a:schemeClr val="lt1"/>
                </a:solidFill>
                <a:latin typeface="Open Sans Light"/>
                <a:ea typeface="Open Sans Light"/>
                <a:cs typeface="Open Sans Light"/>
                <a:sym typeface="Open Sans"/>
              </a:rPr>
              <a:t>Définir la structure et la taxonomie de la base de connaissance.</a:t>
            </a:r>
            <a:endParaRPr sz="1100">
              <a:solidFill>
                <a:schemeClr val="lt1"/>
              </a:solidFill>
              <a:latin typeface="Open Sans Light"/>
              <a:ea typeface="Open Sans Light"/>
              <a:cs typeface="Open Sans Light"/>
              <a:sym typeface="Open Sans"/>
            </a:endParaRPr>
          </a:p>
          <a:p>
            <a:pPr marL="457200" lvl="0" indent="-298450" algn="l" rtl="0">
              <a:lnSpc>
                <a:spcPct val="115000"/>
              </a:lnSpc>
              <a:spcBef>
                <a:spcPts val="600"/>
              </a:spcBef>
              <a:spcAft>
                <a:spcPts val="0"/>
              </a:spcAft>
              <a:buClr>
                <a:schemeClr val="lt1"/>
              </a:buClr>
              <a:buSzPts val="1100"/>
              <a:buFont typeface="Open Sans"/>
              <a:buChar char="❏"/>
            </a:pPr>
            <a:r>
              <a:rPr lang="en" sz="1100">
                <a:solidFill>
                  <a:schemeClr val="lt1"/>
                </a:solidFill>
                <a:latin typeface="Open Sans Light"/>
                <a:ea typeface="Open Sans Light"/>
                <a:cs typeface="Open Sans Light"/>
                <a:sym typeface="Open Sans"/>
              </a:rPr>
              <a:t>Définir les règles de contribution et de mise à jour.</a:t>
            </a:r>
            <a:endParaRPr sz="1100">
              <a:solidFill>
                <a:schemeClr val="lt1"/>
              </a:solidFill>
              <a:latin typeface="Open Sans Light"/>
              <a:ea typeface="Open Sans Light"/>
              <a:cs typeface="Open Sans Light"/>
              <a:sym typeface="Open Sans"/>
            </a:endParaRPr>
          </a:p>
          <a:p>
            <a:pPr marL="457200" lvl="0" indent="-298450" algn="l" rtl="0">
              <a:lnSpc>
                <a:spcPct val="115000"/>
              </a:lnSpc>
              <a:spcBef>
                <a:spcPts val="600"/>
              </a:spcBef>
              <a:spcAft>
                <a:spcPts val="0"/>
              </a:spcAft>
              <a:buClr>
                <a:schemeClr val="lt1"/>
              </a:buClr>
              <a:buSzPts val="1100"/>
              <a:buFont typeface="Open Sans"/>
              <a:buChar char="❏"/>
            </a:pPr>
            <a:r>
              <a:rPr lang="en" sz="1100">
                <a:solidFill>
                  <a:schemeClr val="lt1"/>
                </a:solidFill>
                <a:latin typeface="Open Sans Light"/>
                <a:ea typeface="Open Sans Light"/>
                <a:cs typeface="Open Sans Light"/>
                <a:sym typeface="Open Sans"/>
              </a:rPr>
              <a:t>Intégrer et organiser les connaissances fournies par les autres participants</a:t>
            </a:r>
            <a:endParaRPr sz="1100">
              <a:solidFill>
                <a:schemeClr val="lt1"/>
              </a:solidFill>
              <a:latin typeface="Open Sans Light"/>
              <a:ea typeface="Open Sans Light"/>
              <a:cs typeface="Open Sans Light"/>
              <a:sym typeface="Open Sans"/>
            </a:endParaRPr>
          </a:p>
          <a:p>
            <a:pPr marL="457200" lvl="0" indent="-298450" algn="l" rtl="0">
              <a:lnSpc>
                <a:spcPct val="115000"/>
              </a:lnSpc>
              <a:spcBef>
                <a:spcPts val="600"/>
              </a:spcBef>
              <a:spcAft>
                <a:spcPts val="0"/>
              </a:spcAft>
              <a:buClr>
                <a:schemeClr val="lt1"/>
              </a:buClr>
              <a:buSzPts val="1100"/>
              <a:buFont typeface="Open Sans"/>
              <a:buChar char="❏"/>
            </a:pPr>
            <a:r>
              <a:rPr lang="en" sz="1100">
                <a:solidFill>
                  <a:schemeClr val="lt1"/>
                </a:solidFill>
                <a:latin typeface="Open Sans Light"/>
                <a:ea typeface="Open Sans Light"/>
                <a:cs typeface="Open Sans Light"/>
                <a:sym typeface="Open Sans"/>
              </a:rPr>
              <a:t>Identifier et tester une solution d’IA souveraine</a:t>
            </a:r>
            <a:endParaRPr sz="1100">
              <a:solidFill>
                <a:schemeClr val="lt1"/>
              </a:solidFill>
              <a:latin typeface="Open Sans Light"/>
              <a:ea typeface="Open Sans Light"/>
              <a:cs typeface="Open Sans Light"/>
              <a:sym typeface="Open Sans"/>
            </a:endParaRPr>
          </a:p>
          <a:p>
            <a:pPr marL="0" lvl="0" indent="0" algn="l" rtl="0">
              <a:lnSpc>
                <a:spcPct val="115000"/>
              </a:lnSpc>
              <a:spcBef>
                <a:spcPts val="1200"/>
              </a:spcBef>
              <a:spcAft>
                <a:spcPts val="0"/>
              </a:spcAft>
              <a:buNone/>
            </a:pPr>
            <a:endParaRPr sz="1000">
              <a:solidFill>
                <a:schemeClr val="lt1"/>
              </a:solidFill>
              <a:latin typeface="Open Sans Light"/>
              <a:ea typeface="Open Sans Light"/>
              <a:cs typeface="Open Sans Light"/>
              <a:sym typeface="Open Sans"/>
            </a:endParaRPr>
          </a:p>
          <a:p>
            <a:pPr marL="0" lvl="0" indent="0" algn="l" rtl="0">
              <a:spcBef>
                <a:spcPts val="1200"/>
              </a:spcBef>
              <a:spcAft>
                <a:spcPts val="0"/>
              </a:spcAft>
              <a:buClr>
                <a:schemeClr val="dk1"/>
              </a:buClr>
              <a:buSzPts val="1100"/>
              <a:buFont typeface="Arial"/>
              <a:buNone/>
            </a:pPr>
            <a:endParaRPr sz="1200" b="1">
              <a:solidFill>
                <a:schemeClr val="lt1"/>
              </a:solidFill>
              <a:latin typeface="Open Sans ExtraBold"/>
              <a:ea typeface="Open Sans ExtraBold"/>
              <a:cs typeface="Open Sans ExtraBold"/>
              <a:sym typeface="Open Sans"/>
            </a:endParaRPr>
          </a:p>
        </p:txBody>
      </p:sp>
      <p:sp>
        <p:nvSpPr>
          <p:cNvPr id="204" name="Google Shape;204;p24"/>
          <p:cNvSpPr txBox="1"/>
          <p:nvPr/>
        </p:nvSpPr>
        <p:spPr>
          <a:xfrm>
            <a:off x="2316893" y="1111200"/>
            <a:ext cx="16179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b="1">
                <a:highlight>
                  <a:srgbClr val="FFFFFF"/>
                </a:highlight>
                <a:latin typeface="Open Sans ExtraBold"/>
                <a:ea typeface="Open Sans ExtraBold"/>
                <a:cs typeface="Open Sans ExtraBold"/>
                <a:sym typeface="Open Sans"/>
              </a:rPr>
              <a:t>Thierry CHAPPÉ</a:t>
            </a:r>
            <a:endParaRPr sz="800">
              <a:solidFill>
                <a:srgbClr val="000000"/>
              </a:solidFill>
              <a:highlight>
                <a:srgbClr val="FFFFFF"/>
              </a:highlight>
              <a:latin typeface="Open Sans Light"/>
              <a:ea typeface="Open Sans Light"/>
              <a:cs typeface="Open Sans Light"/>
              <a:sym typeface="Open Sans"/>
            </a:endParaRPr>
          </a:p>
        </p:txBody>
      </p:sp>
      <p:pic>
        <p:nvPicPr>
          <p:cNvPr id="205" name="Google Shape;205;p24"/>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1962800" y="1089475"/>
            <a:ext cx="358175" cy="351275"/>
          </a:xfrm>
          <a:prstGeom prst="rect">
            <a:avLst/>
          </a:prstGeom>
          <a:noFill/>
          <a:ln>
            <a:noFill/>
          </a:ln>
        </p:spPr>
      </p:pic>
      <p:pic>
        <p:nvPicPr>
          <p:cNvPr id="206" name="Google Shape;206;p24"/>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36250" y="1111200"/>
            <a:ext cx="358175" cy="338276"/>
          </a:xfrm>
          <a:prstGeom prst="rect">
            <a:avLst/>
          </a:prstGeom>
          <a:noFill/>
          <a:ln>
            <a:noFill/>
          </a:ln>
        </p:spPr>
      </p:pic>
      <p:sp>
        <p:nvSpPr>
          <p:cNvPr id="207" name="Google Shape;207;p24"/>
          <p:cNvSpPr txBox="1"/>
          <p:nvPr/>
        </p:nvSpPr>
        <p:spPr>
          <a:xfrm>
            <a:off x="879057" y="1126450"/>
            <a:ext cx="8529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b="1">
                <a:highlight>
                  <a:srgbClr val="FFFFFF"/>
                </a:highlight>
                <a:latin typeface="Open Sans ExtraBold"/>
                <a:ea typeface="Open Sans ExtraBold"/>
                <a:cs typeface="Open Sans ExtraBold"/>
                <a:sym typeface="Open Sans"/>
              </a:rPr>
              <a:t>Fabrice LARD</a:t>
            </a:r>
            <a:endParaRPr sz="800">
              <a:solidFill>
                <a:srgbClr val="000000"/>
              </a:solidFill>
              <a:highlight>
                <a:srgbClr val="FFFFFF"/>
              </a:highlight>
              <a:latin typeface="Open Sans Light"/>
              <a:ea typeface="Open Sans Light"/>
              <a:cs typeface="Open Sans Light"/>
              <a:sym typeface="Open Sans"/>
            </a:endParaRPr>
          </a:p>
        </p:txBody>
      </p:sp>
      <p:sp>
        <p:nvSpPr>
          <p:cNvPr id="208" name="Google Shape;208;p24"/>
          <p:cNvSpPr/>
          <p:nvPr/>
        </p:nvSpPr>
        <p:spPr>
          <a:xfrm>
            <a:off x="561438" y="1498250"/>
            <a:ext cx="307800" cy="3078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9" name="Google Shape;209;p24"/>
          <p:cNvSpPr txBox="1"/>
          <p:nvPr/>
        </p:nvSpPr>
        <p:spPr>
          <a:xfrm>
            <a:off x="872699" y="1483125"/>
            <a:ext cx="10179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b="1">
                <a:highlight>
                  <a:srgbClr val="FFFFFF"/>
                </a:highlight>
                <a:latin typeface="Open Sans ExtraBold"/>
                <a:ea typeface="Open Sans ExtraBold"/>
                <a:cs typeface="Open Sans ExtraBold"/>
                <a:sym typeface="Open Sans"/>
              </a:rPr>
              <a:t>Marc LEFEVRE</a:t>
            </a:r>
            <a:endParaRPr sz="800">
              <a:solidFill>
                <a:srgbClr val="000000"/>
              </a:solidFill>
              <a:highlight>
                <a:srgbClr val="FFFFFF"/>
              </a:highlight>
              <a:latin typeface="Open Sans Light"/>
              <a:ea typeface="Open Sans Light"/>
              <a:cs typeface="Open Sans Light"/>
              <a:sym typeface="Open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25"/>
          <p:cNvSpPr txBox="1"/>
          <p:nvPr/>
        </p:nvSpPr>
        <p:spPr>
          <a:xfrm>
            <a:off x="454700" y="742325"/>
            <a:ext cx="3887100" cy="38988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sz="1000" b="1">
                <a:solidFill>
                  <a:srgbClr val="1200C5"/>
                </a:solidFill>
                <a:latin typeface="Open Sans ExtraBold"/>
                <a:ea typeface="Open Sans ExtraBold"/>
                <a:cs typeface="Open Sans ExtraBold"/>
                <a:sym typeface="Open Sans"/>
              </a:rPr>
              <a:t>Participants</a:t>
            </a:r>
            <a:endParaRPr sz="1000" b="1">
              <a:solidFill>
                <a:srgbClr val="1200C5"/>
              </a:solidFill>
              <a:latin typeface="Open Sans ExtraBold"/>
              <a:ea typeface="Open Sans ExtraBold"/>
              <a:cs typeface="Open Sans ExtraBold"/>
              <a:sym typeface="Open Sans"/>
            </a:endParaRPr>
          </a:p>
          <a:p>
            <a:pPr marL="0" marR="0" lvl="0" indent="0" algn="l" rtl="0">
              <a:lnSpc>
                <a:spcPct val="115000"/>
              </a:lnSpc>
              <a:spcBef>
                <a:spcPts val="0"/>
              </a:spcBef>
              <a:spcAft>
                <a:spcPts val="0"/>
              </a:spcAft>
              <a:buNone/>
            </a:pPr>
            <a:endParaRPr sz="1000">
              <a:solidFill>
                <a:schemeClr val="dk1"/>
              </a:solidFill>
              <a:latin typeface="Open Sans Light"/>
              <a:ea typeface="Open Sans Light"/>
              <a:cs typeface="Open Sans Light"/>
              <a:sym typeface="Open Sans"/>
            </a:endParaRPr>
          </a:p>
          <a:p>
            <a:pPr marL="0" marR="0" lvl="0" indent="0" algn="l" rtl="0">
              <a:lnSpc>
                <a:spcPct val="115000"/>
              </a:lnSpc>
              <a:spcBef>
                <a:spcPts val="0"/>
              </a:spcBef>
              <a:spcAft>
                <a:spcPts val="0"/>
              </a:spcAft>
              <a:buNone/>
            </a:pPr>
            <a:endParaRPr sz="1000">
              <a:solidFill>
                <a:schemeClr val="dk1"/>
              </a:solidFill>
              <a:latin typeface="Open Sans Light"/>
              <a:ea typeface="Open Sans Light"/>
              <a:cs typeface="Open Sans Light"/>
              <a:sym typeface="Open Sans"/>
            </a:endParaRPr>
          </a:p>
          <a:p>
            <a:pPr marL="0" lvl="0" indent="0" algn="l" rtl="0">
              <a:lnSpc>
                <a:spcPct val="115000"/>
              </a:lnSpc>
              <a:spcBef>
                <a:spcPts val="1200"/>
              </a:spcBef>
              <a:spcAft>
                <a:spcPts val="0"/>
              </a:spcAft>
              <a:buClr>
                <a:schemeClr val="dk1"/>
              </a:buClr>
              <a:buSzPts val="1100"/>
              <a:buFont typeface="Arial"/>
              <a:buNone/>
            </a:pPr>
            <a:endParaRPr sz="1000" b="1">
              <a:solidFill>
                <a:srgbClr val="1200C5"/>
              </a:solidFill>
              <a:latin typeface="Open Sans ExtraBold"/>
              <a:ea typeface="Open Sans ExtraBold"/>
              <a:cs typeface="Open Sans ExtraBold"/>
              <a:sym typeface="Open Sans"/>
            </a:endParaRPr>
          </a:p>
          <a:p>
            <a:pPr marL="0" lvl="0" indent="0" algn="l" rtl="0">
              <a:lnSpc>
                <a:spcPct val="115000"/>
              </a:lnSpc>
              <a:spcBef>
                <a:spcPts val="1200"/>
              </a:spcBef>
              <a:spcAft>
                <a:spcPts val="0"/>
              </a:spcAft>
              <a:buClr>
                <a:schemeClr val="dk1"/>
              </a:buClr>
              <a:buSzPts val="1100"/>
              <a:buFont typeface="Arial"/>
              <a:buNone/>
            </a:pPr>
            <a:endParaRPr sz="300" b="1">
              <a:solidFill>
                <a:srgbClr val="1200C5"/>
              </a:solidFill>
              <a:latin typeface="Open Sans ExtraBold"/>
              <a:ea typeface="Open Sans ExtraBold"/>
              <a:cs typeface="Open Sans ExtraBold"/>
              <a:sym typeface="Open Sans"/>
            </a:endParaRPr>
          </a:p>
          <a:p>
            <a:pPr marL="0" lvl="0" indent="0" algn="l" rtl="0">
              <a:lnSpc>
                <a:spcPct val="115000"/>
              </a:lnSpc>
              <a:spcBef>
                <a:spcPts val="1200"/>
              </a:spcBef>
              <a:spcAft>
                <a:spcPts val="0"/>
              </a:spcAft>
              <a:buClr>
                <a:schemeClr val="dk1"/>
              </a:buClr>
              <a:buSzPts val="1100"/>
              <a:buFont typeface="Arial"/>
              <a:buNone/>
            </a:pPr>
            <a:r>
              <a:rPr lang="en" sz="1000" b="1">
                <a:solidFill>
                  <a:srgbClr val="1200C5"/>
                </a:solidFill>
                <a:latin typeface="Open Sans ExtraBold"/>
                <a:ea typeface="Open Sans ExtraBold"/>
                <a:cs typeface="Open Sans ExtraBold"/>
                <a:sym typeface="Open Sans"/>
              </a:rPr>
              <a:t>Description</a:t>
            </a:r>
            <a:br>
              <a:rPr lang="en" sz="1000" b="1">
                <a:solidFill>
                  <a:schemeClr val="dk1"/>
                </a:solidFill>
                <a:latin typeface="Open Sans ExtraBold"/>
                <a:ea typeface="Open Sans ExtraBold"/>
                <a:cs typeface="Open Sans ExtraBold"/>
                <a:sym typeface="Open Sans"/>
              </a:rPr>
            </a:br>
            <a:r>
              <a:rPr lang="en" sz="1000">
                <a:solidFill>
                  <a:schemeClr val="dk1"/>
                </a:solidFill>
                <a:latin typeface="Open Sans Light"/>
                <a:ea typeface="Open Sans Light"/>
                <a:cs typeface="Open Sans Light"/>
                <a:sym typeface="Open Sans"/>
              </a:rPr>
              <a:t>Mettre en place un « cerveau collectif » permettant de centraliser, structurer et partager les connaissances produites ou collectées dans le cadre du chantier. Cet espace pourra s’appuyer sur Obsidian et expérimenter l’utilisation d’une IA souveraine ou maîtrisée pour interroger le corpus documentaire.</a:t>
            </a:r>
            <a:endParaRPr sz="1000">
              <a:solidFill>
                <a:schemeClr val="dk1"/>
              </a:solidFill>
              <a:latin typeface="Open Sans Light"/>
              <a:ea typeface="Open Sans Light"/>
              <a:cs typeface="Open Sans Light"/>
              <a:sym typeface="Open Sans"/>
            </a:endParaRPr>
          </a:p>
          <a:p>
            <a:pPr marL="0" lvl="0" indent="0" algn="l" rtl="0">
              <a:lnSpc>
                <a:spcPct val="115000"/>
              </a:lnSpc>
              <a:spcBef>
                <a:spcPts val="1200"/>
              </a:spcBef>
              <a:spcAft>
                <a:spcPts val="0"/>
              </a:spcAft>
              <a:buClr>
                <a:schemeClr val="dk1"/>
              </a:buClr>
              <a:buSzPts val="1100"/>
              <a:buFont typeface="Arial"/>
              <a:buNone/>
            </a:pPr>
            <a:r>
              <a:rPr lang="en" sz="1000" b="1">
                <a:solidFill>
                  <a:srgbClr val="1200C5"/>
                </a:solidFill>
                <a:latin typeface="Open Sans ExtraBold"/>
                <a:ea typeface="Open Sans ExtraBold"/>
                <a:cs typeface="Open Sans ExtraBold"/>
                <a:sym typeface="Open Sans"/>
              </a:rPr>
              <a:t>Objectifs</a:t>
            </a:r>
            <a:endParaRPr sz="1000" b="1">
              <a:solidFill>
                <a:schemeClr val="dk1"/>
              </a:solidFill>
              <a:latin typeface="Open Sans ExtraBold"/>
              <a:ea typeface="Open Sans ExtraBold"/>
              <a:cs typeface="Open Sans ExtraBold"/>
              <a:sym typeface="Open Sans"/>
            </a:endParaRPr>
          </a:p>
          <a:p>
            <a:pPr marL="457200" lvl="0" indent="-292100" algn="l" rtl="0">
              <a:lnSpc>
                <a:spcPct val="115000"/>
              </a:lnSpc>
              <a:spcBef>
                <a:spcPts val="1200"/>
              </a:spcBef>
              <a:spcAft>
                <a:spcPts val="0"/>
              </a:spcAft>
              <a:buClr>
                <a:schemeClr val="dk1"/>
              </a:buClr>
              <a:buSzPts val="1000"/>
              <a:buFont typeface="Open Sans"/>
              <a:buChar char="●"/>
            </a:pPr>
            <a:r>
              <a:rPr lang="en" sz="1000">
                <a:solidFill>
                  <a:schemeClr val="dk1"/>
                </a:solidFill>
                <a:latin typeface="Open Sans Light"/>
                <a:ea typeface="Open Sans Light"/>
                <a:cs typeface="Open Sans Light"/>
                <a:sym typeface="Open Sans"/>
              </a:rPr>
              <a:t>Centraliser et structurer les connaissances du chantier.</a:t>
            </a:r>
            <a:endParaRPr sz="1000">
              <a:solidFill>
                <a:schemeClr val="dk1"/>
              </a:solidFill>
              <a:latin typeface="Open Sans Light"/>
              <a:ea typeface="Open Sans Light"/>
              <a:cs typeface="Open Sans Light"/>
              <a:sym typeface="Open Sans"/>
            </a:endParaRPr>
          </a:p>
          <a:p>
            <a:pPr marL="457200" lvl="0" indent="-292100" algn="l" rtl="0">
              <a:lnSpc>
                <a:spcPct val="115000"/>
              </a:lnSpc>
              <a:spcBef>
                <a:spcPts val="0"/>
              </a:spcBef>
              <a:spcAft>
                <a:spcPts val="0"/>
              </a:spcAft>
              <a:buClr>
                <a:schemeClr val="dk1"/>
              </a:buClr>
              <a:buSzPts val="1000"/>
              <a:buFont typeface="Open Sans"/>
              <a:buChar char="●"/>
            </a:pPr>
            <a:r>
              <a:rPr lang="en" sz="1000">
                <a:solidFill>
                  <a:schemeClr val="dk1"/>
                </a:solidFill>
                <a:latin typeface="Open Sans Light"/>
                <a:ea typeface="Open Sans Light"/>
                <a:cs typeface="Open Sans Light"/>
                <a:sym typeface="Open Sans"/>
              </a:rPr>
              <a:t>Faciliter le partage d’information entre les GT.</a:t>
            </a:r>
            <a:endParaRPr sz="1000">
              <a:solidFill>
                <a:schemeClr val="dk1"/>
              </a:solidFill>
              <a:latin typeface="Open Sans Light"/>
              <a:ea typeface="Open Sans Light"/>
              <a:cs typeface="Open Sans Light"/>
              <a:sym typeface="Open Sans"/>
            </a:endParaRPr>
          </a:p>
          <a:p>
            <a:pPr marL="457200" lvl="0" indent="-292100" algn="l" rtl="0">
              <a:lnSpc>
                <a:spcPct val="115000"/>
              </a:lnSpc>
              <a:spcBef>
                <a:spcPts val="0"/>
              </a:spcBef>
              <a:spcAft>
                <a:spcPts val="0"/>
              </a:spcAft>
              <a:buClr>
                <a:schemeClr val="dk1"/>
              </a:buClr>
              <a:buSzPts val="1000"/>
              <a:buFont typeface="Open Sans"/>
              <a:buChar char="●"/>
            </a:pPr>
            <a:r>
              <a:rPr lang="en" sz="1000">
                <a:solidFill>
                  <a:schemeClr val="dk1"/>
                </a:solidFill>
                <a:latin typeface="Open Sans Light"/>
                <a:ea typeface="Open Sans Light"/>
                <a:cs typeface="Open Sans Light"/>
                <a:sym typeface="Open Sans"/>
              </a:rPr>
              <a:t>Constituer une mémoire durable et réversible du projet.</a:t>
            </a:r>
            <a:endParaRPr sz="1000">
              <a:solidFill>
                <a:schemeClr val="dk1"/>
              </a:solidFill>
              <a:latin typeface="Open Sans Light"/>
              <a:ea typeface="Open Sans Light"/>
              <a:cs typeface="Open Sans Light"/>
              <a:sym typeface="Open Sans"/>
            </a:endParaRPr>
          </a:p>
          <a:p>
            <a:pPr marL="457200" lvl="0" indent="-292100" algn="l" rtl="0">
              <a:lnSpc>
                <a:spcPct val="115000"/>
              </a:lnSpc>
              <a:spcBef>
                <a:spcPts val="0"/>
              </a:spcBef>
              <a:spcAft>
                <a:spcPts val="0"/>
              </a:spcAft>
              <a:buClr>
                <a:schemeClr val="dk1"/>
              </a:buClr>
              <a:buSzPts val="1000"/>
              <a:buFont typeface="Open Sans"/>
              <a:buChar char="●"/>
            </a:pPr>
            <a:r>
              <a:rPr lang="en" sz="1000">
                <a:solidFill>
                  <a:schemeClr val="dk1"/>
                </a:solidFill>
                <a:latin typeface="Open Sans Light"/>
                <a:ea typeface="Open Sans Light"/>
                <a:cs typeface="Open Sans Light"/>
                <a:sym typeface="Open Sans"/>
              </a:rPr>
              <a:t>Expérimenter l’utilisation d’une IA souveraine sur le “cerveau collectif” constitué</a:t>
            </a:r>
            <a:endParaRPr sz="1000">
              <a:solidFill>
                <a:schemeClr val="dk1"/>
              </a:solidFill>
              <a:latin typeface="Open Sans Light"/>
              <a:ea typeface="Open Sans Light"/>
              <a:cs typeface="Open Sans Light"/>
              <a:sym typeface="Open Sans"/>
            </a:endParaRPr>
          </a:p>
          <a:p>
            <a:pPr marL="0" marR="0" lvl="0" indent="0" algn="l" rtl="0">
              <a:lnSpc>
                <a:spcPct val="115000"/>
              </a:lnSpc>
              <a:spcBef>
                <a:spcPts val="1200"/>
              </a:spcBef>
              <a:spcAft>
                <a:spcPts val="0"/>
              </a:spcAft>
              <a:buNone/>
            </a:pPr>
            <a:endParaRPr sz="1100" b="1">
              <a:solidFill>
                <a:srgbClr val="1200C5"/>
              </a:solidFill>
              <a:latin typeface="Open Sans ExtraBold"/>
              <a:ea typeface="Open Sans ExtraBold"/>
              <a:cs typeface="Open Sans ExtraBold"/>
              <a:sym typeface="Open Sans"/>
            </a:endParaRPr>
          </a:p>
        </p:txBody>
      </p:sp>
      <p:sp>
        <p:nvSpPr>
          <p:cNvPr id="215" name="Google Shape;215;p25"/>
          <p:cNvSpPr txBox="1"/>
          <p:nvPr/>
        </p:nvSpPr>
        <p:spPr>
          <a:xfrm>
            <a:off x="388352" y="239025"/>
            <a:ext cx="34227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b="1">
                <a:solidFill>
                  <a:srgbClr val="0A00BE"/>
                </a:solidFill>
                <a:latin typeface="Open Sans ExtraBold"/>
                <a:ea typeface="Open Sans ExtraBold"/>
                <a:cs typeface="Open Sans ExtraBold"/>
                <a:sym typeface="Open Sans"/>
              </a:rPr>
              <a:t>GT2 - Gestion de la connaissance</a:t>
            </a:r>
            <a:endParaRPr b="1" i="0" u="none" strike="noStrike" cap="none">
              <a:solidFill>
                <a:srgbClr val="234291"/>
              </a:solidFill>
              <a:latin typeface="Open Sans ExtraBold"/>
              <a:ea typeface="Open Sans ExtraBold"/>
              <a:cs typeface="Open Sans ExtraBold"/>
              <a:sym typeface="Open Sans"/>
            </a:endParaRPr>
          </a:p>
        </p:txBody>
      </p:sp>
      <p:sp>
        <p:nvSpPr>
          <p:cNvPr id="216" name="Google Shape;216;p25"/>
          <p:cNvSpPr txBox="1"/>
          <p:nvPr/>
        </p:nvSpPr>
        <p:spPr>
          <a:xfrm>
            <a:off x="2316893" y="1111200"/>
            <a:ext cx="16179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b="1">
                <a:highlight>
                  <a:srgbClr val="FFFFFF"/>
                </a:highlight>
                <a:latin typeface="Open Sans ExtraBold"/>
                <a:ea typeface="Open Sans ExtraBold"/>
                <a:cs typeface="Open Sans ExtraBold"/>
                <a:sym typeface="Open Sans"/>
              </a:rPr>
              <a:t>Thierry CHAPPÉ</a:t>
            </a:r>
            <a:endParaRPr sz="800">
              <a:solidFill>
                <a:srgbClr val="000000"/>
              </a:solidFill>
              <a:highlight>
                <a:srgbClr val="FFFFFF"/>
              </a:highlight>
              <a:latin typeface="Open Sans Light"/>
              <a:ea typeface="Open Sans Light"/>
              <a:cs typeface="Open Sans Light"/>
              <a:sym typeface="Open Sans"/>
            </a:endParaRPr>
          </a:p>
        </p:txBody>
      </p:sp>
      <p:pic>
        <p:nvPicPr>
          <p:cNvPr id="217" name="Google Shape;217;p25"/>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536250" y="1111200"/>
            <a:ext cx="358175" cy="338276"/>
          </a:xfrm>
          <a:prstGeom prst="rect">
            <a:avLst/>
          </a:prstGeom>
          <a:noFill/>
          <a:ln>
            <a:noFill/>
          </a:ln>
        </p:spPr>
      </p:pic>
      <p:sp>
        <p:nvSpPr>
          <p:cNvPr id="218" name="Google Shape;218;p25"/>
          <p:cNvSpPr txBox="1"/>
          <p:nvPr/>
        </p:nvSpPr>
        <p:spPr>
          <a:xfrm>
            <a:off x="879057" y="1126450"/>
            <a:ext cx="8529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b="1">
                <a:highlight>
                  <a:srgbClr val="FFFFFF"/>
                </a:highlight>
                <a:latin typeface="Open Sans ExtraBold"/>
                <a:ea typeface="Open Sans ExtraBold"/>
                <a:cs typeface="Open Sans ExtraBold"/>
                <a:sym typeface="Open Sans"/>
              </a:rPr>
              <a:t>Fabrice LARD</a:t>
            </a:r>
            <a:endParaRPr sz="800">
              <a:solidFill>
                <a:srgbClr val="000000"/>
              </a:solidFill>
              <a:highlight>
                <a:srgbClr val="FFFFFF"/>
              </a:highlight>
              <a:latin typeface="Open Sans Light"/>
              <a:ea typeface="Open Sans Light"/>
              <a:cs typeface="Open Sans Light"/>
              <a:sym typeface="Open Sans"/>
            </a:endParaRPr>
          </a:p>
        </p:txBody>
      </p:sp>
      <p:sp>
        <p:nvSpPr>
          <p:cNvPr id="219" name="Google Shape;219;p25"/>
          <p:cNvSpPr/>
          <p:nvPr/>
        </p:nvSpPr>
        <p:spPr>
          <a:xfrm>
            <a:off x="561438" y="1498250"/>
            <a:ext cx="307800" cy="3078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25"/>
          <p:cNvSpPr txBox="1"/>
          <p:nvPr/>
        </p:nvSpPr>
        <p:spPr>
          <a:xfrm>
            <a:off x="872699" y="1483125"/>
            <a:ext cx="10179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b="1">
                <a:highlight>
                  <a:srgbClr val="FFFFFF"/>
                </a:highlight>
                <a:latin typeface="Open Sans ExtraBold"/>
                <a:ea typeface="Open Sans ExtraBold"/>
                <a:cs typeface="Open Sans ExtraBold"/>
                <a:sym typeface="Open Sans"/>
              </a:rPr>
              <a:t>Marc LEFEVRE</a:t>
            </a:r>
            <a:endParaRPr sz="800">
              <a:solidFill>
                <a:srgbClr val="000000"/>
              </a:solidFill>
              <a:highlight>
                <a:srgbClr val="FFFFFF"/>
              </a:highlight>
              <a:latin typeface="Open Sans Light"/>
              <a:ea typeface="Open Sans Light"/>
              <a:cs typeface="Open Sans Light"/>
              <a:sym typeface="Open Sans"/>
            </a:endParaRPr>
          </a:p>
        </p:txBody>
      </p:sp>
      <p:pic>
        <p:nvPicPr>
          <p:cNvPr id="221" name="Google Shape;221;p25"/>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519750" y="1483125"/>
            <a:ext cx="4497398" cy="3131489"/>
          </a:xfrm>
          <a:prstGeom prst="rect">
            <a:avLst/>
          </a:prstGeom>
          <a:noFill/>
          <a:ln>
            <a:noFill/>
          </a:ln>
        </p:spPr>
      </p:pic>
      <p:pic>
        <p:nvPicPr>
          <p:cNvPr id="222" name="Google Shape;222;p25"/>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519750" y="742328"/>
            <a:ext cx="1233667" cy="307800"/>
          </a:xfrm>
          <a:prstGeom prst="rect">
            <a:avLst/>
          </a:prstGeom>
          <a:noFill/>
          <a:ln>
            <a:noFill/>
          </a:ln>
        </p:spPr>
      </p:pic>
      <p:sp>
        <p:nvSpPr>
          <p:cNvPr id="223" name="Google Shape;223;p25"/>
          <p:cNvSpPr txBox="1"/>
          <p:nvPr/>
        </p:nvSpPr>
        <p:spPr>
          <a:xfrm>
            <a:off x="2331864" y="1474842"/>
            <a:ext cx="16179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b="1">
                <a:highlight>
                  <a:srgbClr val="FFFFFF"/>
                </a:highlight>
                <a:latin typeface="Open Sans ExtraBold"/>
                <a:ea typeface="Open Sans ExtraBold"/>
                <a:cs typeface="Open Sans ExtraBold"/>
                <a:sym typeface="Open Sans"/>
              </a:rPr>
              <a:t>Duc PHAN</a:t>
            </a:r>
            <a:endParaRPr sz="800">
              <a:solidFill>
                <a:srgbClr val="000000"/>
              </a:solidFill>
              <a:highlight>
                <a:srgbClr val="FFFFFF"/>
              </a:highlight>
              <a:latin typeface="Open Sans Light"/>
              <a:ea typeface="Open Sans Light"/>
              <a:cs typeface="Open Sans Light"/>
              <a:sym typeface="Open Sans"/>
            </a:endParaRPr>
          </a:p>
        </p:txBody>
      </p:sp>
      <p:pic>
        <p:nvPicPr>
          <p:cNvPr id="224" name="Google Shape;224;p25"/>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1910615" y="1383734"/>
            <a:ext cx="459200" cy="485000"/>
          </a:xfrm>
          <a:prstGeom prst="rect">
            <a:avLst/>
          </a:prstGeom>
          <a:noFill/>
          <a:ln>
            <a:noFill/>
          </a:ln>
        </p:spPr>
      </p:pic>
      <p:pic>
        <p:nvPicPr>
          <p:cNvPr id="225" name="Google Shape;225;p25"/>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1962800" y="1089475"/>
            <a:ext cx="358175" cy="3512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26"/>
          <p:cNvSpPr txBox="1"/>
          <p:nvPr/>
        </p:nvSpPr>
        <p:spPr>
          <a:xfrm>
            <a:off x="454700" y="742325"/>
            <a:ext cx="3887100" cy="38988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sz="1000" b="1">
                <a:solidFill>
                  <a:srgbClr val="1200C5"/>
                </a:solidFill>
                <a:latin typeface="Open Sans ExtraBold"/>
                <a:ea typeface="Open Sans ExtraBold"/>
                <a:cs typeface="Open Sans ExtraBold"/>
                <a:sym typeface="Open Sans"/>
              </a:rPr>
              <a:t>Participants</a:t>
            </a:r>
            <a:endParaRPr sz="1000" b="1">
              <a:solidFill>
                <a:srgbClr val="1200C5"/>
              </a:solidFill>
              <a:latin typeface="Open Sans ExtraBold"/>
              <a:ea typeface="Open Sans ExtraBold"/>
              <a:cs typeface="Open Sans ExtraBold"/>
              <a:sym typeface="Open Sans"/>
            </a:endParaRPr>
          </a:p>
          <a:p>
            <a:pPr marL="0" marR="0" lvl="0" indent="0" algn="l" rtl="0">
              <a:lnSpc>
                <a:spcPct val="115000"/>
              </a:lnSpc>
              <a:spcBef>
                <a:spcPts val="0"/>
              </a:spcBef>
              <a:spcAft>
                <a:spcPts val="0"/>
              </a:spcAft>
              <a:buNone/>
            </a:pPr>
            <a:endParaRPr sz="1000">
              <a:solidFill>
                <a:schemeClr val="dk1"/>
              </a:solidFill>
              <a:latin typeface="Open Sans Light"/>
              <a:ea typeface="Open Sans Light"/>
              <a:cs typeface="Open Sans Light"/>
              <a:sym typeface="Open Sans"/>
            </a:endParaRPr>
          </a:p>
          <a:p>
            <a:pPr marL="0" marR="0" lvl="0" indent="0" algn="l" rtl="0">
              <a:lnSpc>
                <a:spcPct val="115000"/>
              </a:lnSpc>
              <a:spcBef>
                <a:spcPts val="0"/>
              </a:spcBef>
              <a:spcAft>
                <a:spcPts val="0"/>
              </a:spcAft>
              <a:buNone/>
            </a:pPr>
            <a:endParaRPr sz="1000">
              <a:solidFill>
                <a:schemeClr val="dk1"/>
              </a:solidFill>
              <a:latin typeface="Open Sans Light"/>
              <a:ea typeface="Open Sans Light"/>
              <a:cs typeface="Open Sans Light"/>
              <a:sym typeface="Open Sans"/>
            </a:endParaRPr>
          </a:p>
          <a:p>
            <a:pPr marL="0" lvl="0" indent="0" algn="l" rtl="0">
              <a:lnSpc>
                <a:spcPct val="115000"/>
              </a:lnSpc>
              <a:spcBef>
                <a:spcPts val="1200"/>
              </a:spcBef>
              <a:spcAft>
                <a:spcPts val="0"/>
              </a:spcAft>
              <a:buNone/>
            </a:pPr>
            <a:endParaRPr sz="1000" b="1">
              <a:solidFill>
                <a:srgbClr val="1200C5"/>
              </a:solidFill>
              <a:latin typeface="Open Sans ExtraBold"/>
              <a:ea typeface="Open Sans ExtraBold"/>
              <a:cs typeface="Open Sans ExtraBold"/>
              <a:sym typeface="Open Sans"/>
            </a:endParaRPr>
          </a:p>
          <a:p>
            <a:pPr marL="0" lvl="0" indent="0" algn="l" rtl="0">
              <a:lnSpc>
                <a:spcPct val="115000"/>
              </a:lnSpc>
              <a:spcBef>
                <a:spcPts val="1200"/>
              </a:spcBef>
              <a:spcAft>
                <a:spcPts val="0"/>
              </a:spcAft>
              <a:buNone/>
            </a:pPr>
            <a:r>
              <a:rPr lang="en" sz="1000" b="1">
                <a:solidFill>
                  <a:srgbClr val="1200C5"/>
                </a:solidFill>
                <a:latin typeface="Open Sans ExtraBold"/>
                <a:ea typeface="Open Sans ExtraBold"/>
                <a:cs typeface="Open Sans ExtraBold"/>
                <a:sym typeface="Open Sans"/>
              </a:rPr>
              <a:t>Description</a:t>
            </a:r>
            <a:br>
              <a:rPr lang="en" sz="1000" b="1">
                <a:solidFill>
                  <a:schemeClr val="dk1"/>
                </a:solidFill>
                <a:latin typeface="Open Sans ExtraBold"/>
                <a:ea typeface="Open Sans ExtraBold"/>
                <a:cs typeface="Open Sans ExtraBold"/>
                <a:sym typeface="Open Sans"/>
              </a:rPr>
            </a:br>
            <a:r>
              <a:rPr lang="en" sz="1000">
                <a:solidFill>
                  <a:schemeClr val="dk1"/>
                </a:solidFill>
                <a:latin typeface="Open Sans Light"/>
                <a:ea typeface="Open Sans Light"/>
                <a:cs typeface="Open Sans Light"/>
                <a:sym typeface="Open Sans"/>
              </a:rPr>
              <a:t>Organiser des entretiens avec des experts internes à Paradigm, des administrations régionales et des acteurs externes afin de confronter les travaux du chantier à la réalité opérationnelle et aux spécificités de la Région bruxelloise.</a:t>
            </a:r>
            <a:endParaRPr sz="1000">
              <a:solidFill>
                <a:schemeClr val="dk1"/>
              </a:solidFill>
              <a:latin typeface="Open Sans Light"/>
              <a:ea typeface="Open Sans Light"/>
              <a:cs typeface="Open Sans Light"/>
              <a:sym typeface="Open Sans"/>
            </a:endParaRPr>
          </a:p>
          <a:p>
            <a:pPr marL="0" lvl="0" indent="0" algn="l" rtl="0">
              <a:lnSpc>
                <a:spcPct val="115000"/>
              </a:lnSpc>
              <a:spcBef>
                <a:spcPts val="1200"/>
              </a:spcBef>
              <a:spcAft>
                <a:spcPts val="0"/>
              </a:spcAft>
              <a:buNone/>
            </a:pPr>
            <a:r>
              <a:rPr lang="en" sz="1000" b="1">
                <a:solidFill>
                  <a:srgbClr val="1200C5"/>
                </a:solidFill>
                <a:latin typeface="Open Sans ExtraBold"/>
                <a:ea typeface="Open Sans ExtraBold"/>
                <a:cs typeface="Open Sans ExtraBold"/>
                <a:sym typeface="Open Sans"/>
              </a:rPr>
              <a:t>Objectifs</a:t>
            </a:r>
            <a:endParaRPr sz="1000" b="1">
              <a:solidFill>
                <a:schemeClr val="dk1"/>
              </a:solidFill>
              <a:latin typeface="Open Sans ExtraBold"/>
              <a:ea typeface="Open Sans ExtraBold"/>
              <a:cs typeface="Open Sans ExtraBold"/>
              <a:sym typeface="Open Sans"/>
            </a:endParaRPr>
          </a:p>
          <a:p>
            <a:pPr marL="457200" lvl="0" indent="-292100" algn="l" rtl="0">
              <a:lnSpc>
                <a:spcPct val="115000"/>
              </a:lnSpc>
              <a:spcBef>
                <a:spcPts val="1200"/>
              </a:spcBef>
              <a:spcAft>
                <a:spcPts val="0"/>
              </a:spcAft>
              <a:buClr>
                <a:schemeClr val="dk1"/>
              </a:buClr>
              <a:buSzPts val="1000"/>
              <a:buFont typeface="Open Sans"/>
              <a:buChar char="●"/>
            </a:pPr>
            <a:r>
              <a:rPr lang="en" sz="1000">
                <a:solidFill>
                  <a:schemeClr val="dk1"/>
                </a:solidFill>
                <a:latin typeface="Open Sans Light"/>
                <a:ea typeface="Open Sans Light"/>
                <a:cs typeface="Open Sans Light"/>
                <a:sym typeface="Open Sans"/>
              </a:rPr>
              <a:t>Recueillir des retours d’expérience concrets, les positionnements intéressants, les points de vue pertinents ...</a:t>
            </a:r>
            <a:endParaRPr sz="1000">
              <a:solidFill>
                <a:schemeClr val="dk1"/>
              </a:solidFill>
              <a:latin typeface="Open Sans Light"/>
              <a:ea typeface="Open Sans Light"/>
              <a:cs typeface="Open Sans Light"/>
              <a:sym typeface="Open Sans"/>
            </a:endParaRPr>
          </a:p>
          <a:p>
            <a:pPr marL="457200" lvl="0" indent="-292100" algn="l" rtl="0">
              <a:lnSpc>
                <a:spcPct val="115000"/>
              </a:lnSpc>
              <a:spcBef>
                <a:spcPts val="0"/>
              </a:spcBef>
              <a:spcAft>
                <a:spcPts val="0"/>
              </a:spcAft>
              <a:buClr>
                <a:schemeClr val="dk1"/>
              </a:buClr>
              <a:buSzPts val="1000"/>
              <a:buFont typeface="Open Sans"/>
              <a:buChar char="●"/>
            </a:pPr>
            <a:r>
              <a:rPr lang="en" sz="1000">
                <a:solidFill>
                  <a:schemeClr val="dk1"/>
                </a:solidFill>
                <a:latin typeface="Open Sans Light"/>
                <a:ea typeface="Open Sans Light"/>
                <a:cs typeface="Open Sans Light"/>
                <a:sym typeface="Open Sans"/>
              </a:rPr>
              <a:t>Collecter les expertise locales, l’historique et les spécificités de la région</a:t>
            </a:r>
            <a:endParaRPr sz="1000">
              <a:solidFill>
                <a:schemeClr val="dk1"/>
              </a:solidFill>
              <a:latin typeface="Open Sans Light"/>
              <a:ea typeface="Open Sans Light"/>
              <a:cs typeface="Open Sans Light"/>
              <a:sym typeface="Open Sans"/>
            </a:endParaRPr>
          </a:p>
          <a:p>
            <a:pPr marL="457200" lvl="0" indent="-292100" algn="l" rtl="0">
              <a:lnSpc>
                <a:spcPct val="115000"/>
              </a:lnSpc>
              <a:spcBef>
                <a:spcPts val="0"/>
              </a:spcBef>
              <a:spcAft>
                <a:spcPts val="0"/>
              </a:spcAft>
              <a:buClr>
                <a:schemeClr val="dk1"/>
              </a:buClr>
              <a:buSzPts val="1000"/>
              <a:buFont typeface="Open Sans"/>
              <a:buChar char="●"/>
            </a:pPr>
            <a:r>
              <a:rPr lang="en" sz="1000">
                <a:solidFill>
                  <a:schemeClr val="dk1"/>
                </a:solidFill>
                <a:latin typeface="Open Sans Light"/>
                <a:ea typeface="Open Sans Light"/>
                <a:cs typeface="Open Sans Light"/>
                <a:sym typeface="Open Sans"/>
              </a:rPr>
              <a:t>Identifier les contraintes techniques, financières, humaines et organisationnelles locales.</a:t>
            </a:r>
            <a:endParaRPr sz="1000">
              <a:solidFill>
                <a:schemeClr val="dk1"/>
              </a:solidFill>
              <a:latin typeface="Open Sans Light"/>
              <a:ea typeface="Open Sans Light"/>
              <a:cs typeface="Open Sans Light"/>
              <a:sym typeface="Open Sans"/>
            </a:endParaRPr>
          </a:p>
          <a:p>
            <a:pPr marL="457200" lvl="0" indent="-292100" algn="l" rtl="0">
              <a:lnSpc>
                <a:spcPct val="115000"/>
              </a:lnSpc>
              <a:spcBef>
                <a:spcPts val="0"/>
              </a:spcBef>
              <a:spcAft>
                <a:spcPts val="0"/>
              </a:spcAft>
              <a:buClr>
                <a:schemeClr val="dk1"/>
              </a:buClr>
              <a:buSzPts val="1000"/>
              <a:buFont typeface="Open Sans"/>
              <a:buChar char="●"/>
            </a:pPr>
            <a:r>
              <a:rPr lang="en" sz="1000">
                <a:solidFill>
                  <a:schemeClr val="dk1"/>
                </a:solidFill>
                <a:latin typeface="Open Sans Light"/>
                <a:ea typeface="Open Sans Light"/>
                <a:cs typeface="Open Sans Light"/>
                <a:sym typeface="Open Sans"/>
              </a:rPr>
              <a:t>Faire émerger des idées d’actions et de projets pilotes.</a:t>
            </a:r>
            <a:endParaRPr sz="1000">
              <a:solidFill>
                <a:schemeClr val="dk1"/>
              </a:solidFill>
              <a:latin typeface="Open Sans Light"/>
              <a:ea typeface="Open Sans Light"/>
              <a:cs typeface="Open Sans Light"/>
              <a:sym typeface="Open Sans"/>
            </a:endParaRPr>
          </a:p>
          <a:p>
            <a:pPr marL="457200" lvl="0" indent="0" algn="l" rtl="0">
              <a:lnSpc>
                <a:spcPct val="115000"/>
              </a:lnSpc>
              <a:spcBef>
                <a:spcPts val="1200"/>
              </a:spcBef>
              <a:spcAft>
                <a:spcPts val="0"/>
              </a:spcAft>
              <a:buNone/>
            </a:pPr>
            <a:endParaRPr sz="1000">
              <a:solidFill>
                <a:schemeClr val="dk1"/>
              </a:solidFill>
              <a:latin typeface="Open Sans Light"/>
              <a:ea typeface="Open Sans Light"/>
              <a:cs typeface="Open Sans Light"/>
              <a:sym typeface="Open Sans"/>
            </a:endParaRPr>
          </a:p>
          <a:p>
            <a:pPr marL="457200" lvl="0" indent="0" algn="l" rtl="0">
              <a:lnSpc>
                <a:spcPct val="115000"/>
              </a:lnSpc>
              <a:spcBef>
                <a:spcPts val="1200"/>
              </a:spcBef>
              <a:spcAft>
                <a:spcPts val="0"/>
              </a:spcAft>
              <a:buNone/>
            </a:pPr>
            <a:endParaRPr sz="1000">
              <a:solidFill>
                <a:schemeClr val="dk1"/>
              </a:solidFill>
              <a:latin typeface="Open Sans Light"/>
              <a:ea typeface="Open Sans Light"/>
              <a:cs typeface="Open Sans Light"/>
              <a:sym typeface="Open Sans"/>
            </a:endParaRPr>
          </a:p>
          <a:p>
            <a:pPr marL="0" marR="0" lvl="0" indent="0" algn="l" rtl="0">
              <a:lnSpc>
                <a:spcPct val="115000"/>
              </a:lnSpc>
              <a:spcBef>
                <a:spcPts val="1200"/>
              </a:spcBef>
              <a:spcAft>
                <a:spcPts val="0"/>
              </a:spcAft>
              <a:buNone/>
            </a:pPr>
            <a:endParaRPr sz="1100" b="1">
              <a:solidFill>
                <a:srgbClr val="1200C5"/>
              </a:solidFill>
              <a:latin typeface="Open Sans ExtraBold"/>
              <a:ea typeface="Open Sans ExtraBold"/>
              <a:cs typeface="Open Sans ExtraBold"/>
              <a:sym typeface="Open Sans"/>
            </a:endParaRPr>
          </a:p>
        </p:txBody>
      </p:sp>
      <p:sp>
        <p:nvSpPr>
          <p:cNvPr id="231" name="Google Shape;231;p26"/>
          <p:cNvSpPr txBox="1"/>
          <p:nvPr/>
        </p:nvSpPr>
        <p:spPr>
          <a:xfrm>
            <a:off x="388350" y="239025"/>
            <a:ext cx="43323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b="1">
                <a:solidFill>
                  <a:srgbClr val="0A00BE"/>
                </a:solidFill>
                <a:latin typeface="Open Sans ExtraBold"/>
                <a:ea typeface="Open Sans ExtraBold"/>
                <a:cs typeface="Open Sans ExtraBold"/>
                <a:sym typeface="Open Sans"/>
              </a:rPr>
              <a:t>GT 3 – Interviews et retours d’expérience</a:t>
            </a:r>
            <a:endParaRPr b="1" i="0" u="none" strike="noStrike" cap="none">
              <a:solidFill>
                <a:srgbClr val="234291"/>
              </a:solidFill>
              <a:latin typeface="Open Sans ExtraBold"/>
              <a:ea typeface="Open Sans ExtraBold"/>
              <a:cs typeface="Open Sans ExtraBold"/>
              <a:sym typeface="Open Sans"/>
            </a:endParaRPr>
          </a:p>
        </p:txBody>
      </p:sp>
      <p:sp>
        <p:nvSpPr>
          <p:cNvPr id="232" name="Google Shape;232;p26"/>
          <p:cNvSpPr/>
          <p:nvPr/>
        </p:nvSpPr>
        <p:spPr>
          <a:xfrm>
            <a:off x="4823425" y="7450"/>
            <a:ext cx="4332300" cy="5143500"/>
          </a:xfrm>
          <a:prstGeom prst="rect">
            <a:avLst/>
          </a:prstGeom>
          <a:solidFill>
            <a:srgbClr val="134F5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3" name="Google Shape;233;p26"/>
          <p:cNvSpPr txBox="1"/>
          <p:nvPr/>
        </p:nvSpPr>
        <p:spPr>
          <a:xfrm>
            <a:off x="5234250" y="159301"/>
            <a:ext cx="3677100" cy="4984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100" b="1">
                <a:solidFill>
                  <a:schemeClr val="lt1"/>
                </a:solidFill>
                <a:latin typeface="Open Sans ExtraBold"/>
                <a:ea typeface="Open Sans ExtraBold"/>
                <a:cs typeface="Open Sans ExtraBold"/>
                <a:sym typeface="Open Sans"/>
              </a:rPr>
              <a:t>Tâches / Livrables</a:t>
            </a:r>
            <a:endParaRPr sz="1100">
              <a:solidFill>
                <a:schemeClr val="lt1"/>
              </a:solidFill>
              <a:latin typeface="Open Sans Light"/>
              <a:ea typeface="Open Sans Light"/>
              <a:cs typeface="Open Sans Light"/>
              <a:sym typeface="Open Sans"/>
            </a:endParaRPr>
          </a:p>
          <a:p>
            <a:pPr marL="457200" lvl="0" indent="-298450" algn="l" rtl="0">
              <a:lnSpc>
                <a:spcPct val="115000"/>
              </a:lnSpc>
              <a:spcBef>
                <a:spcPts val="1200"/>
              </a:spcBef>
              <a:spcAft>
                <a:spcPts val="0"/>
              </a:spcAft>
              <a:buClr>
                <a:schemeClr val="lt1"/>
              </a:buClr>
              <a:buSzPts val="1100"/>
              <a:buFont typeface="Open Sans"/>
              <a:buChar char="❏"/>
            </a:pPr>
            <a:r>
              <a:rPr lang="en" sz="1100">
                <a:solidFill>
                  <a:schemeClr val="lt1"/>
                </a:solidFill>
                <a:latin typeface="Open Sans Light"/>
                <a:ea typeface="Open Sans Light"/>
                <a:cs typeface="Open Sans Light"/>
                <a:sym typeface="Open Sans"/>
              </a:rPr>
              <a:t>Création d’un guide d’entretien commun.</a:t>
            </a:r>
            <a:endParaRPr sz="1100">
              <a:solidFill>
                <a:schemeClr val="lt1"/>
              </a:solidFill>
              <a:latin typeface="Open Sans Light"/>
              <a:ea typeface="Open Sans Light"/>
              <a:cs typeface="Open Sans Light"/>
              <a:sym typeface="Open Sans"/>
            </a:endParaRPr>
          </a:p>
          <a:p>
            <a:pPr marL="457200" lvl="0" indent="-298450" algn="l" rtl="0">
              <a:lnSpc>
                <a:spcPct val="115000"/>
              </a:lnSpc>
              <a:spcBef>
                <a:spcPts val="0"/>
              </a:spcBef>
              <a:spcAft>
                <a:spcPts val="0"/>
              </a:spcAft>
              <a:buClr>
                <a:schemeClr val="lt1"/>
              </a:buClr>
              <a:buSzPts val="1100"/>
              <a:buFont typeface="Open Sans"/>
              <a:buChar char="❏"/>
            </a:pPr>
            <a:r>
              <a:rPr lang="en" sz="1100">
                <a:solidFill>
                  <a:schemeClr val="lt1"/>
                </a:solidFill>
                <a:latin typeface="Open Sans Light"/>
                <a:ea typeface="Open Sans Light"/>
                <a:cs typeface="Open Sans Light"/>
                <a:sym typeface="Open Sans"/>
              </a:rPr>
              <a:t>Identifier les profils à interviewer en interne et en externe.</a:t>
            </a:r>
            <a:endParaRPr sz="1100">
              <a:solidFill>
                <a:schemeClr val="lt1"/>
              </a:solidFill>
              <a:latin typeface="Open Sans Light"/>
              <a:ea typeface="Open Sans Light"/>
              <a:cs typeface="Open Sans Light"/>
              <a:sym typeface="Open Sans"/>
            </a:endParaRPr>
          </a:p>
          <a:p>
            <a:pPr marL="457200" lvl="0" indent="-298450" algn="l" rtl="0">
              <a:lnSpc>
                <a:spcPct val="115000"/>
              </a:lnSpc>
              <a:spcBef>
                <a:spcPts val="0"/>
              </a:spcBef>
              <a:spcAft>
                <a:spcPts val="0"/>
              </a:spcAft>
              <a:buClr>
                <a:schemeClr val="lt1"/>
              </a:buClr>
              <a:buSzPts val="1100"/>
              <a:buFont typeface="Open Sans"/>
              <a:buChar char="❏"/>
            </a:pPr>
            <a:r>
              <a:rPr lang="en" sz="1100">
                <a:solidFill>
                  <a:schemeClr val="lt1"/>
                </a:solidFill>
                <a:latin typeface="Open Sans Light"/>
                <a:ea typeface="Open Sans Light"/>
                <a:cs typeface="Open Sans Light"/>
                <a:sym typeface="Open Sans"/>
              </a:rPr>
              <a:t>Organiser et réaliser les interviews.</a:t>
            </a:r>
            <a:endParaRPr sz="1100">
              <a:solidFill>
                <a:schemeClr val="lt1"/>
              </a:solidFill>
              <a:latin typeface="Open Sans Light"/>
              <a:ea typeface="Open Sans Light"/>
              <a:cs typeface="Open Sans Light"/>
              <a:sym typeface="Open Sans"/>
            </a:endParaRPr>
          </a:p>
          <a:p>
            <a:pPr marL="457200" lvl="0" indent="-298450" algn="l" rtl="0">
              <a:lnSpc>
                <a:spcPct val="115000"/>
              </a:lnSpc>
              <a:spcBef>
                <a:spcPts val="0"/>
              </a:spcBef>
              <a:spcAft>
                <a:spcPts val="0"/>
              </a:spcAft>
              <a:buClr>
                <a:schemeClr val="lt1"/>
              </a:buClr>
              <a:buSzPts val="1100"/>
              <a:buFont typeface="Open Sans"/>
              <a:buChar char="❏"/>
            </a:pPr>
            <a:r>
              <a:rPr lang="en" sz="1100">
                <a:solidFill>
                  <a:schemeClr val="lt1"/>
                </a:solidFill>
                <a:latin typeface="Open Sans Light"/>
                <a:ea typeface="Open Sans Light"/>
                <a:cs typeface="Open Sans Light"/>
                <a:sym typeface="Open Sans"/>
              </a:rPr>
              <a:t>Comptes rendus structurés.</a:t>
            </a:r>
            <a:endParaRPr sz="1100">
              <a:solidFill>
                <a:schemeClr val="lt1"/>
              </a:solidFill>
              <a:latin typeface="Open Sans Light"/>
              <a:ea typeface="Open Sans Light"/>
              <a:cs typeface="Open Sans Light"/>
              <a:sym typeface="Open Sans"/>
            </a:endParaRPr>
          </a:p>
          <a:p>
            <a:pPr marL="457200" lvl="0" indent="-298450" algn="l" rtl="0">
              <a:lnSpc>
                <a:spcPct val="115000"/>
              </a:lnSpc>
              <a:spcBef>
                <a:spcPts val="0"/>
              </a:spcBef>
              <a:spcAft>
                <a:spcPts val="0"/>
              </a:spcAft>
              <a:buClr>
                <a:schemeClr val="lt1"/>
              </a:buClr>
              <a:buSzPts val="1100"/>
              <a:buFont typeface="Open Sans"/>
              <a:buChar char="❏"/>
            </a:pPr>
            <a:r>
              <a:rPr lang="en" sz="1100">
                <a:solidFill>
                  <a:schemeClr val="lt1"/>
                </a:solidFill>
                <a:latin typeface="Open Sans Light"/>
                <a:ea typeface="Open Sans Light"/>
                <a:cs typeface="Open Sans Light"/>
                <a:sym typeface="Open Sans"/>
              </a:rPr>
              <a:t>Synthèse des principaux enseignements et recommandations.</a:t>
            </a:r>
            <a:endParaRPr sz="1100">
              <a:solidFill>
                <a:schemeClr val="lt1"/>
              </a:solidFill>
              <a:latin typeface="Open Sans Light"/>
              <a:ea typeface="Open Sans Light"/>
              <a:cs typeface="Open Sans Light"/>
              <a:sym typeface="Open Sans"/>
            </a:endParaRPr>
          </a:p>
          <a:p>
            <a:pPr marL="0" lvl="0" indent="0" algn="l" rtl="0">
              <a:lnSpc>
                <a:spcPct val="115000"/>
              </a:lnSpc>
              <a:spcBef>
                <a:spcPts val="1200"/>
              </a:spcBef>
              <a:spcAft>
                <a:spcPts val="0"/>
              </a:spcAft>
              <a:buNone/>
            </a:pPr>
            <a:r>
              <a:rPr lang="en" sz="1000" b="1">
                <a:solidFill>
                  <a:schemeClr val="lt1"/>
                </a:solidFill>
                <a:latin typeface="Open Sans ExtraBold"/>
                <a:ea typeface="Open Sans ExtraBold"/>
                <a:cs typeface="Open Sans ExtraBold"/>
                <a:sym typeface="Open Sans"/>
              </a:rPr>
              <a:t>Personnes à interviewer (à compléter)</a:t>
            </a:r>
            <a:endParaRPr sz="1000">
              <a:solidFill>
                <a:schemeClr val="lt1"/>
              </a:solidFill>
              <a:latin typeface="Open Sans Light"/>
              <a:ea typeface="Open Sans Light"/>
              <a:cs typeface="Open Sans Light"/>
              <a:sym typeface="Open Sans"/>
            </a:endParaRPr>
          </a:p>
          <a:p>
            <a:pPr marL="457200" lvl="0" indent="-285750" algn="l" rtl="0">
              <a:lnSpc>
                <a:spcPct val="115000"/>
              </a:lnSpc>
              <a:spcBef>
                <a:spcPts val="1200"/>
              </a:spcBef>
              <a:spcAft>
                <a:spcPts val="0"/>
              </a:spcAft>
              <a:buClr>
                <a:schemeClr val="lt1"/>
              </a:buClr>
              <a:buSzPts val="900"/>
              <a:buFont typeface="Open Sans"/>
              <a:buChar char="●"/>
            </a:pPr>
            <a:r>
              <a:rPr lang="en" sz="900">
                <a:solidFill>
                  <a:schemeClr val="lt1"/>
                </a:solidFill>
                <a:latin typeface="Open Sans Light"/>
                <a:ea typeface="Open Sans Light"/>
                <a:cs typeface="Open Sans Light"/>
                <a:sym typeface="Open Sans"/>
              </a:rPr>
              <a:t>René-Jean</a:t>
            </a:r>
            <a:endParaRPr sz="900">
              <a:solidFill>
                <a:schemeClr val="lt1"/>
              </a:solidFill>
              <a:latin typeface="Open Sans Light"/>
              <a:ea typeface="Open Sans Light"/>
              <a:cs typeface="Open Sans Light"/>
              <a:sym typeface="Open Sans"/>
            </a:endParaRPr>
          </a:p>
          <a:p>
            <a:pPr marL="457200" lvl="0" indent="-285750" algn="l" rtl="0">
              <a:lnSpc>
                <a:spcPct val="115000"/>
              </a:lnSpc>
              <a:spcBef>
                <a:spcPts val="0"/>
              </a:spcBef>
              <a:spcAft>
                <a:spcPts val="0"/>
              </a:spcAft>
              <a:buClr>
                <a:schemeClr val="lt1"/>
              </a:buClr>
              <a:buSzPts val="900"/>
              <a:buFont typeface="Open Sans"/>
              <a:buChar char="●"/>
            </a:pPr>
            <a:r>
              <a:rPr lang="en" sz="900">
                <a:solidFill>
                  <a:schemeClr val="lt1"/>
                </a:solidFill>
                <a:latin typeface="Open Sans Light"/>
                <a:ea typeface="Open Sans Light"/>
                <a:cs typeface="Open Sans Light"/>
                <a:sym typeface="Open Sans"/>
              </a:rPr>
              <a:t>Pascal Van C</a:t>
            </a:r>
            <a:endParaRPr sz="900">
              <a:solidFill>
                <a:schemeClr val="lt1"/>
              </a:solidFill>
              <a:latin typeface="Open Sans Light"/>
              <a:ea typeface="Open Sans Light"/>
              <a:cs typeface="Open Sans Light"/>
              <a:sym typeface="Open Sans"/>
            </a:endParaRPr>
          </a:p>
          <a:p>
            <a:pPr marL="457200" lvl="0" indent="-285750" algn="l" rtl="0">
              <a:lnSpc>
                <a:spcPct val="115000"/>
              </a:lnSpc>
              <a:spcBef>
                <a:spcPts val="0"/>
              </a:spcBef>
              <a:spcAft>
                <a:spcPts val="0"/>
              </a:spcAft>
              <a:buClr>
                <a:schemeClr val="lt1"/>
              </a:buClr>
              <a:buSzPts val="900"/>
              <a:buFont typeface="Open Sans"/>
              <a:buChar char="●"/>
            </a:pPr>
            <a:r>
              <a:rPr lang="en" sz="900">
                <a:solidFill>
                  <a:schemeClr val="lt1"/>
                </a:solidFill>
                <a:latin typeface="Open Sans Light"/>
                <a:ea typeface="Open Sans Light"/>
                <a:cs typeface="Open Sans Light"/>
                <a:sym typeface="Open Sans"/>
              </a:rPr>
              <a:t>Duc</a:t>
            </a:r>
            <a:endParaRPr sz="900">
              <a:solidFill>
                <a:schemeClr val="lt1"/>
              </a:solidFill>
              <a:latin typeface="Open Sans Light"/>
              <a:ea typeface="Open Sans Light"/>
              <a:cs typeface="Open Sans Light"/>
              <a:sym typeface="Open Sans"/>
            </a:endParaRPr>
          </a:p>
          <a:p>
            <a:pPr marL="457200" lvl="0" indent="-285750" algn="l" rtl="0">
              <a:lnSpc>
                <a:spcPct val="115000"/>
              </a:lnSpc>
              <a:spcBef>
                <a:spcPts val="0"/>
              </a:spcBef>
              <a:spcAft>
                <a:spcPts val="0"/>
              </a:spcAft>
              <a:buClr>
                <a:schemeClr val="lt1"/>
              </a:buClr>
              <a:buSzPts val="900"/>
              <a:buFont typeface="Open Sans"/>
              <a:buChar char="●"/>
            </a:pPr>
            <a:r>
              <a:rPr lang="en" sz="900">
                <a:solidFill>
                  <a:schemeClr val="lt1"/>
                </a:solidFill>
                <a:latin typeface="Open Sans Light"/>
                <a:ea typeface="Open Sans Light"/>
                <a:cs typeface="Open Sans Light"/>
                <a:sym typeface="Open Sans"/>
              </a:rPr>
              <a:t>Olivier Lefevre</a:t>
            </a:r>
            <a:endParaRPr sz="900">
              <a:solidFill>
                <a:schemeClr val="lt1"/>
              </a:solidFill>
              <a:latin typeface="Open Sans Light"/>
              <a:ea typeface="Open Sans Light"/>
              <a:cs typeface="Open Sans Light"/>
              <a:sym typeface="Open Sans"/>
            </a:endParaRPr>
          </a:p>
          <a:p>
            <a:pPr marL="457200" lvl="0" indent="-285750" algn="l" rtl="0">
              <a:lnSpc>
                <a:spcPct val="115000"/>
              </a:lnSpc>
              <a:spcBef>
                <a:spcPts val="0"/>
              </a:spcBef>
              <a:spcAft>
                <a:spcPts val="0"/>
              </a:spcAft>
              <a:buClr>
                <a:schemeClr val="lt1"/>
              </a:buClr>
              <a:buSzPts val="900"/>
              <a:buFont typeface="Open Sans"/>
              <a:buChar char="●"/>
            </a:pPr>
            <a:r>
              <a:rPr lang="en" sz="900">
                <a:solidFill>
                  <a:schemeClr val="lt1"/>
                </a:solidFill>
                <a:latin typeface="Open Sans Light"/>
                <a:ea typeface="Open Sans Light"/>
                <a:cs typeface="Open Sans Light"/>
                <a:sym typeface="Open Sans"/>
              </a:rPr>
              <a:t>Paul Aimé</a:t>
            </a:r>
            <a:endParaRPr sz="900">
              <a:solidFill>
                <a:schemeClr val="lt1"/>
              </a:solidFill>
              <a:latin typeface="Open Sans Light"/>
              <a:ea typeface="Open Sans Light"/>
              <a:cs typeface="Open Sans Light"/>
              <a:sym typeface="Open Sans"/>
            </a:endParaRPr>
          </a:p>
          <a:p>
            <a:pPr marL="457200" lvl="0" indent="-285750" algn="l" rtl="0">
              <a:lnSpc>
                <a:spcPct val="115000"/>
              </a:lnSpc>
              <a:spcBef>
                <a:spcPts val="0"/>
              </a:spcBef>
              <a:spcAft>
                <a:spcPts val="0"/>
              </a:spcAft>
              <a:buClr>
                <a:schemeClr val="lt1"/>
              </a:buClr>
              <a:buSzPts val="900"/>
              <a:buFont typeface="Open Sans"/>
              <a:buChar char="●"/>
            </a:pPr>
            <a:endParaRPr sz="900">
              <a:solidFill>
                <a:schemeClr val="lt1"/>
              </a:solidFill>
              <a:latin typeface="Open Sans Light"/>
              <a:ea typeface="Open Sans Light"/>
              <a:cs typeface="Open Sans Light"/>
              <a:sym typeface="Open Sans"/>
            </a:endParaRPr>
          </a:p>
          <a:p>
            <a:pPr marL="457200" lvl="0" indent="-285750" algn="l" rtl="0">
              <a:lnSpc>
                <a:spcPct val="115000"/>
              </a:lnSpc>
              <a:spcBef>
                <a:spcPts val="0"/>
              </a:spcBef>
              <a:spcAft>
                <a:spcPts val="0"/>
              </a:spcAft>
              <a:buClr>
                <a:schemeClr val="lt1"/>
              </a:buClr>
              <a:buSzPts val="900"/>
              <a:buFont typeface="Open Sans"/>
              <a:buChar char="●"/>
            </a:pPr>
            <a:r>
              <a:rPr lang="en" sz="900">
                <a:solidFill>
                  <a:schemeClr val="lt1"/>
                </a:solidFill>
                <a:latin typeface="Open Sans Light"/>
                <a:ea typeface="Open Sans Light"/>
                <a:cs typeface="Open Sans Light"/>
                <a:sym typeface="Open Sans"/>
              </a:rPr>
              <a:t>Jean Luc</a:t>
            </a:r>
            <a:endParaRPr sz="900">
              <a:solidFill>
                <a:schemeClr val="lt1"/>
              </a:solidFill>
              <a:latin typeface="Open Sans Light"/>
              <a:ea typeface="Open Sans Light"/>
              <a:cs typeface="Open Sans Light"/>
              <a:sym typeface="Open Sans"/>
            </a:endParaRPr>
          </a:p>
          <a:p>
            <a:pPr marL="457200" lvl="0" indent="-285750" algn="l" rtl="0">
              <a:lnSpc>
                <a:spcPct val="115000"/>
              </a:lnSpc>
              <a:spcBef>
                <a:spcPts val="0"/>
              </a:spcBef>
              <a:spcAft>
                <a:spcPts val="0"/>
              </a:spcAft>
              <a:buClr>
                <a:schemeClr val="lt1"/>
              </a:buClr>
              <a:buSzPts val="900"/>
              <a:buFont typeface="Open Sans"/>
              <a:buChar char="●"/>
            </a:pPr>
            <a:r>
              <a:rPr lang="en" sz="900">
                <a:solidFill>
                  <a:schemeClr val="lt1"/>
                </a:solidFill>
                <a:latin typeface="Open Sans Light"/>
                <a:ea typeface="Open Sans Light"/>
                <a:cs typeface="Open Sans Light"/>
                <a:sym typeface="Open Sans"/>
              </a:rPr>
              <a:t>Natascha Mertens</a:t>
            </a:r>
            <a:endParaRPr sz="900">
              <a:solidFill>
                <a:schemeClr val="lt1"/>
              </a:solidFill>
              <a:latin typeface="Open Sans Light"/>
              <a:ea typeface="Open Sans Light"/>
              <a:cs typeface="Open Sans Light"/>
              <a:sym typeface="Open Sans"/>
            </a:endParaRPr>
          </a:p>
          <a:p>
            <a:pPr marL="457200" lvl="0" indent="-285750" algn="l" rtl="0">
              <a:lnSpc>
                <a:spcPct val="115000"/>
              </a:lnSpc>
              <a:spcBef>
                <a:spcPts val="0"/>
              </a:spcBef>
              <a:spcAft>
                <a:spcPts val="0"/>
              </a:spcAft>
              <a:buClr>
                <a:schemeClr val="lt1"/>
              </a:buClr>
              <a:buSzPts val="900"/>
              <a:buFont typeface="Open Sans"/>
              <a:buChar char="●"/>
            </a:pPr>
            <a:r>
              <a:rPr lang="en" sz="900">
                <a:solidFill>
                  <a:schemeClr val="lt1"/>
                </a:solidFill>
                <a:latin typeface="Open Sans Light"/>
                <a:ea typeface="Open Sans Light"/>
                <a:cs typeface="Open Sans Light"/>
                <a:sym typeface="Open Sans"/>
              </a:rPr>
              <a:t>Katia </a:t>
            </a:r>
            <a:endParaRPr sz="900">
              <a:solidFill>
                <a:schemeClr val="lt1"/>
              </a:solidFill>
              <a:latin typeface="Open Sans Light"/>
              <a:ea typeface="Open Sans Light"/>
              <a:cs typeface="Open Sans Light"/>
              <a:sym typeface="Open Sans"/>
            </a:endParaRPr>
          </a:p>
          <a:p>
            <a:pPr marL="457200" lvl="0" indent="-285750" algn="l" rtl="0">
              <a:lnSpc>
                <a:spcPct val="115000"/>
              </a:lnSpc>
              <a:spcBef>
                <a:spcPts val="0"/>
              </a:spcBef>
              <a:spcAft>
                <a:spcPts val="0"/>
              </a:spcAft>
              <a:buClr>
                <a:schemeClr val="lt1"/>
              </a:buClr>
              <a:buSzPts val="900"/>
              <a:buFont typeface="Open Sans"/>
              <a:buChar char="●"/>
            </a:pPr>
            <a:r>
              <a:rPr lang="en" sz="900">
                <a:solidFill>
                  <a:schemeClr val="lt1"/>
                </a:solidFill>
                <a:latin typeface="Open Sans Light"/>
                <a:ea typeface="Open Sans Light"/>
                <a:cs typeface="Open Sans Light"/>
                <a:sym typeface="Open Sans"/>
              </a:rPr>
              <a:t>Jean-Philippe Egger</a:t>
            </a:r>
            <a:endParaRPr sz="900">
              <a:solidFill>
                <a:schemeClr val="lt1"/>
              </a:solidFill>
              <a:latin typeface="Open Sans Light"/>
              <a:ea typeface="Open Sans Light"/>
              <a:cs typeface="Open Sans Light"/>
              <a:sym typeface="Open Sans"/>
            </a:endParaRPr>
          </a:p>
          <a:p>
            <a:pPr marL="457200" lvl="0" indent="-285750" algn="l" rtl="0">
              <a:lnSpc>
                <a:spcPct val="115000"/>
              </a:lnSpc>
              <a:spcBef>
                <a:spcPts val="0"/>
              </a:spcBef>
              <a:spcAft>
                <a:spcPts val="0"/>
              </a:spcAft>
              <a:buClr>
                <a:schemeClr val="lt1"/>
              </a:buClr>
              <a:buSzPts val="900"/>
              <a:buFont typeface="Open Sans"/>
              <a:buChar char="●"/>
            </a:pPr>
            <a:r>
              <a:rPr lang="en" sz="900">
                <a:solidFill>
                  <a:schemeClr val="lt1"/>
                </a:solidFill>
                <a:latin typeface="Open Sans Light"/>
                <a:ea typeface="Open Sans Light"/>
                <a:cs typeface="Open Sans Light"/>
                <a:sym typeface="Open Sans"/>
              </a:rPr>
              <a:t>Nathalie </a:t>
            </a:r>
            <a:endParaRPr sz="900">
              <a:solidFill>
                <a:schemeClr val="lt1"/>
              </a:solidFill>
              <a:latin typeface="Open Sans Light"/>
              <a:ea typeface="Open Sans Light"/>
              <a:cs typeface="Open Sans Light"/>
              <a:sym typeface="Open Sans"/>
            </a:endParaRPr>
          </a:p>
          <a:p>
            <a:pPr marL="457200" lvl="0" indent="-285750" algn="l" rtl="0">
              <a:lnSpc>
                <a:spcPct val="115000"/>
              </a:lnSpc>
              <a:spcBef>
                <a:spcPts val="0"/>
              </a:spcBef>
              <a:spcAft>
                <a:spcPts val="0"/>
              </a:spcAft>
              <a:buClr>
                <a:schemeClr val="lt1"/>
              </a:buClr>
              <a:buSzPts val="900"/>
              <a:buFont typeface="Open Sans"/>
              <a:buChar char="●"/>
            </a:pPr>
            <a:r>
              <a:rPr lang="en" sz="900">
                <a:solidFill>
                  <a:schemeClr val="lt1"/>
                </a:solidFill>
                <a:latin typeface="Open Sans Light"/>
                <a:ea typeface="Open Sans Light"/>
                <a:cs typeface="Open Sans Light"/>
                <a:sym typeface="Open Sans"/>
              </a:rPr>
              <a:t>Yves Delvaux</a:t>
            </a:r>
            <a:endParaRPr sz="900">
              <a:solidFill>
                <a:schemeClr val="lt1"/>
              </a:solidFill>
              <a:latin typeface="Open Sans Light"/>
              <a:ea typeface="Open Sans Light"/>
              <a:cs typeface="Open Sans Light"/>
              <a:sym typeface="Open Sans"/>
            </a:endParaRPr>
          </a:p>
          <a:p>
            <a:pPr marL="457200" lvl="0" indent="-285750" algn="l" rtl="0">
              <a:lnSpc>
                <a:spcPct val="115000"/>
              </a:lnSpc>
              <a:spcBef>
                <a:spcPts val="0"/>
              </a:spcBef>
              <a:spcAft>
                <a:spcPts val="0"/>
              </a:spcAft>
              <a:buClr>
                <a:schemeClr val="lt1"/>
              </a:buClr>
              <a:buSzPts val="900"/>
              <a:buFont typeface="Open Sans"/>
              <a:buChar char="●"/>
            </a:pPr>
            <a:r>
              <a:rPr lang="en" sz="900">
                <a:solidFill>
                  <a:schemeClr val="lt1"/>
                </a:solidFill>
                <a:latin typeface="Open Sans Light"/>
                <a:ea typeface="Open Sans Light"/>
                <a:cs typeface="Open Sans Light"/>
                <a:sym typeface="Open Sans"/>
              </a:rPr>
              <a:t>Benoit Fosty </a:t>
            </a:r>
            <a:endParaRPr sz="900">
              <a:solidFill>
                <a:schemeClr val="lt1"/>
              </a:solidFill>
              <a:latin typeface="Open Sans Light"/>
              <a:ea typeface="Open Sans Light"/>
              <a:cs typeface="Open Sans Light"/>
              <a:sym typeface="Open Sans"/>
            </a:endParaRPr>
          </a:p>
          <a:p>
            <a:pPr marL="457200" lvl="0" indent="-285750" algn="l" rtl="0">
              <a:lnSpc>
                <a:spcPct val="115000"/>
              </a:lnSpc>
              <a:spcBef>
                <a:spcPts val="0"/>
              </a:spcBef>
              <a:spcAft>
                <a:spcPts val="0"/>
              </a:spcAft>
              <a:buClr>
                <a:schemeClr val="lt1"/>
              </a:buClr>
              <a:buSzPts val="900"/>
              <a:buFont typeface="Open Sans"/>
              <a:buChar char="●"/>
            </a:pPr>
            <a:r>
              <a:rPr lang="en" sz="900">
                <a:solidFill>
                  <a:schemeClr val="lt1"/>
                </a:solidFill>
                <a:latin typeface="Open Sans Light"/>
                <a:ea typeface="Open Sans Light"/>
                <a:cs typeface="Open Sans Light"/>
                <a:sym typeface="Open Sans"/>
              </a:rPr>
              <a:t>Violaine</a:t>
            </a:r>
            <a:endParaRPr sz="900">
              <a:solidFill>
                <a:schemeClr val="lt1"/>
              </a:solidFill>
              <a:latin typeface="Open Sans Light"/>
              <a:ea typeface="Open Sans Light"/>
              <a:cs typeface="Open Sans Light"/>
              <a:sym typeface="Open Sans"/>
            </a:endParaRPr>
          </a:p>
          <a:p>
            <a:pPr marL="457200" lvl="0" indent="-285750" algn="l" rtl="0">
              <a:lnSpc>
                <a:spcPct val="115000"/>
              </a:lnSpc>
              <a:spcBef>
                <a:spcPts val="0"/>
              </a:spcBef>
              <a:spcAft>
                <a:spcPts val="0"/>
              </a:spcAft>
              <a:buClr>
                <a:schemeClr val="lt1"/>
              </a:buClr>
              <a:buSzPts val="900"/>
              <a:buFont typeface="Open Sans"/>
              <a:buChar char="●"/>
            </a:pPr>
            <a:r>
              <a:rPr lang="en" sz="900">
                <a:solidFill>
                  <a:schemeClr val="lt1"/>
                </a:solidFill>
                <a:latin typeface="Open Sans Light"/>
                <a:ea typeface="Open Sans Light"/>
                <a:cs typeface="Open Sans Light"/>
                <a:sym typeface="Open Sans"/>
              </a:rPr>
              <a:t>Steven Hoff</a:t>
            </a:r>
            <a:endParaRPr sz="900">
              <a:solidFill>
                <a:schemeClr val="lt1"/>
              </a:solidFill>
              <a:latin typeface="Open Sans Light"/>
              <a:ea typeface="Open Sans Light"/>
              <a:cs typeface="Open Sans Light"/>
              <a:sym typeface="Open Sans"/>
            </a:endParaRPr>
          </a:p>
          <a:p>
            <a:pPr marL="457200" lvl="0" indent="-285750" algn="l" rtl="0">
              <a:lnSpc>
                <a:spcPct val="115000"/>
              </a:lnSpc>
              <a:spcBef>
                <a:spcPts val="0"/>
              </a:spcBef>
              <a:spcAft>
                <a:spcPts val="0"/>
              </a:spcAft>
              <a:buClr>
                <a:schemeClr val="lt1"/>
              </a:buClr>
              <a:buSzPts val="900"/>
              <a:buFont typeface="Open Sans"/>
              <a:buChar char="●"/>
            </a:pPr>
            <a:endParaRPr sz="900">
              <a:solidFill>
                <a:schemeClr val="lt1"/>
              </a:solidFill>
              <a:latin typeface="Open Sans Light"/>
              <a:ea typeface="Open Sans Light"/>
              <a:cs typeface="Open Sans Light"/>
              <a:sym typeface="Open Sans"/>
            </a:endParaRPr>
          </a:p>
          <a:p>
            <a:pPr marL="0" lvl="0" indent="0" algn="l" rtl="0">
              <a:spcBef>
                <a:spcPts val="1200"/>
              </a:spcBef>
              <a:spcAft>
                <a:spcPts val="0"/>
              </a:spcAft>
              <a:buClr>
                <a:schemeClr val="dk1"/>
              </a:buClr>
              <a:buSzPts val="1100"/>
              <a:buFont typeface="Arial"/>
              <a:buNone/>
            </a:pPr>
            <a:endParaRPr sz="1200" b="1">
              <a:solidFill>
                <a:schemeClr val="lt1"/>
              </a:solidFill>
              <a:latin typeface="Open Sans ExtraBold"/>
              <a:ea typeface="Open Sans ExtraBold"/>
              <a:cs typeface="Open Sans ExtraBold"/>
              <a:sym typeface="Open Sans"/>
            </a:endParaRPr>
          </a:p>
        </p:txBody>
      </p:sp>
      <p:pic>
        <p:nvPicPr>
          <p:cNvPr id="234" name="Google Shape;234;p26"/>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570575" y="1071050"/>
            <a:ext cx="419725" cy="400200"/>
          </a:xfrm>
          <a:prstGeom prst="rect">
            <a:avLst/>
          </a:prstGeom>
          <a:noFill/>
          <a:ln>
            <a:noFill/>
          </a:ln>
        </p:spPr>
      </p:pic>
      <p:sp>
        <p:nvSpPr>
          <p:cNvPr id="235" name="Google Shape;235;p26"/>
          <p:cNvSpPr txBox="1"/>
          <p:nvPr/>
        </p:nvSpPr>
        <p:spPr>
          <a:xfrm>
            <a:off x="990297" y="1117250"/>
            <a:ext cx="1152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b="1">
                <a:highlight>
                  <a:srgbClr val="FFFFFF"/>
                </a:highlight>
                <a:latin typeface="Open Sans ExtraBold"/>
                <a:ea typeface="Open Sans ExtraBold"/>
                <a:cs typeface="Open Sans ExtraBold"/>
                <a:sym typeface="Open Sans"/>
              </a:rPr>
              <a:t>Carole BOICHU</a:t>
            </a:r>
            <a:endParaRPr sz="800">
              <a:solidFill>
                <a:srgbClr val="000000"/>
              </a:solidFill>
              <a:highlight>
                <a:srgbClr val="FFFFFF"/>
              </a:highlight>
              <a:latin typeface="Open Sans Light"/>
              <a:ea typeface="Open Sans Light"/>
              <a:cs typeface="Open Sans Light"/>
              <a:sym typeface="Open Sans"/>
            </a:endParaRPr>
          </a:p>
        </p:txBody>
      </p:sp>
      <p:sp>
        <p:nvSpPr>
          <p:cNvPr id="236" name="Google Shape;236;p26"/>
          <p:cNvSpPr txBox="1"/>
          <p:nvPr/>
        </p:nvSpPr>
        <p:spPr>
          <a:xfrm>
            <a:off x="2639193" y="1117238"/>
            <a:ext cx="16179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b="1">
                <a:highlight>
                  <a:srgbClr val="FFFFFF"/>
                </a:highlight>
                <a:latin typeface="Open Sans ExtraBold"/>
                <a:ea typeface="Open Sans ExtraBold"/>
                <a:cs typeface="Open Sans ExtraBold"/>
                <a:sym typeface="Open Sans"/>
              </a:rPr>
              <a:t>Thierry CHAPPÉ</a:t>
            </a:r>
            <a:endParaRPr sz="800">
              <a:solidFill>
                <a:srgbClr val="000000"/>
              </a:solidFill>
              <a:highlight>
                <a:srgbClr val="FFFFFF"/>
              </a:highlight>
              <a:latin typeface="Open Sans Light"/>
              <a:ea typeface="Open Sans Light"/>
              <a:cs typeface="Open Sans Light"/>
              <a:sym typeface="Open Sans"/>
            </a:endParaRPr>
          </a:p>
        </p:txBody>
      </p:sp>
      <p:pic>
        <p:nvPicPr>
          <p:cNvPr id="237" name="Google Shape;237;p26"/>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2285102" y="1095519"/>
            <a:ext cx="358176" cy="35126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27"/>
          <p:cNvSpPr txBox="1"/>
          <p:nvPr/>
        </p:nvSpPr>
        <p:spPr>
          <a:xfrm>
            <a:off x="454700" y="742325"/>
            <a:ext cx="3887100" cy="38988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sz="1000" b="1">
                <a:solidFill>
                  <a:srgbClr val="1200C5"/>
                </a:solidFill>
                <a:latin typeface="Open Sans ExtraBold"/>
                <a:ea typeface="Open Sans ExtraBold"/>
                <a:cs typeface="Open Sans ExtraBold"/>
                <a:sym typeface="Open Sans"/>
              </a:rPr>
              <a:t>Participants</a:t>
            </a:r>
            <a:endParaRPr sz="1000" b="1">
              <a:solidFill>
                <a:srgbClr val="1200C5"/>
              </a:solidFill>
              <a:latin typeface="Open Sans ExtraBold"/>
              <a:ea typeface="Open Sans ExtraBold"/>
              <a:cs typeface="Open Sans ExtraBold"/>
              <a:sym typeface="Open Sans"/>
            </a:endParaRPr>
          </a:p>
          <a:p>
            <a:pPr marL="0" marR="0" lvl="0" indent="0" algn="l" rtl="0">
              <a:lnSpc>
                <a:spcPct val="115000"/>
              </a:lnSpc>
              <a:spcBef>
                <a:spcPts val="0"/>
              </a:spcBef>
              <a:spcAft>
                <a:spcPts val="0"/>
              </a:spcAft>
              <a:buNone/>
            </a:pPr>
            <a:endParaRPr sz="1000" b="1">
              <a:solidFill>
                <a:srgbClr val="1200C5"/>
              </a:solidFill>
              <a:latin typeface="Open Sans ExtraBold"/>
              <a:ea typeface="Open Sans ExtraBold"/>
              <a:cs typeface="Open Sans ExtraBold"/>
              <a:sym typeface="Open Sans"/>
            </a:endParaRPr>
          </a:p>
          <a:p>
            <a:pPr marL="0" marR="0" lvl="0" indent="0" algn="l" rtl="0">
              <a:lnSpc>
                <a:spcPct val="115000"/>
              </a:lnSpc>
              <a:spcBef>
                <a:spcPts val="0"/>
              </a:spcBef>
              <a:spcAft>
                <a:spcPts val="0"/>
              </a:spcAft>
              <a:buNone/>
            </a:pPr>
            <a:endParaRPr sz="1000">
              <a:solidFill>
                <a:schemeClr val="dk1"/>
              </a:solidFill>
              <a:latin typeface="Open Sans Light"/>
              <a:ea typeface="Open Sans Light"/>
              <a:cs typeface="Open Sans Light"/>
              <a:sym typeface="Open Sans"/>
            </a:endParaRPr>
          </a:p>
          <a:p>
            <a:pPr marL="0" marR="0" lvl="0" indent="0" algn="l" rtl="0">
              <a:lnSpc>
                <a:spcPct val="115000"/>
              </a:lnSpc>
              <a:spcBef>
                <a:spcPts val="0"/>
              </a:spcBef>
              <a:spcAft>
                <a:spcPts val="0"/>
              </a:spcAft>
              <a:buNone/>
            </a:pPr>
            <a:endParaRPr sz="1000">
              <a:solidFill>
                <a:schemeClr val="dk1"/>
              </a:solidFill>
              <a:latin typeface="Open Sans Light"/>
              <a:ea typeface="Open Sans Light"/>
              <a:cs typeface="Open Sans Light"/>
              <a:sym typeface="Open Sans"/>
            </a:endParaRPr>
          </a:p>
          <a:p>
            <a:pPr marL="0" lvl="0" indent="0" algn="l" rtl="0">
              <a:lnSpc>
                <a:spcPct val="115000"/>
              </a:lnSpc>
              <a:spcBef>
                <a:spcPts val="1200"/>
              </a:spcBef>
              <a:spcAft>
                <a:spcPts val="0"/>
              </a:spcAft>
              <a:buNone/>
            </a:pPr>
            <a:r>
              <a:rPr lang="en" sz="1000" b="1">
                <a:solidFill>
                  <a:srgbClr val="1200C5"/>
                </a:solidFill>
                <a:latin typeface="Open Sans ExtraBold"/>
                <a:ea typeface="Open Sans ExtraBold"/>
                <a:cs typeface="Open Sans ExtraBold"/>
                <a:sym typeface="Open Sans"/>
              </a:rPr>
              <a:t>Description</a:t>
            </a:r>
            <a:br>
              <a:rPr lang="en" sz="1000" b="1">
                <a:solidFill>
                  <a:schemeClr val="dk1"/>
                </a:solidFill>
                <a:latin typeface="Open Sans ExtraBold"/>
                <a:ea typeface="Open Sans ExtraBold"/>
                <a:cs typeface="Open Sans ExtraBold"/>
                <a:sym typeface="Open Sans"/>
              </a:rPr>
            </a:br>
            <a:r>
              <a:rPr lang="en" sz="1000">
                <a:solidFill>
                  <a:schemeClr val="dk1"/>
                </a:solidFill>
                <a:latin typeface="Open Sans Light"/>
                <a:ea typeface="Open Sans Light"/>
                <a:cs typeface="Open Sans Light"/>
                <a:sym typeface="Open Sans"/>
              </a:rPr>
              <a:t>Analyser les stratégies, politiques publiques, projets, solutions et retours d’expérience en matière de souveraineté numérique afin d’identifier les approches pertinentes et transposables au contexte bruxellois.</a:t>
            </a:r>
            <a:endParaRPr sz="1000">
              <a:solidFill>
                <a:schemeClr val="dk1"/>
              </a:solidFill>
              <a:latin typeface="Open Sans Light"/>
              <a:ea typeface="Open Sans Light"/>
              <a:cs typeface="Open Sans Light"/>
              <a:sym typeface="Open Sans"/>
            </a:endParaRPr>
          </a:p>
          <a:p>
            <a:pPr marL="0" lvl="0" indent="0" algn="l" rtl="0">
              <a:lnSpc>
                <a:spcPct val="115000"/>
              </a:lnSpc>
              <a:spcBef>
                <a:spcPts val="1200"/>
              </a:spcBef>
              <a:spcAft>
                <a:spcPts val="0"/>
              </a:spcAft>
              <a:buNone/>
            </a:pPr>
            <a:endParaRPr sz="1000">
              <a:solidFill>
                <a:schemeClr val="dk1"/>
              </a:solidFill>
              <a:latin typeface="Open Sans Light"/>
              <a:ea typeface="Open Sans Light"/>
              <a:cs typeface="Open Sans Light"/>
              <a:sym typeface="Open Sans"/>
            </a:endParaRPr>
          </a:p>
          <a:p>
            <a:pPr marL="0" lvl="0" indent="0" algn="l" rtl="0">
              <a:lnSpc>
                <a:spcPct val="115000"/>
              </a:lnSpc>
              <a:spcBef>
                <a:spcPts val="1200"/>
              </a:spcBef>
              <a:spcAft>
                <a:spcPts val="0"/>
              </a:spcAft>
              <a:buNone/>
            </a:pPr>
            <a:r>
              <a:rPr lang="en" sz="1000" b="1">
                <a:solidFill>
                  <a:srgbClr val="1200C5"/>
                </a:solidFill>
                <a:latin typeface="Open Sans ExtraBold"/>
                <a:ea typeface="Open Sans ExtraBold"/>
                <a:cs typeface="Open Sans ExtraBold"/>
                <a:sym typeface="Open Sans"/>
              </a:rPr>
              <a:t>Objectifs</a:t>
            </a:r>
            <a:endParaRPr sz="1000" b="1">
              <a:solidFill>
                <a:schemeClr val="dk1"/>
              </a:solidFill>
              <a:latin typeface="Open Sans ExtraBold"/>
              <a:ea typeface="Open Sans ExtraBold"/>
              <a:cs typeface="Open Sans ExtraBold"/>
              <a:sym typeface="Open Sans"/>
            </a:endParaRPr>
          </a:p>
          <a:p>
            <a:pPr marL="457200" lvl="0" indent="-292100" algn="l" rtl="0">
              <a:lnSpc>
                <a:spcPct val="115000"/>
              </a:lnSpc>
              <a:spcBef>
                <a:spcPts val="1200"/>
              </a:spcBef>
              <a:spcAft>
                <a:spcPts val="0"/>
              </a:spcAft>
              <a:buClr>
                <a:schemeClr val="dk1"/>
              </a:buClr>
              <a:buSzPts val="1000"/>
              <a:buFont typeface="Open Sans"/>
              <a:buChar char="●"/>
            </a:pPr>
            <a:r>
              <a:rPr lang="en" sz="1000">
                <a:solidFill>
                  <a:schemeClr val="dk1"/>
                </a:solidFill>
                <a:latin typeface="Open Sans Light"/>
                <a:ea typeface="Open Sans Light"/>
                <a:cs typeface="Open Sans Light"/>
                <a:sym typeface="Open Sans"/>
              </a:rPr>
              <a:t>Identifier les initiatives de souveraineté numérique</a:t>
            </a:r>
            <a:endParaRPr sz="1000">
              <a:solidFill>
                <a:schemeClr val="dk1"/>
              </a:solidFill>
              <a:latin typeface="Open Sans Light"/>
              <a:ea typeface="Open Sans Light"/>
              <a:cs typeface="Open Sans Light"/>
              <a:sym typeface="Open Sans"/>
            </a:endParaRPr>
          </a:p>
          <a:p>
            <a:pPr marL="457200" lvl="0" indent="-292100" algn="l" rtl="0">
              <a:lnSpc>
                <a:spcPct val="115000"/>
              </a:lnSpc>
              <a:spcBef>
                <a:spcPts val="0"/>
              </a:spcBef>
              <a:spcAft>
                <a:spcPts val="0"/>
              </a:spcAft>
              <a:buClr>
                <a:schemeClr val="dk1"/>
              </a:buClr>
              <a:buSzPts val="1000"/>
              <a:buFont typeface="Open Sans"/>
              <a:buChar char="●"/>
            </a:pPr>
            <a:r>
              <a:rPr lang="en" sz="1000">
                <a:solidFill>
                  <a:schemeClr val="dk1"/>
                </a:solidFill>
                <a:latin typeface="Open Sans Light"/>
                <a:ea typeface="Open Sans Light"/>
                <a:cs typeface="Open Sans Light"/>
                <a:sym typeface="Open Sans"/>
              </a:rPr>
              <a:t>Comprendre les facteurs de réussite et d’échec.</a:t>
            </a:r>
            <a:endParaRPr sz="1000">
              <a:solidFill>
                <a:schemeClr val="dk1"/>
              </a:solidFill>
              <a:latin typeface="Open Sans Light"/>
              <a:ea typeface="Open Sans Light"/>
              <a:cs typeface="Open Sans Light"/>
              <a:sym typeface="Open Sans"/>
            </a:endParaRPr>
          </a:p>
          <a:p>
            <a:pPr marL="457200" lvl="0" indent="-292100" algn="l" rtl="0">
              <a:lnSpc>
                <a:spcPct val="115000"/>
              </a:lnSpc>
              <a:spcBef>
                <a:spcPts val="0"/>
              </a:spcBef>
              <a:spcAft>
                <a:spcPts val="0"/>
              </a:spcAft>
              <a:buClr>
                <a:schemeClr val="dk1"/>
              </a:buClr>
              <a:buSzPts val="1000"/>
              <a:buFont typeface="Open Sans"/>
              <a:buChar char="●"/>
            </a:pPr>
            <a:r>
              <a:rPr lang="en" sz="1000">
                <a:solidFill>
                  <a:schemeClr val="dk1"/>
                </a:solidFill>
                <a:latin typeface="Open Sans Light"/>
                <a:ea typeface="Open Sans Light"/>
                <a:cs typeface="Open Sans Light"/>
                <a:sym typeface="Open Sans"/>
              </a:rPr>
              <a:t>Identifier des solutions et briques technologiques pertinentes.</a:t>
            </a:r>
            <a:endParaRPr sz="1000">
              <a:solidFill>
                <a:schemeClr val="dk1"/>
              </a:solidFill>
              <a:latin typeface="Open Sans Light"/>
              <a:ea typeface="Open Sans Light"/>
              <a:cs typeface="Open Sans Light"/>
              <a:sym typeface="Open Sans"/>
            </a:endParaRPr>
          </a:p>
          <a:p>
            <a:pPr marL="457200" lvl="0" indent="-292100" algn="l" rtl="0">
              <a:lnSpc>
                <a:spcPct val="115000"/>
              </a:lnSpc>
              <a:spcBef>
                <a:spcPts val="0"/>
              </a:spcBef>
              <a:spcAft>
                <a:spcPts val="0"/>
              </a:spcAft>
              <a:buClr>
                <a:schemeClr val="dk1"/>
              </a:buClr>
              <a:buSzPts val="1000"/>
              <a:buFont typeface="Open Sans"/>
              <a:buChar char="●"/>
            </a:pPr>
            <a:r>
              <a:rPr lang="en" sz="1000">
                <a:solidFill>
                  <a:schemeClr val="dk1"/>
                </a:solidFill>
                <a:latin typeface="Open Sans Light"/>
                <a:ea typeface="Open Sans Light"/>
                <a:cs typeface="Open Sans Light"/>
                <a:sym typeface="Open Sans"/>
              </a:rPr>
              <a:t>Utiliser ces retours d’expérience pour faire des recommandations concrètes à la région</a:t>
            </a:r>
            <a:endParaRPr sz="1000">
              <a:solidFill>
                <a:schemeClr val="dk1"/>
              </a:solidFill>
              <a:latin typeface="Open Sans Light"/>
              <a:ea typeface="Open Sans Light"/>
              <a:cs typeface="Open Sans Light"/>
              <a:sym typeface="Open Sans"/>
            </a:endParaRPr>
          </a:p>
          <a:p>
            <a:pPr marL="457200" lvl="0" indent="0" algn="l" rtl="0">
              <a:lnSpc>
                <a:spcPct val="115000"/>
              </a:lnSpc>
              <a:spcBef>
                <a:spcPts val="1200"/>
              </a:spcBef>
              <a:spcAft>
                <a:spcPts val="0"/>
              </a:spcAft>
              <a:buNone/>
            </a:pPr>
            <a:endParaRPr sz="1000">
              <a:solidFill>
                <a:schemeClr val="dk1"/>
              </a:solidFill>
              <a:latin typeface="Open Sans Light"/>
              <a:ea typeface="Open Sans Light"/>
              <a:cs typeface="Open Sans Light"/>
              <a:sym typeface="Open Sans"/>
            </a:endParaRPr>
          </a:p>
          <a:p>
            <a:pPr marL="457200" lvl="0" indent="0" algn="l" rtl="0">
              <a:lnSpc>
                <a:spcPct val="115000"/>
              </a:lnSpc>
              <a:spcBef>
                <a:spcPts val="1200"/>
              </a:spcBef>
              <a:spcAft>
                <a:spcPts val="0"/>
              </a:spcAft>
              <a:buNone/>
            </a:pPr>
            <a:endParaRPr sz="1000">
              <a:solidFill>
                <a:schemeClr val="dk1"/>
              </a:solidFill>
              <a:latin typeface="Open Sans Light"/>
              <a:ea typeface="Open Sans Light"/>
              <a:cs typeface="Open Sans Light"/>
              <a:sym typeface="Open Sans"/>
            </a:endParaRPr>
          </a:p>
          <a:p>
            <a:pPr marL="457200" lvl="0" indent="0" algn="l" rtl="0">
              <a:lnSpc>
                <a:spcPct val="115000"/>
              </a:lnSpc>
              <a:spcBef>
                <a:spcPts val="1200"/>
              </a:spcBef>
              <a:spcAft>
                <a:spcPts val="0"/>
              </a:spcAft>
              <a:buNone/>
            </a:pPr>
            <a:endParaRPr sz="1000">
              <a:solidFill>
                <a:schemeClr val="dk1"/>
              </a:solidFill>
              <a:latin typeface="Open Sans Light"/>
              <a:ea typeface="Open Sans Light"/>
              <a:cs typeface="Open Sans Light"/>
              <a:sym typeface="Open Sans"/>
            </a:endParaRPr>
          </a:p>
          <a:p>
            <a:pPr marL="0" marR="0" lvl="0" indent="0" algn="l" rtl="0">
              <a:lnSpc>
                <a:spcPct val="115000"/>
              </a:lnSpc>
              <a:spcBef>
                <a:spcPts val="1200"/>
              </a:spcBef>
              <a:spcAft>
                <a:spcPts val="0"/>
              </a:spcAft>
              <a:buNone/>
            </a:pPr>
            <a:endParaRPr sz="1100" b="1">
              <a:solidFill>
                <a:srgbClr val="1200C5"/>
              </a:solidFill>
              <a:latin typeface="Open Sans ExtraBold"/>
              <a:ea typeface="Open Sans ExtraBold"/>
              <a:cs typeface="Open Sans ExtraBold"/>
              <a:sym typeface="Open Sans"/>
            </a:endParaRPr>
          </a:p>
        </p:txBody>
      </p:sp>
      <p:sp>
        <p:nvSpPr>
          <p:cNvPr id="243" name="Google Shape;243;p27"/>
          <p:cNvSpPr txBox="1"/>
          <p:nvPr/>
        </p:nvSpPr>
        <p:spPr>
          <a:xfrm>
            <a:off x="388350" y="239025"/>
            <a:ext cx="43323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b="1">
                <a:solidFill>
                  <a:srgbClr val="0A00BE"/>
                </a:solidFill>
                <a:latin typeface="Open Sans ExtraBold"/>
                <a:ea typeface="Open Sans ExtraBold"/>
                <a:cs typeface="Open Sans ExtraBold"/>
                <a:sym typeface="Open Sans"/>
              </a:rPr>
              <a:t>GT 4 – Benchmark des initiatives et solutions</a:t>
            </a:r>
            <a:endParaRPr b="1" i="0" u="none" strike="noStrike" cap="none">
              <a:solidFill>
                <a:srgbClr val="234291"/>
              </a:solidFill>
              <a:latin typeface="Open Sans ExtraBold"/>
              <a:ea typeface="Open Sans ExtraBold"/>
              <a:cs typeface="Open Sans ExtraBold"/>
              <a:sym typeface="Open Sans"/>
            </a:endParaRPr>
          </a:p>
        </p:txBody>
      </p:sp>
      <p:sp>
        <p:nvSpPr>
          <p:cNvPr id="244" name="Google Shape;244;p27"/>
          <p:cNvSpPr/>
          <p:nvPr/>
        </p:nvSpPr>
        <p:spPr>
          <a:xfrm>
            <a:off x="4823425" y="7450"/>
            <a:ext cx="4332300" cy="5143500"/>
          </a:xfrm>
          <a:prstGeom prst="rect">
            <a:avLst/>
          </a:prstGeom>
          <a:solidFill>
            <a:srgbClr val="134F5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5" name="Google Shape;245;p27"/>
          <p:cNvSpPr txBox="1"/>
          <p:nvPr/>
        </p:nvSpPr>
        <p:spPr>
          <a:xfrm>
            <a:off x="5180750" y="466175"/>
            <a:ext cx="3677100" cy="4342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100" b="1">
                <a:solidFill>
                  <a:schemeClr val="lt1"/>
                </a:solidFill>
                <a:latin typeface="Open Sans ExtraBold"/>
                <a:ea typeface="Open Sans ExtraBold"/>
                <a:cs typeface="Open Sans ExtraBold"/>
                <a:sym typeface="Open Sans"/>
              </a:rPr>
              <a:t>Tâches / Livrables</a:t>
            </a:r>
            <a:endParaRPr sz="1100" b="1">
              <a:solidFill>
                <a:schemeClr val="lt1"/>
              </a:solidFill>
              <a:latin typeface="Open Sans ExtraBold"/>
              <a:ea typeface="Open Sans ExtraBold"/>
              <a:cs typeface="Open Sans ExtraBold"/>
              <a:sym typeface="Open Sans"/>
            </a:endParaRPr>
          </a:p>
          <a:p>
            <a:pPr marL="0" lvl="0" indent="0" algn="l" rtl="0">
              <a:lnSpc>
                <a:spcPct val="115000"/>
              </a:lnSpc>
              <a:spcBef>
                <a:spcPts val="1200"/>
              </a:spcBef>
              <a:spcAft>
                <a:spcPts val="0"/>
              </a:spcAft>
              <a:buNone/>
            </a:pPr>
            <a:endParaRPr sz="1100" b="1">
              <a:solidFill>
                <a:schemeClr val="lt1"/>
              </a:solidFill>
              <a:latin typeface="Open Sans ExtraBold"/>
              <a:ea typeface="Open Sans ExtraBold"/>
              <a:cs typeface="Open Sans ExtraBold"/>
              <a:sym typeface="Open Sans"/>
            </a:endParaRPr>
          </a:p>
          <a:p>
            <a:pPr marL="457200" lvl="0" indent="-298450" algn="l" rtl="0">
              <a:lnSpc>
                <a:spcPct val="115000"/>
              </a:lnSpc>
              <a:spcBef>
                <a:spcPts val="1200"/>
              </a:spcBef>
              <a:spcAft>
                <a:spcPts val="0"/>
              </a:spcAft>
              <a:buClr>
                <a:schemeClr val="lt1"/>
              </a:buClr>
              <a:buSzPts val="1100"/>
              <a:buFont typeface="Open Sans"/>
              <a:buChar char="❏"/>
            </a:pPr>
            <a:r>
              <a:rPr lang="en" sz="1100">
                <a:solidFill>
                  <a:schemeClr val="lt1"/>
                </a:solidFill>
                <a:latin typeface="Open Sans Light"/>
                <a:ea typeface="Open Sans Light"/>
                <a:cs typeface="Open Sans Light"/>
                <a:sym typeface="Open Sans"/>
              </a:rPr>
              <a:t>Reprendre le benchmark proposé par les étudiants</a:t>
            </a:r>
            <a:endParaRPr sz="1100">
              <a:solidFill>
                <a:schemeClr val="lt1"/>
              </a:solidFill>
              <a:latin typeface="Open Sans Light"/>
              <a:ea typeface="Open Sans Light"/>
              <a:cs typeface="Open Sans Light"/>
              <a:sym typeface="Open Sans"/>
            </a:endParaRPr>
          </a:p>
          <a:p>
            <a:pPr marL="457200" lvl="0" indent="-298450" algn="l" rtl="0">
              <a:lnSpc>
                <a:spcPct val="115000"/>
              </a:lnSpc>
              <a:spcBef>
                <a:spcPts val="600"/>
              </a:spcBef>
              <a:spcAft>
                <a:spcPts val="0"/>
              </a:spcAft>
              <a:buClr>
                <a:schemeClr val="lt1"/>
              </a:buClr>
              <a:buSzPts val="1100"/>
              <a:buFont typeface="Open Sans"/>
              <a:buChar char="❏"/>
            </a:pPr>
            <a:r>
              <a:rPr lang="en" sz="1100">
                <a:solidFill>
                  <a:schemeClr val="lt1"/>
                </a:solidFill>
                <a:latin typeface="Open Sans Light"/>
                <a:ea typeface="Open Sans Light"/>
                <a:cs typeface="Open Sans Light"/>
                <a:sym typeface="Open Sans"/>
              </a:rPr>
              <a:t>Compléter le benchmark avec des nouvelle initiatives identifiées</a:t>
            </a:r>
            <a:endParaRPr sz="1100">
              <a:solidFill>
                <a:schemeClr val="lt1"/>
              </a:solidFill>
              <a:latin typeface="Open Sans Light"/>
              <a:ea typeface="Open Sans Light"/>
              <a:cs typeface="Open Sans Light"/>
              <a:sym typeface="Open Sans"/>
            </a:endParaRPr>
          </a:p>
          <a:p>
            <a:pPr marL="457200" lvl="0" indent="-298450" algn="l" rtl="0">
              <a:lnSpc>
                <a:spcPct val="115000"/>
              </a:lnSpc>
              <a:spcBef>
                <a:spcPts val="600"/>
              </a:spcBef>
              <a:spcAft>
                <a:spcPts val="0"/>
              </a:spcAft>
              <a:buClr>
                <a:schemeClr val="lt1"/>
              </a:buClr>
              <a:buSzPts val="1100"/>
              <a:buFont typeface="Open Sans"/>
              <a:buChar char="❏"/>
            </a:pPr>
            <a:r>
              <a:rPr lang="en" sz="1100">
                <a:solidFill>
                  <a:schemeClr val="lt1"/>
                </a:solidFill>
                <a:latin typeface="Open Sans Light"/>
                <a:ea typeface="Open Sans Light"/>
                <a:cs typeface="Open Sans Light"/>
                <a:sym typeface="Open Sans"/>
              </a:rPr>
              <a:t>Produire un tableau comparatif.</a:t>
            </a:r>
            <a:endParaRPr sz="1100">
              <a:solidFill>
                <a:schemeClr val="lt1"/>
              </a:solidFill>
              <a:latin typeface="Open Sans Light"/>
              <a:ea typeface="Open Sans Light"/>
              <a:cs typeface="Open Sans Light"/>
              <a:sym typeface="Open Sans"/>
            </a:endParaRPr>
          </a:p>
          <a:p>
            <a:pPr marL="457200" lvl="0" indent="-298450" algn="l" rtl="0">
              <a:lnSpc>
                <a:spcPct val="115000"/>
              </a:lnSpc>
              <a:spcBef>
                <a:spcPts val="600"/>
              </a:spcBef>
              <a:spcAft>
                <a:spcPts val="0"/>
              </a:spcAft>
              <a:buClr>
                <a:schemeClr val="lt1"/>
              </a:buClr>
              <a:buSzPts val="1100"/>
              <a:buFont typeface="Open Sans"/>
              <a:buChar char="❏"/>
            </a:pPr>
            <a:r>
              <a:rPr lang="en" sz="1100">
                <a:solidFill>
                  <a:schemeClr val="lt1"/>
                </a:solidFill>
                <a:latin typeface="Open Sans Light"/>
                <a:ea typeface="Open Sans Light"/>
                <a:cs typeface="Open Sans Light"/>
                <a:sym typeface="Open Sans"/>
              </a:rPr>
              <a:t>Proposer une synthèse des enseignements et recommandations pour Bruxelles.</a:t>
            </a:r>
            <a:endParaRPr sz="1100">
              <a:solidFill>
                <a:schemeClr val="lt1"/>
              </a:solidFill>
              <a:latin typeface="Open Sans Light"/>
              <a:ea typeface="Open Sans Light"/>
              <a:cs typeface="Open Sans Light"/>
              <a:sym typeface="Open Sans"/>
            </a:endParaRPr>
          </a:p>
          <a:p>
            <a:pPr marL="0" lvl="0" indent="0" algn="l" rtl="0">
              <a:spcBef>
                <a:spcPts val="600"/>
              </a:spcBef>
              <a:spcAft>
                <a:spcPts val="0"/>
              </a:spcAft>
              <a:buClr>
                <a:schemeClr val="dk1"/>
              </a:buClr>
              <a:buSzPts val="1100"/>
              <a:buFont typeface="Arial"/>
              <a:buNone/>
            </a:pPr>
            <a:endParaRPr sz="1100" b="1">
              <a:solidFill>
                <a:schemeClr val="lt1"/>
              </a:solidFill>
              <a:latin typeface="Open Sans ExtraBold"/>
              <a:ea typeface="Open Sans ExtraBold"/>
              <a:cs typeface="Open Sans ExtraBold"/>
              <a:sym typeface="Open Sans"/>
            </a:endParaRPr>
          </a:p>
        </p:txBody>
      </p:sp>
      <p:pic>
        <p:nvPicPr>
          <p:cNvPr id="246" name="Google Shape;246;p27"/>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5631964" y="3071949"/>
            <a:ext cx="2996623" cy="1905073"/>
          </a:xfrm>
          <a:prstGeom prst="rect">
            <a:avLst/>
          </a:prstGeom>
          <a:noFill/>
          <a:ln>
            <a:noFill/>
          </a:ln>
        </p:spPr>
      </p:pic>
      <p:pic>
        <p:nvPicPr>
          <p:cNvPr id="247" name="Google Shape;247;p27"/>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96648" y="1051818"/>
            <a:ext cx="571500" cy="533400"/>
          </a:xfrm>
          <a:prstGeom prst="rect">
            <a:avLst/>
          </a:prstGeom>
          <a:noFill/>
          <a:ln>
            <a:noFill/>
          </a:ln>
        </p:spPr>
      </p:pic>
      <p:sp>
        <p:nvSpPr>
          <p:cNvPr id="248" name="Google Shape;248;p27"/>
          <p:cNvSpPr txBox="1"/>
          <p:nvPr/>
        </p:nvSpPr>
        <p:spPr>
          <a:xfrm>
            <a:off x="1142696" y="1164625"/>
            <a:ext cx="13584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b="1">
                <a:highlight>
                  <a:srgbClr val="FFFFFF"/>
                </a:highlight>
                <a:latin typeface="Open Sans ExtraBold"/>
                <a:ea typeface="Open Sans ExtraBold"/>
                <a:cs typeface="Open Sans ExtraBold"/>
                <a:sym typeface="Open Sans"/>
              </a:rPr>
              <a:t>Thibault SUREAU</a:t>
            </a:r>
            <a:endParaRPr sz="800">
              <a:solidFill>
                <a:srgbClr val="000000"/>
              </a:solidFill>
              <a:highlight>
                <a:srgbClr val="FFFFFF"/>
              </a:highlight>
              <a:latin typeface="Open Sans Light"/>
              <a:ea typeface="Open Sans Light"/>
              <a:cs typeface="Open Sans Light"/>
              <a:sym typeface="Open Sans"/>
            </a:endParaRPr>
          </a:p>
        </p:txBody>
      </p:sp>
      <p:sp>
        <p:nvSpPr>
          <p:cNvPr id="249" name="Google Shape;249;p27"/>
          <p:cNvSpPr txBox="1"/>
          <p:nvPr/>
        </p:nvSpPr>
        <p:spPr>
          <a:xfrm>
            <a:off x="2723889" y="1167142"/>
            <a:ext cx="16179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b="1">
                <a:highlight>
                  <a:srgbClr val="FFFFFF"/>
                </a:highlight>
                <a:latin typeface="Open Sans ExtraBold"/>
                <a:ea typeface="Open Sans ExtraBold"/>
                <a:cs typeface="Open Sans ExtraBold"/>
                <a:sym typeface="Open Sans"/>
              </a:rPr>
              <a:t>Duc PHAN</a:t>
            </a:r>
            <a:endParaRPr sz="800">
              <a:solidFill>
                <a:srgbClr val="000000"/>
              </a:solidFill>
              <a:highlight>
                <a:srgbClr val="FFFFFF"/>
              </a:highlight>
              <a:latin typeface="Open Sans Light"/>
              <a:ea typeface="Open Sans Light"/>
              <a:cs typeface="Open Sans Light"/>
              <a:sym typeface="Open Sans"/>
            </a:endParaRPr>
          </a:p>
        </p:txBody>
      </p:sp>
      <p:pic>
        <p:nvPicPr>
          <p:cNvPr id="250" name="Google Shape;250;p27"/>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2302640" y="1076034"/>
            <a:ext cx="459200" cy="485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28"/>
          <p:cNvSpPr txBox="1"/>
          <p:nvPr/>
        </p:nvSpPr>
        <p:spPr>
          <a:xfrm>
            <a:off x="438100" y="958025"/>
            <a:ext cx="3887100" cy="38988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sz="1000" b="1">
                <a:solidFill>
                  <a:srgbClr val="1200C5"/>
                </a:solidFill>
                <a:latin typeface="Open Sans ExtraBold"/>
                <a:ea typeface="Open Sans ExtraBold"/>
                <a:cs typeface="Open Sans ExtraBold"/>
                <a:sym typeface="Open Sans"/>
              </a:rPr>
              <a:t>Participants</a:t>
            </a:r>
            <a:endParaRPr sz="1000" b="1">
              <a:solidFill>
                <a:srgbClr val="1200C5"/>
              </a:solidFill>
              <a:latin typeface="Open Sans ExtraBold"/>
              <a:ea typeface="Open Sans ExtraBold"/>
              <a:cs typeface="Open Sans ExtraBold"/>
              <a:sym typeface="Open Sans"/>
            </a:endParaRPr>
          </a:p>
          <a:p>
            <a:pPr marL="0" marR="0" lvl="0" indent="0" algn="l" rtl="0">
              <a:lnSpc>
                <a:spcPct val="115000"/>
              </a:lnSpc>
              <a:spcBef>
                <a:spcPts val="0"/>
              </a:spcBef>
              <a:spcAft>
                <a:spcPts val="0"/>
              </a:spcAft>
              <a:buNone/>
            </a:pPr>
            <a:endParaRPr sz="1000">
              <a:solidFill>
                <a:schemeClr val="dk1"/>
              </a:solidFill>
              <a:latin typeface="Open Sans Light"/>
              <a:ea typeface="Open Sans Light"/>
              <a:cs typeface="Open Sans Light"/>
              <a:sym typeface="Open Sans"/>
            </a:endParaRPr>
          </a:p>
          <a:p>
            <a:pPr marL="0" marR="0" lvl="0" indent="0" algn="l" rtl="0">
              <a:lnSpc>
                <a:spcPct val="115000"/>
              </a:lnSpc>
              <a:spcBef>
                <a:spcPts val="0"/>
              </a:spcBef>
              <a:spcAft>
                <a:spcPts val="0"/>
              </a:spcAft>
              <a:buNone/>
            </a:pPr>
            <a:endParaRPr sz="1000">
              <a:solidFill>
                <a:schemeClr val="dk1"/>
              </a:solidFill>
              <a:latin typeface="Open Sans Light"/>
              <a:ea typeface="Open Sans Light"/>
              <a:cs typeface="Open Sans Light"/>
              <a:sym typeface="Open Sans"/>
            </a:endParaRPr>
          </a:p>
          <a:p>
            <a:pPr marL="0" lvl="0" indent="0" algn="l" rtl="0">
              <a:lnSpc>
                <a:spcPct val="115000"/>
              </a:lnSpc>
              <a:spcBef>
                <a:spcPts val="1200"/>
              </a:spcBef>
              <a:spcAft>
                <a:spcPts val="0"/>
              </a:spcAft>
              <a:buNone/>
            </a:pPr>
            <a:endParaRPr sz="1000" b="1">
              <a:solidFill>
                <a:srgbClr val="1200C5"/>
              </a:solidFill>
              <a:latin typeface="Open Sans ExtraBold"/>
              <a:ea typeface="Open Sans ExtraBold"/>
              <a:cs typeface="Open Sans ExtraBold"/>
              <a:sym typeface="Open Sans"/>
            </a:endParaRPr>
          </a:p>
          <a:p>
            <a:pPr marL="0" lvl="0" indent="0" algn="l" rtl="0">
              <a:lnSpc>
                <a:spcPct val="115000"/>
              </a:lnSpc>
              <a:spcBef>
                <a:spcPts val="1200"/>
              </a:spcBef>
              <a:spcAft>
                <a:spcPts val="0"/>
              </a:spcAft>
              <a:buNone/>
            </a:pPr>
            <a:r>
              <a:rPr lang="en" sz="1000" b="1">
                <a:solidFill>
                  <a:srgbClr val="1200C5"/>
                </a:solidFill>
                <a:latin typeface="Open Sans ExtraBold"/>
                <a:ea typeface="Open Sans ExtraBold"/>
                <a:cs typeface="Open Sans ExtraBold"/>
                <a:sym typeface="Open Sans"/>
              </a:rPr>
              <a:t>Description</a:t>
            </a:r>
            <a:br>
              <a:rPr lang="en" sz="1000" b="1">
                <a:solidFill>
                  <a:schemeClr val="dk1"/>
                </a:solidFill>
                <a:latin typeface="Open Sans ExtraBold"/>
                <a:ea typeface="Open Sans ExtraBold"/>
                <a:cs typeface="Open Sans ExtraBold"/>
                <a:sym typeface="Open Sans"/>
              </a:rPr>
            </a:br>
            <a:r>
              <a:rPr lang="en" sz="1000">
                <a:solidFill>
                  <a:schemeClr val="dk1"/>
                </a:solidFill>
                <a:latin typeface="Open Sans Light"/>
                <a:ea typeface="Open Sans Light"/>
                <a:cs typeface="Open Sans Light"/>
                <a:sym typeface="Open Sans"/>
              </a:rPr>
              <a:t>Identifier les acteurs, réseaux, groupes de travail et initiatives pertinents en Belgique et en Europe, et développer des collaborations utiles pour Paradigm et la Région.</a:t>
            </a:r>
            <a:endParaRPr sz="1000">
              <a:solidFill>
                <a:schemeClr val="dk1"/>
              </a:solidFill>
              <a:latin typeface="Open Sans Light"/>
              <a:ea typeface="Open Sans Light"/>
              <a:cs typeface="Open Sans Light"/>
              <a:sym typeface="Open Sans"/>
            </a:endParaRPr>
          </a:p>
          <a:p>
            <a:pPr marL="0" lvl="0" indent="0" algn="l" rtl="0">
              <a:lnSpc>
                <a:spcPct val="115000"/>
              </a:lnSpc>
              <a:spcBef>
                <a:spcPts val="1200"/>
              </a:spcBef>
              <a:spcAft>
                <a:spcPts val="0"/>
              </a:spcAft>
              <a:buNone/>
            </a:pPr>
            <a:r>
              <a:rPr lang="en" sz="1000" b="1">
                <a:solidFill>
                  <a:srgbClr val="1200C5"/>
                </a:solidFill>
                <a:latin typeface="Open Sans ExtraBold"/>
                <a:ea typeface="Open Sans ExtraBold"/>
                <a:cs typeface="Open Sans ExtraBold"/>
                <a:sym typeface="Open Sans"/>
              </a:rPr>
              <a:t>Objectifs</a:t>
            </a:r>
            <a:endParaRPr sz="1000">
              <a:solidFill>
                <a:schemeClr val="dk1"/>
              </a:solidFill>
              <a:latin typeface="Open Sans Light"/>
              <a:ea typeface="Open Sans Light"/>
              <a:cs typeface="Open Sans Light"/>
              <a:sym typeface="Open Sans"/>
            </a:endParaRPr>
          </a:p>
          <a:p>
            <a:pPr marL="457200" lvl="0" indent="-298450" algn="l" rtl="0">
              <a:lnSpc>
                <a:spcPct val="115000"/>
              </a:lnSpc>
              <a:spcBef>
                <a:spcPts val="1200"/>
              </a:spcBef>
              <a:spcAft>
                <a:spcPts val="0"/>
              </a:spcAft>
              <a:buClr>
                <a:schemeClr val="dk1"/>
              </a:buClr>
              <a:buSzPts val="1100"/>
              <a:buChar char="●"/>
            </a:pPr>
            <a:r>
              <a:rPr lang="en" sz="1000">
                <a:solidFill>
                  <a:schemeClr val="dk1"/>
                </a:solidFill>
                <a:latin typeface="Open Sans Light"/>
                <a:ea typeface="Open Sans Light"/>
                <a:cs typeface="Open Sans Light"/>
                <a:sym typeface="Open Sans"/>
              </a:rPr>
              <a:t>Identifier les opportunités de coopération.</a:t>
            </a:r>
            <a:endParaRPr sz="1000">
              <a:solidFill>
                <a:schemeClr val="dk1"/>
              </a:solidFill>
              <a:latin typeface="Open Sans Light"/>
              <a:ea typeface="Open Sans Light"/>
              <a:cs typeface="Open Sans Light"/>
              <a:sym typeface="Open Sans"/>
            </a:endParaRPr>
          </a:p>
          <a:p>
            <a:pPr marL="457200" lvl="0" indent="-298450" algn="l" rtl="0">
              <a:lnSpc>
                <a:spcPct val="115000"/>
              </a:lnSpc>
              <a:spcBef>
                <a:spcPts val="0"/>
              </a:spcBef>
              <a:spcAft>
                <a:spcPts val="0"/>
              </a:spcAft>
              <a:buClr>
                <a:schemeClr val="dk1"/>
              </a:buClr>
              <a:buSzPts val="1100"/>
              <a:buChar char="●"/>
            </a:pPr>
            <a:r>
              <a:rPr lang="en" sz="1000">
                <a:solidFill>
                  <a:schemeClr val="dk1"/>
                </a:solidFill>
                <a:latin typeface="Open Sans Light"/>
                <a:ea typeface="Open Sans Light"/>
                <a:cs typeface="Open Sans Light"/>
                <a:sym typeface="Open Sans"/>
              </a:rPr>
              <a:t>Repérer les projets et groupes de travail existants (région &gt; fédéral &gt; EU).</a:t>
            </a:r>
            <a:endParaRPr sz="1000">
              <a:solidFill>
                <a:schemeClr val="dk1"/>
              </a:solidFill>
              <a:latin typeface="Open Sans Light"/>
              <a:ea typeface="Open Sans Light"/>
              <a:cs typeface="Open Sans Light"/>
              <a:sym typeface="Open Sans"/>
            </a:endParaRPr>
          </a:p>
          <a:p>
            <a:pPr marL="457200" lvl="0" indent="-298450" algn="l" rtl="0">
              <a:lnSpc>
                <a:spcPct val="115000"/>
              </a:lnSpc>
              <a:spcBef>
                <a:spcPts val="0"/>
              </a:spcBef>
              <a:spcAft>
                <a:spcPts val="0"/>
              </a:spcAft>
              <a:buClr>
                <a:schemeClr val="dk1"/>
              </a:buClr>
              <a:buSzPts val="1100"/>
              <a:buChar char="●"/>
            </a:pPr>
            <a:r>
              <a:rPr lang="en" sz="1000">
                <a:solidFill>
                  <a:schemeClr val="dk1"/>
                </a:solidFill>
                <a:latin typeface="Open Sans Light"/>
                <a:ea typeface="Open Sans Light"/>
                <a:cs typeface="Open Sans Light"/>
                <a:sym typeface="Open Sans"/>
              </a:rPr>
              <a:t>Positionner Paradigm dans l’écosystème belge et européen.</a:t>
            </a:r>
            <a:endParaRPr sz="1000">
              <a:solidFill>
                <a:schemeClr val="dk1"/>
              </a:solidFill>
              <a:latin typeface="Open Sans Light"/>
              <a:ea typeface="Open Sans Light"/>
              <a:cs typeface="Open Sans Light"/>
              <a:sym typeface="Open Sans"/>
            </a:endParaRPr>
          </a:p>
          <a:p>
            <a:pPr marL="457200" lvl="0" indent="0" algn="l" rtl="0">
              <a:lnSpc>
                <a:spcPct val="115000"/>
              </a:lnSpc>
              <a:spcBef>
                <a:spcPts val="1200"/>
              </a:spcBef>
              <a:spcAft>
                <a:spcPts val="0"/>
              </a:spcAft>
              <a:buNone/>
            </a:pPr>
            <a:endParaRPr sz="1000">
              <a:solidFill>
                <a:schemeClr val="dk1"/>
              </a:solidFill>
              <a:latin typeface="Open Sans Light"/>
              <a:ea typeface="Open Sans Light"/>
              <a:cs typeface="Open Sans Light"/>
              <a:sym typeface="Open Sans"/>
            </a:endParaRPr>
          </a:p>
          <a:p>
            <a:pPr marL="457200" lvl="0" indent="0" algn="l" rtl="0">
              <a:lnSpc>
                <a:spcPct val="115000"/>
              </a:lnSpc>
              <a:spcBef>
                <a:spcPts val="1200"/>
              </a:spcBef>
              <a:spcAft>
                <a:spcPts val="0"/>
              </a:spcAft>
              <a:buNone/>
            </a:pPr>
            <a:endParaRPr sz="1000">
              <a:solidFill>
                <a:schemeClr val="dk1"/>
              </a:solidFill>
              <a:latin typeface="Open Sans Light"/>
              <a:ea typeface="Open Sans Light"/>
              <a:cs typeface="Open Sans Light"/>
              <a:sym typeface="Open Sans"/>
            </a:endParaRPr>
          </a:p>
          <a:p>
            <a:pPr marL="457200" lvl="0" indent="0" algn="l" rtl="0">
              <a:lnSpc>
                <a:spcPct val="115000"/>
              </a:lnSpc>
              <a:spcBef>
                <a:spcPts val="1200"/>
              </a:spcBef>
              <a:spcAft>
                <a:spcPts val="0"/>
              </a:spcAft>
              <a:buNone/>
            </a:pPr>
            <a:endParaRPr sz="1000">
              <a:solidFill>
                <a:schemeClr val="dk1"/>
              </a:solidFill>
              <a:latin typeface="Open Sans Light"/>
              <a:ea typeface="Open Sans Light"/>
              <a:cs typeface="Open Sans Light"/>
              <a:sym typeface="Open Sans"/>
            </a:endParaRPr>
          </a:p>
          <a:p>
            <a:pPr marL="457200" lvl="0" indent="0" algn="l" rtl="0">
              <a:lnSpc>
                <a:spcPct val="115000"/>
              </a:lnSpc>
              <a:spcBef>
                <a:spcPts val="1200"/>
              </a:spcBef>
              <a:spcAft>
                <a:spcPts val="0"/>
              </a:spcAft>
              <a:buNone/>
            </a:pPr>
            <a:endParaRPr sz="1000">
              <a:solidFill>
                <a:schemeClr val="dk1"/>
              </a:solidFill>
              <a:latin typeface="Open Sans Light"/>
              <a:ea typeface="Open Sans Light"/>
              <a:cs typeface="Open Sans Light"/>
              <a:sym typeface="Open Sans"/>
            </a:endParaRPr>
          </a:p>
          <a:p>
            <a:pPr marL="0" marR="0" lvl="0" indent="0" algn="l" rtl="0">
              <a:lnSpc>
                <a:spcPct val="115000"/>
              </a:lnSpc>
              <a:spcBef>
                <a:spcPts val="1200"/>
              </a:spcBef>
              <a:spcAft>
                <a:spcPts val="0"/>
              </a:spcAft>
              <a:buNone/>
            </a:pPr>
            <a:endParaRPr sz="1100" b="1">
              <a:solidFill>
                <a:srgbClr val="1200C5"/>
              </a:solidFill>
              <a:latin typeface="Open Sans ExtraBold"/>
              <a:ea typeface="Open Sans ExtraBold"/>
              <a:cs typeface="Open Sans ExtraBold"/>
              <a:sym typeface="Open Sans"/>
            </a:endParaRPr>
          </a:p>
        </p:txBody>
      </p:sp>
      <p:sp>
        <p:nvSpPr>
          <p:cNvPr id="256" name="Google Shape;256;p28"/>
          <p:cNvSpPr txBox="1"/>
          <p:nvPr/>
        </p:nvSpPr>
        <p:spPr>
          <a:xfrm>
            <a:off x="380050" y="239025"/>
            <a:ext cx="43323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b="1">
                <a:solidFill>
                  <a:srgbClr val="0A00BE"/>
                </a:solidFill>
                <a:latin typeface="Open Sans ExtraBold"/>
                <a:ea typeface="Open Sans ExtraBold"/>
                <a:cs typeface="Open Sans ExtraBold"/>
                <a:sym typeface="Open Sans"/>
              </a:rPr>
              <a:t>GT 5 – Connexion à l’écosystème de la souveraineté numérique</a:t>
            </a:r>
            <a:endParaRPr b="1">
              <a:solidFill>
                <a:srgbClr val="0A00BE"/>
              </a:solidFill>
              <a:latin typeface="Open Sans ExtraBold"/>
              <a:ea typeface="Open Sans ExtraBold"/>
              <a:cs typeface="Open Sans ExtraBold"/>
              <a:sym typeface="Open Sans"/>
            </a:endParaRPr>
          </a:p>
        </p:txBody>
      </p:sp>
      <p:sp>
        <p:nvSpPr>
          <p:cNvPr id="257" name="Google Shape;257;p28"/>
          <p:cNvSpPr/>
          <p:nvPr/>
        </p:nvSpPr>
        <p:spPr>
          <a:xfrm>
            <a:off x="4823425" y="7450"/>
            <a:ext cx="4332300" cy="5143500"/>
          </a:xfrm>
          <a:prstGeom prst="rect">
            <a:avLst/>
          </a:prstGeom>
          <a:solidFill>
            <a:srgbClr val="134F5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8" name="Google Shape;258;p28"/>
          <p:cNvSpPr txBox="1"/>
          <p:nvPr/>
        </p:nvSpPr>
        <p:spPr>
          <a:xfrm>
            <a:off x="5151025" y="308550"/>
            <a:ext cx="3677100" cy="4342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100" b="1">
                <a:solidFill>
                  <a:schemeClr val="lt1"/>
                </a:solidFill>
                <a:latin typeface="Open Sans ExtraBold"/>
                <a:ea typeface="Open Sans ExtraBold"/>
                <a:cs typeface="Open Sans ExtraBold"/>
                <a:sym typeface="Open Sans"/>
              </a:rPr>
              <a:t>Tâches / Livrables</a:t>
            </a:r>
            <a:endParaRPr sz="1100" b="1">
              <a:solidFill>
                <a:schemeClr val="lt1"/>
              </a:solidFill>
              <a:latin typeface="Open Sans ExtraBold"/>
              <a:ea typeface="Open Sans ExtraBold"/>
              <a:cs typeface="Open Sans ExtraBold"/>
              <a:sym typeface="Open Sans"/>
            </a:endParaRPr>
          </a:p>
          <a:p>
            <a:pPr marL="0" lvl="0" indent="0" algn="l" rtl="0">
              <a:lnSpc>
                <a:spcPct val="115000"/>
              </a:lnSpc>
              <a:spcBef>
                <a:spcPts val="1200"/>
              </a:spcBef>
              <a:spcAft>
                <a:spcPts val="0"/>
              </a:spcAft>
              <a:buNone/>
            </a:pPr>
            <a:endParaRPr sz="1100" b="1">
              <a:solidFill>
                <a:schemeClr val="lt1"/>
              </a:solidFill>
              <a:latin typeface="Open Sans ExtraBold"/>
              <a:ea typeface="Open Sans ExtraBold"/>
              <a:cs typeface="Open Sans ExtraBold"/>
              <a:sym typeface="Open Sans"/>
            </a:endParaRPr>
          </a:p>
          <a:p>
            <a:pPr marL="457200" lvl="0" indent="-298450" algn="l" rtl="0">
              <a:lnSpc>
                <a:spcPct val="115000"/>
              </a:lnSpc>
              <a:spcBef>
                <a:spcPts val="1200"/>
              </a:spcBef>
              <a:spcAft>
                <a:spcPts val="0"/>
              </a:spcAft>
              <a:buClr>
                <a:schemeClr val="lt1"/>
              </a:buClr>
              <a:buSzPts val="1100"/>
              <a:buFont typeface="Open Sans"/>
              <a:buChar char="❏"/>
            </a:pPr>
            <a:r>
              <a:rPr lang="en" sz="1100">
                <a:solidFill>
                  <a:schemeClr val="lt1"/>
                </a:solidFill>
                <a:latin typeface="Open Sans Light"/>
                <a:ea typeface="Open Sans Light"/>
                <a:cs typeface="Open Sans Light"/>
                <a:sym typeface="Open Sans"/>
              </a:rPr>
              <a:t>Cartographie de l’écosystème.</a:t>
            </a:r>
            <a:endParaRPr sz="1100">
              <a:solidFill>
                <a:schemeClr val="lt1"/>
              </a:solidFill>
              <a:latin typeface="Open Sans Light"/>
              <a:ea typeface="Open Sans Light"/>
              <a:cs typeface="Open Sans Light"/>
              <a:sym typeface="Open Sans"/>
            </a:endParaRPr>
          </a:p>
          <a:p>
            <a:pPr marL="457200" lvl="0" indent="-298450" algn="l" rtl="0">
              <a:lnSpc>
                <a:spcPct val="115000"/>
              </a:lnSpc>
              <a:spcBef>
                <a:spcPts val="600"/>
              </a:spcBef>
              <a:spcAft>
                <a:spcPts val="0"/>
              </a:spcAft>
              <a:buClr>
                <a:schemeClr val="lt1"/>
              </a:buClr>
              <a:buSzPts val="1100"/>
              <a:buFont typeface="Open Sans"/>
              <a:buChar char="❏"/>
            </a:pPr>
            <a:r>
              <a:rPr lang="en" sz="1100">
                <a:solidFill>
                  <a:schemeClr val="lt1"/>
                </a:solidFill>
                <a:latin typeface="Open Sans Light"/>
                <a:ea typeface="Open Sans Light"/>
                <a:cs typeface="Open Sans Light"/>
                <a:sym typeface="Open Sans"/>
              </a:rPr>
              <a:t>Liste des événements et rendez-vous stratégiques.</a:t>
            </a:r>
            <a:endParaRPr sz="1100">
              <a:solidFill>
                <a:schemeClr val="lt1"/>
              </a:solidFill>
              <a:latin typeface="Open Sans Light"/>
              <a:ea typeface="Open Sans Light"/>
              <a:cs typeface="Open Sans Light"/>
              <a:sym typeface="Open Sans"/>
            </a:endParaRPr>
          </a:p>
          <a:p>
            <a:pPr marL="457200" lvl="0" indent="-298450" algn="l" rtl="0">
              <a:lnSpc>
                <a:spcPct val="115000"/>
              </a:lnSpc>
              <a:spcBef>
                <a:spcPts val="600"/>
              </a:spcBef>
              <a:spcAft>
                <a:spcPts val="0"/>
              </a:spcAft>
              <a:buClr>
                <a:schemeClr val="lt1"/>
              </a:buClr>
              <a:buSzPts val="1100"/>
              <a:buFont typeface="Open Sans"/>
              <a:buChar char="❏"/>
            </a:pPr>
            <a:r>
              <a:rPr lang="en" sz="1100">
                <a:solidFill>
                  <a:schemeClr val="lt1"/>
                </a:solidFill>
                <a:latin typeface="Open Sans Light"/>
                <a:ea typeface="Open Sans Light"/>
                <a:cs typeface="Open Sans Light"/>
                <a:sym typeface="Open Sans"/>
              </a:rPr>
              <a:t>Organiser des rencontres et échanges.</a:t>
            </a:r>
            <a:endParaRPr sz="1100">
              <a:solidFill>
                <a:schemeClr val="lt1"/>
              </a:solidFill>
              <a:latin typeface="Open Sans Light"/>
              <a:ea typeface="Open Sans Light"/>
              <a:cs typeface="Open Sans Light"/>
              <a:sym typeface="Open Sans"/>
            </a:endParaRPr>
          </a:p>
          <a:p>
            <a:pPr marL="457200" lvl="0" indent="-298450" algn="l" rtl="0">
              <a:lnSpc>
                <a:spcPct val="115000"/>
              </a:lnSpc>
              <a:spcBef>
                <a:spcPts val="600"/>
              </a:spcBef>
              <a:spcAft>
                <a:spcPts val="0"/>
              </a:spcAft>
              <a:buClr>
                <a:schemeClr val="lt1"/>
              </a:buClr>
              <a:buSzPts val="1100"/>
              <a:buFont typeface="Open Sans"/>
              <a:buChar char="❏"/>
            </a:pPr>
            <a:r>
              <a:rPr lang="en" sz="1100">
                <a:solidFill>
                  <a:schemeClr val="lt1"/>
                </a:solidFill>
                <a:latin typeface="Open Sans Light"/>
                <a:ea typeface="Open Sans Light"/>
                <a:cs typeface="Open Sans Light"/>
                <a:sym typeface="Open Sans"/>
              </a:rPr>
              <a:t>Participer aux groupes de travail prioritaires.</a:t>
            </a:r>
            <a:endParaRPr sz="1100">
              <a:solidFill>
                <a:schemeClr val="lt1"/>
              </a:solidFill>
              <a:latin typeface="Open Sans Light"/>
              <a:ea typeface="Open Sans Light"/>
              <a:cs typeface="Open Sans Light"/>
              <a:sym typeface="Open Sans"/>
            </a:endParaRPr>
          </a:p>
          <a:p>
            <a:pPr marL="457200" lvl="0" indent="-298450" algn="l" rtl="0">
              <a:lnSpc>
                <a:spcPct val="115000"/>
              </a:lnSpc>
              <a:spcBef>
                <a:spcPts val="600"/>
              </a:spcBef>
              <a:spcAft>
                <a:spcPts val="0"/>
              </a:spcAft>
              <a:buClr>
                <a:schemeClr val="lt1"/>
              </a:buClr>
              <a:buSzPts val="1100"/>
              <a:buFont typeface="Open Sans"/>
              <a:buChar char="❏"/>
            </a:pPr>
            <a:r>
              <a:rPr lang="en" sz="1100">
                <a:solidFill>
                  <a:schemeClr val="lt1"/>
                </a:solidFill>
                <a:latin typeface="Open Sans Light"/>
                <a:ea typeface="Open Sans Light"/>
                <a:cs typeface="Open Sans Light"/>
                <a:sym typeface="Open Sans"/>
              </a:rPr>
              <a:t>Remonter au chantier les informations pertinentes</a:t>
            </a:r>
            <a:endParaRPr sz="1100">
              <a:solidFill>
                <a:schemeClr val="lt1"/>
              </a:solidFill>
              <a:latin typeface="Open Sans Light"/>
              <a:ea typeface="Open Sans Light"/>
              <a:cs typeface="Open Sans Light"/>
              <a:sym typeface="Open Sans"/>
            </a:endParaRPr>
          </a:p>
          <a:p>
            <a:pPr marL="457200" lvl="0" indent="-298450" algn="l" rtl="0">
              <a:lnSpc>
                <a:spcPct val="115000"/>
              </a:lnSpc>
              <a:spcBef>
                <a:spcPts val="600"/>
              </a:spcBef>
              <a:spcAft>
                <a:spcPts val="0"/>
              </a:spcAft>
              <a:buClr>
                <a:schemeClr val="lt1"/>
              </a:buClr>
              <a:buSzPts val="1100"/>
              <a:buFont typeface="Open Sans"/>
              <a:buChar char="❏"/>
            </a:pPr>
            <a:r>
              <a:rPr lang="en" sz="1100">
                <a:solidFill>
                  <a:schemeClr val="lt1"/>
                </a:solidFill>
                <a:latin typeface="Open Sans Light"/>
                <a:ea typeface="Open Sans Light"/>
                <a:cs typeface="Open Sans Light"/>
                <a:sym typeface="Open Sans"/>
              </a:rPr>
              <a:t>Faire connaître le chantier à l'extérieure de Paradigm</a:t>
            </a:r>
            <a:endParaRPr sz="1100">
              <a:solidFill>
                <a:schemeClr val="lt1"/>
              </a:solidFill>
              <a:latin typeface="Open Sans Light"/>
              <a:ea typeface="Open Sans Light"/>
              <a:cs typeface="Open Sans Light"/>
              <a:sym typeface="Open Sans"/>
            </a:endParaRPr>
          </a:p>
          <a:p>
            <a:pPr marL="457200" lvl="0" indent="0" algn="l" rtl="0">
              <a:lnSpc>
                <a:spcPct val="115000"/>
              </a:lnSpc>
              <a:spcBef>
                <a:spcPts val="1200"/>
              </a:spcBef>
              <a:spcAft>
                <a:spcPts val="0"/>
              </a:spcAft>
              <a:buNone/>
            </a:pPr>
            <a:endParaRPr sz="1100">
              <a:solidFill>
                <a:schemeClr val="lt1"/>
              </a:solidFill>
              <a:latin typeface="Open Sans Light"/>
              <a:ea typeface="Open Sans Light"/>
              <a:cs typeface="Open Sans Light"/>
              <a:sym typeface="Open Sans"/>
            </a:endParaRPr>
          </a:p>
          <a:p>
            <a:pPr marL="0" lvl="0" indent="0" algn="l" rtl="0">
              <a:lnSpc>
                <a:spcPct val="115000"/>
              </a:lnSpc>
              <a:spcBef>
                <a:spcPts val="1200"/>
              </a:spcBef>
              <a:spcAft>
                <a:spcPts val="0"/>
              </a:spcAft>
              <a:buNone/>
            </a:pPr>
            <a:endParaRPr sz="1100" b="1">
              <a:solidFill>
                <a:schemeClr val="lt1"/>
              </a:solidFill>
              <a:latin typeface="Open Sans ExtraBold"/>
              <a:ea typeface="Open Sans ExtraBold"/>
              <a:cs typeface="Open Sans ExtraBold"/>
              <a:sym typeface="Open Sans"/>
            </a:endParaRPr>
          </a:p>
          <a:p>
            <a:pPr marL="457200" lvl="0" indent="0" algn="l" rtl="0">
              <a:lnSpc>
                <a:spcPct val="115000"/>
              </a:lnSpc>
              <a:spcBef>
                <a:spcPts val="1200"/>
              </a:spcBef>
              <a:spcAft>
                <a:spcPts val="0"/>
              </a:spcAft>
              <a:buNone/>
            </a:pPr>
            <a:endParaRPr sz="1100">
              <a:solidFill>
                <a:schemeClr val="lt1"/>
              </a:solidFill>
              <a:latin typeface="Open Sans Light"/>
              <a:ea typeface="Open Sans Light"/>
              <a:cs typeface="Open Sans Light"/>
              <a:sym typeface="Open Sans"/>
            </a:endParaRPr>
          </a:p>
          <a:p>
            <a:pPr marL="0" lvl="0" indent="0" algn="l" rtl="0">
              <a:spcBef>
                <a:spcPts val="1200"/>
              </a:spcBef>
              <a:spcAft>
                <a:spcPts val="0"/>
              </a:spcAft>
              <a:buClr>
                <a:schemeClr val="dk1"/>
              </a:buClr>
              <a:buSzPts val="1100"/>
              <a:buFont typeface="Arial"/>
              <a:buNone/>
            </a:pPr>
            <a:endParaRPr sz="1200" b="1">
              <a:solidFill>
                <a:schemeClr val="lt1"/>
              </a:solidFill>
              <a:latin typeface="Open Sans ExtraBold"/>
              <a:ea typeface="Open Sans ExtraBold"/>
              <a:cs typeface="Open Sans ExtraBold"/>
              <a:sym typeface="Open Sans"/>
            </a:endParaRPr>
          </a:p>
        </p:txBody>
      </p:sp>
      <p:pic>
        <p:nvPicPr>
          <p:cNvPr id="259" name="Google Shape;259;p28"/>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533300" y="1292875"/>
            <a:ext cx="308875" cy="297075"/>
          </a:xfrm>
          <a:prstGeom prst="rect">
            <a:avLst/>
          </a:prstGeom>
          <a:noFill/>
          <a:ln>
            <a:noFill/>
          </a:ln>
        </p:spPr>
      </p:pic>
      <p:sp>
        <p:nvSpPr>
          <p:cNvPr id="260" name="Google Shape;260;p28"/>
          <p:cNvSpPr txBox="1"/>
          <p:nvPr/>
        </p:nvSpPr>
        <p:spPr>
          <a:xfrm>
            <a:off x="870173" y="1287525"/>
            <a:ext cx="10752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b="1">
                <a:highlight>
                  <a:srgbClr val="FFFFFF"/>
                </a:highlight>
                <a:latin typeface="Open Sans ExtraBold"/>
                <a:ea typeface="Open Sans ExtraBold"/>
                <a:cs typeface="Open Sans ExtraBold"/>
                <a:sym typeface="Open Sans"/>
              </a:rPr>
              <a:t>Tanguy DELESTRE</a:t>
            </a:r>
            <a:endParaRPr sz="800">
              <a:solidFill>
                <a:srgbClr val="000000"/>
              </a:solidFill>
              <a:highlight>
                <a:srgbClr val="FFFFFF"/>
              </a:highlight>
              <a:latin typeface="Open Sans Light"/>
              <a:ea typeface="Open Sans Light"/>
              <a:cs typeface="Open Sans Light"/>
              <a:sym typeface="Open Sans"/>
            </a:endParaRPr>
          </a:p>
        </p:txBody>
      </p:sp>
      <p:sp>
        <p:nvSpPr>
          <p:cNvPr id="261" name="Google Shape;261;p28"/>
          <p:cNvSpPr txBox="1"/>
          <p:nvPr/>
        </p:nvSpPr>
        <p:spPr>
          <a:xfrm>
            <a:off x="2599723" y="1287525"/>
            <a:ext cx="10752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b="1">
                <a:highlight>
                  <a:srgbClr val="FFFFFF"/>
                </a:highlight>
                <a:latin typeface="Open Sans ExtraBold"/>
                <a:ea typeface="Open Sans ExtraBold"/>
                <a:cs typeface="Open Sans ExtraBold"/>
                <a:sym typeface="Open Sans"/>
              </a:rPr>
              <a:t>Madiya BOMOLO</a:t>
            </a:r>
            <a:endParaRPr sz="800">
              <a:solidFill>
                <a:srgbClr val="000000"/>
              </a:solidFill>
              <a:highlight>
                <a:srgbClr val="FFFFFF"/>
              </a:highlight>
              <a:latin typeface="Open Sans Light"/>
              <a:ea typeface="Open Sans Light"/>
              <a:cs typeface="Open Sans Light"/>
              <a:sym typeface="Open Sans"/>
            </a:endParaRPr>
          </a:p>
        </p:txBody>
      </p:sp>
      <p:pic>
        <p:nvPicPr>
          <p:cNvPr id="262" name="Google Shape;262;p28"/>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2249425" y="1262188"/>
            <a:ext cx="350300" cy="358450"/>
          </a:xfrm>
          <a:prstGeom prst="rect">
            <a:avLst/>
          </a:prstGeom>
          <a:noFill/>
          <a:ln>
            <a:noFill/>
          </a:ln>
        </p:spPr>
      </p:pic>
      <p:pic>
        <p:nvPicPr>
          <p:cNvPr id="263" name="Google Shape;263;p28"/>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24642" y="1620650"/>
            <a:ext cx="308875" cy="318857"/>
          </a:xfrm>
          <a:prstGeom prst="rect">
            <a:avLst/>
          </a:prstGeom>
          <a:noFill/>
          <a:ln>
            <a:noFill/>
          </a:ln>
        </p:spPr>
      </p:pic>
      <p:sp>
        <p:nvSpPr>
          <p:cNvPr id="264" name="Google Shape;264;p28"/>
          <p:cNvSpPr txBox="1"/>
          <p:nvPr/>
        </p:nvSpPr>
        <p:spPr>
          <a:xfrm>
            <a:off x="871696" y="1621460"/>
            <a:ext cx="10752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b="1">
                <a:highlight>
                  <a:srgbClr val="FFFFFF"/>
                </a:highlight>
                <a:latin typeface="Open Sans ExtraBold"/>
                <a:ea typeface="Open Sans ExtraBold"/>
                <a:cs typeface="Open Sans ExtraBold"/>
                <a:sym typeface="Open Sans"/>
              </a:rPr>
              <a:t>Josselin RIETH</a:t>
            </a:r>
            <a:endParaRPr sz="800">
              <a:solidFill>
                <a:srgbClr val="000000"/>
              </a:solidFill>
              <a:highlight>
                <a:srgbClr val="FFFFFF"/>
              </a:highlight>
              <a:latin typeface="Open Sans Light"/>
              <a:ea typeface="Open Sans Light"/>
              <a:cs typeface="Open Sans Light"/>
              <a:sym typeface="Open Sans"/>
            </a:endParaRPr>
          </a:p>
        </p:txBody>
      </p:sp>
      <p:sp>
        <p:nvSpPr>
          <p:cNvPr id="265" name="Google Shape;265;p28"/>
          <p:cNvSpPr txBox="1"/>
          <p:nvPr/>
        </p:nvSpPr>
        <p:spPr>
          <a:xfrm>
            <a:off x="2603726" y="1616750"/>
            <a:ext cx="16923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b="1">
                <a:highlight>
                  <a:srgbClr val="FFFFFF"/>
                </a:highlight>
                <a:latin typeface="Open Sans ExtraBold"/>
                <a:ea typeface="Open Sans ExtraBold"/>
                <a:cs typeface="Open Sans ExtraBold"/>
                <a:sym typeface="Open Sans"/>
              </a:rPr>
              <a:t>Claude  HANNERCART</a:t>
            </a:r>
            <a:endParaRPr sz="800">
              <a:solidFill>
                <a:srgbClr val="000000"/>
              </a:solidFill>
              <a:highlight>
                <a:srgbClr val="FFFFFF"/>
              </a:highlight>
              <a:latin typeface="Open Sans Light"/>
              <a:ea typeface="Open Sans Light"/>
              <a:cs typeface="Open Sans Light"/>
              <a:sym typeface="Open Sans"/>
            </a:endParaRPr>
          </a:p>
        </p:txBody>
      </p:sp>
      <p:sp>
        <p:nvSpPr>
          <p:cNvPr id="266" name="Google Shape;266;p28"/>
          <p:cNvSpPr/>
          <p:nvPr/>
        </p:nvSpPr>
        <p:spPr>
          <a:xfrm>
            <a:off x="2289725" y="1645225"/>
            <a:ext cx="269700" cy="2697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29"/>
          <p:cNvSpPr txBox="1"/>
          <p:nvPr/>
        </p:nvSpPr>
        <p:spPr>
          <a:xfrm>
            <a:off x="438100" y="958025"/>
            <a:ext cx="3887100" cy="38988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sz="1000" b="1">
                <a:solidFill>
                  <a:srgbClr val="1200C5"/>
                </a:solidFill>
                <a:latin typeface="Open Sans ExtraBold"/>
                <a:ea typeface="Open Sans ExtraBold"/>
                <a:cs typeface="Open Sans ExtraBold"/>
                <a:sym typeface="Open Sans"/>
              </a:rPr>
              <a:t>Participants</a:t>
            </a:r>
            <a:endParaRPr sz="1000" b="1">
              <a:solidFill>
                <a:srgbClr val="1200C5"/>
              </a:solidFill>
              <a:latin typeface="Open Sans ExtraBold"/>
              <a:ea typeface="Open Sans ExtraBold"/>
              <a:cs typeface="Open Sans ExtraBold"/>
              <a:sym typeface="Open Sans"/>
            </a:endParaRPr>
          </a:p>
          <a:p>
            <a:pPr marL="0" marR="0" lvl="0" indent="0" algn="l" rtl="0">
              <a:lnSpc>
                <a:spcPct val="115000"/>
              </a:lnSpc>
              <a:spcBef>
                <a:spcPts val="0"/>
              </a:spcBef>
              <a:spcAft>
                <a:spcPts val="0"/>
              </a:spcAft>
              <a:buNone/>
            </a:pPr>
            <a:endParaRPr sz="1000">
              <a:solidFill>
                <a:schemeClr val="dk1"/>
              </a:solidFill>
              <a:latin typeface="Open Sans Light"/>
              <a:ea typeface="Open Sans Light"/>
              <a:cs typeface="Open Sans Light"/>
              <a:sym typeface="Open Sans"/>
            </a:endParaRPr>
          </a:p>
          <a:p>
            <a:pPr marL="0" marR="0" lvl="0" indent="0" algn="l" rtl="0">
              <a:lnSpc>
                <a:spcPct val="115000"/>
              </a:lnSpc>
              <a:spcBef>
                <a:spcPts val="0"/>
              </a:spcBef>
              <a:spcAft>
                <a:spcPts val="0"/>
              </a:spcAft>
              <a:buNone/>
            </a:pPr>
            <a:endParaRPr sz="1000">
              <a:solidFill>
                <a:schemeClr val="dk1"/>
              </a:solidFill>
              <a:latin typeface="Open Sans Light"/>
              <a:ea typeface="Open Sans Light"/>
              <a:cs typeface="Open Sans Light"/>
              <a:sym typeface="Open Sans"/>
            </a:endParaRPr>
          </a:p>
          <a:p>
            <a:pPr marL="0" lvl="0" indent="0" algn="l" rtl="0">
              <a:lnSpc>
                <a:spcPct val="115000"/>
              </a:lnSpc>
              <a:spcBef>
                <a:spcPts val="1200"/>
              </a:spcBef>
              <a:spcAft>
                <a:spcPts val="0"/>
              </a:spcAft>
              <a:buNone/>
            </a:pPr>
            <a:r>
              <a:rPr lang="en" sz="1000" b="1">
                <a:solidFill>
                  <a:srgbClr val="1200C5"/>
                </a:solidFill>
                <a:latin typeface="Open Sans ExtraBold"/>
                <a:ea typeface="Open Sans ExtraBold"/>
                <a:cs typeface="Open Sans ExtraBold"/>
                <a:sym typeface="Open Sans"/>
              </a:rPr>
              <a:t>Description</a:t>
            </a:r>
            <a:br>
              <a:rPr lang="en" sz="1000" b="1">
                <a:solidFill>
                  <a:schemeClr val="dk1"/>
                </a:solidFill>
                <a:latin typeface="Open Sans ExtraBold"/>
                <a:ea typeface="Open Sans ExtraBold"/>
                <a:cs typeface="Open Sans ExtraBold"/>
                <a:sym typeface="Open Sans"/>
              </a:rPr>
            </a:br>
            <a:r>
              <a:rPr lang="en" sz="1000">
                <a:solidFill>
                  <a:schemeClr val="dk1"/>
                </a:solidFill>
                <a:latin typeface="Open Sans Light"/>
                <a:ea typeface="Open Sans Light"/>
                <a:cs typeface="Open Sans Light"/>
                <a:sym typeface="Open Sans"/>
              </a:rPr>
              <a:t>Développer un outil simple et opérationnel permettant à une organisation d’identifier ses dépendances numériques critiques, d’évaluer les risques associés et de mesurer sa capacité à les maîtriser.</a:t>
            </a:r>
            <a:endParaRPr sz="1000">
              <a:solidFill>
                <a:schemeClr val="dk1"/>
              </a:solidFill>
              <a:latin typeface="Open Sans Light"/>
              <a:ea typeface="Open Sans Light"/>
              <a:cs typeface="Open Sans Light"/>
              <a:sym typeface="Open Sans"/>
            </a:endParaRPr>
          </a:p>
          <a:p>
            <a:pPr marL="0" lvl="0" indent="0" algn="l" rtl="0">
              <a:lnSpc>
                <a:spcPct val="115000"/>
              </a:lnSpc>
              <a:spcBef>
                <a:spcPts val="1200"/>
              </a:spcBef>
              <a:spcAft>
                <a:spcPts val="0"/>
              </a:spcAft>
              <a:buNone/>
            </a:pPr>
            <a:r>
              <a:rPr lang="en" sz="1000" b="1">
                <a:solidFill>
                  <a:srgbClr val="1200C5"/>
                </a:solidFill>
                <a:latin typeface="Open Sans ExtraBold"/>
                <a:ea typeface="Open Sans ExtraBold"/>
                <a:cs typeface="Open Sans ExtraBold"/>
                <a:sym typeface="Open Sans"/>
              </a:rPr>
              <a:t>Objectifs</a:t>
            </a:r>
            <a:endParaRPr sz="1000">
              <a:solidFill>
                <a:schemeClr val="dk1"/>
              </a:solidFill>
              <a:latin typeface="Open Sans Light"/>
              <a:ea typeface="Open Sans Light"/>
              <a:cs typeface="Open Sans Light"/>
              <a:sym typeface="Open Sans"/>
            </a:endParaRPr>
          </a:p>
          <a:p>
            <a:pPr marL="457200" lvl="0" indent="-298450" algn="l" rtl="0">
              <a:lnSpc>
                <a:spcPct val="115000"/>
              </a:lnSpc>
              <a:spcBef>
                <a:spcPts val="1200"/>
              </a:spcBef>
              <a:spcAft>
                <a:spcPts val="0"/>
              </a:spcAft>
              <a:buClr>
                <a:schemeClr val="dk1"/>
              </a:buClr>
              <a:buSzPts val="1100"/>
              <a:buChar char="●"/>
            </a:pPr>
            <a:r>
              <a:rPr lang="en" sz="1000">
                <a:solidFill>
                  <a:schemeClr val="dk1"/>
                </a:solidFill>
                <a:latin typeface="Open Sans Light"/>
                <a:ea typeface="Open Sans Light"/>
                <a:cs typeface="Open Sans Light"/>
                <a:sym typeface="Open Sans"/>
              </a:rPr>
              <a:t>Fournir un langage commun pour évaluer la souveraineté numérique.</a:t>
            </a:r>
            <a:endParaRPr sz="1000">
              <a:solidFill>
                <a:schemeClr val="dk1"/>
              </a:solidFill>
              <a:latin typeface="Open Sans Light"/>
              <a:ea typeface="Open Sans Light"/>
              <a:cs typeface="Open Sans Light"/>
              <a:sym typeface="Open Sans"/>
            </a:endParaRPr>
          </a:p>
          <a:p>
            <a:pPr marL="457200" lvl="0" indent="-298450" algn="l" rtl="0">
              <a:lnSpc>
                <a:spcPct val="115000"/>
              </a:lnSpc>
              <a:spcBef>
                <a:spcPts val="0"/>
              </a:spcBef>
              <a:spcAft>
                <a:spcPts val="0"/>
              </a:spcAft>
              <a:buClr>
                <a:schemeClr val="dk1"/>
              </a:buClr>
              <a:buSzPts val="1100"/>
              <a:buChar char="●"/>
            </a:pPr>
            <a:r>
              <a:rPr lang="en" sz="1000">
                <a:solidFill>
                  <a:schemeClr val="dk1"/>
                </a:solidFill>
                <a:latin typeface="Open Sans Light"/>
                <a:ea typeface="Open Sans Light"/>
                <a:cs typeface="Open Sans Light"/>
                <a:sym typeface="Open Sans"/>
              </a:rPr>
              <a:t>Identifier les dépendances critiques.</a:t>
            </a:r>
            <a:endParaRPr sz="1000">
              <a:solidFill>
                <a:schemeClr val="dk1"/>
              </a:solidFill>
              <a:latin typeface="Open Sans Light"/>
              <a:ea typeface="Open Sans Light"/>
              <a:cs typeface="Open Sans Light"/>
              <a:sym typeface="Open Sans"/>
            </a:endParaRPr>
          </a:p>
          <a:p>
            <a:pPr marL="457200" lvl="0" indent="-298450" algn="l" rtl="0">
              <a:lnSpc>
                <a:spcPct val="115000"/>
              </a:lnSpc>
              <a:spcBef>
                <a:spcPts val="0"/>
              </a:spcBef>
              <a:spcAft>
                <a:spcPts val="0"/>
              </a:spcAft>
              <a:buClr>
                <a:schemeClr val="dk1"/>
              </a:buClr>
              <a:buSzPts val="1100"/>
              <a:buChar char="●"/>
            </a:pPr>
            <a:r>
              <a:rPr lang="en" sz="1000">
                <a:solidFill>
                  <a:schemeClr val="dk1"/>
                </a:solidFill>
                <a:latin typeface="Open Sans Light"/>
                <a:ea typeface="Open Sans Light"/>
                <a:cs typeface="Open Sans Light"/>
                <a:sym typeface="Open Sans"/>
              </a:rPr>
              <a:t>Évaluer les risques et le niveau de maîtrise.</a:t>
            </a:r>
            <a:endParaRPr sz="1000">
              <a:solidFill>
                <a:schemeClr val="dk1"/>
              </a:solidFill>
              <a:latin typeface="Open Sans Light"/>
              <a:ea typeface="Open Sans Light"/>
              <a:cs typeface="Open Sans Light"/>
              <a:sym typeface="Open Sans"/>
            </a:endParaRPr>
          </a:p>
          <a:p>
            <a:pPr marL="457200" lvl="0" indent="-298450" algn="l" rtl="0">
              <a:lnSpc>
                <a:spcPct val="115000"/>
              </a:lnSpc>
              <a:spcBef>
                <a:spcPts val="0"/>
              </a:spcBef>
              <a:spcAft>
                <a:spcPts val="0"/>
              </a:spcAft>
              <a:buClr>
                <a:schemeClr val="dk1"/>
              </a:buClr>
              <a:buSzPts val="1100"/>
              <a:buChar char="●"/>
            </a:pPr>
            <a:r>
              <a:rPr lang="en" sz="1000">
                <a:solidFill>
                  <a:schemeClr val="dk1"/>
                </a:solidFill>
                <a:latin typeface="Open Sans Light"/>
                <a:ea typeface="Open Sans Light"/>
                <a:cs typeface="Open Sans Light"/>
                <a:sym typeface="Open Sans"/>
              </a:rPr>
              <a:t>Aider les organisations à prioriser leurs actions.</a:t>
            </a:r>
            <a:endParaRPr sz="1000">
              <a:solidFill>
                <a:schemeClr val="dk1"/>
              </a:solidFill>
              <a:latin typeface="Open Sans Light"/>
              <a:ea typeface="Open Sans Light"/>
              <a:cs typeface="Open Sans Light"/>
              <a:sym typeface="Open Sans"/>
            </a:endParaRPr>
          </a:p>
          <a:p>
            <a:pPr marL="457200" lvl="0" indent="-298450" algn="l" rtl="0">
              <a:lnSpc>
                <a:spcPct val="115000"/>
              </a:lnSpc>
              <a:spcBef>
                <a:spcPts val="0"/>
              </a:spcBef>
              <a:spcAft>
                <a:spcPts val="0"/>
              </a:spcAft>
              <a:buClr>
                <a:schemeClr val="dk1"/>
              </a:buClr>
              <a:buSzPts val="1100"/>
              <a:buChar char="●"/>
            </a:pPr>
            <a:r>
              <a:rPr lang="en" sz="1000">
                <a:solidFill>
                  <a:schemeClr val="dk1"/>
                </a:solidFill>
                <a:latin typeface="Open Sans Light"/>
                <a:ea typeface="Open Sans Light"/>
                <a:cs typeface="Open Sans Light"/>
                <a:sym typeface="Open Sans"/>
              </a:rPr>
              <a:t>Permettre de mesurer les progrès dans le temps.</a:t>
            </a:r>
            <a:endParaRPr sz="1000">
              <a:solidFill>
                <a:schemeClr val="dk1"/>
              </a:solidFill>
              <a:latin typeface="Open Sans Light"/>
              <a:ea typeface="Open Sans Light"/>
              <a:cs typeface="Open Sans Light"/>
              <a:sym typeface="Open Sans"/>
            </a:endParaRPr>
          </a:p>
          <a:p>
            <a:pPr marL="457200" lvl="0" indent="0" algn="l" rtl="0">
              <a:lnSpc>
                <a:spcPct val="115000"/>
              </a:lnSpc>
              <a:spcBef>
                <a:spcPts val="1200"/>
              </a:spcBef>
              <a:spcAft>
                <a:spcPts val="0"/>
              </a:spcAft>
              <a:buNone/>
            </a:pPr>
            <a:endParaRPr sz="1000">
              <a:solidFill>
                <a:schemeClr val="dk1"/>
              </a:solidFill>
              <a:latin typeface="Open Sans Light"/>
              <a:ea typeface="Open Sans Light"/>
              <a:cs typeface="Open Sans Light"/>
              <a:sym typeface="Open Sans"/>
            </a:endParaRPr>
          </a:p>
          <a:p>
            <a:pPr marL="457200" lvl="0" indent="0" algn="l" rtl="0">
              <a:lnSpc>
                <a:spcPct val="115000"/>
              </a:lnSpc>
              <a:spcBef>
                <a:spcPts val="1200"/>
              </a:spcBef>
              <a:spcAft>
                <a:spcPts val="0"/>
              </a:spcAft>
              <a:buNone/>
            </a:pPr>
            <a:endParaRPr sz="1000">
              <a:solidFill>
                <a:schemeClr val="dk1"/>
              </a:solidFill>
              <a:latin typeface="Open Sans Light"/>
              <a:ea typeface="Open Sans Light"/>
              <a:cs typeface="Open Sans Light"/>
              <a:sym typeface="Open Sans"/>
            </a:endParaRPr>
          </a:p>
          <a:p>
            <a:pPr marL="457200" lvl="0" indent="0" algn="l" rtl="0">
              <a:lnSpc>
                <a:spcPct val="115000"/>
              </a:lnSpc>
              <a:spcBef>
                <a:spcPts val="1200"/>
              </a:spcBef>
              <a:spcAft>
                <a:spcPts val="0"/>
              </a:spcAft>
              <a:buNone/>
            </a:pPr>
            <a:endParaRPr sz="1000">
              <a:solidFill>
                <a:schemeClr val="dk1"/>
              </a:solidFill>
              <a:latin typeface="Open Sans Light"/>
              <a:ea typeface="Open Sans Light"/>
              <a:cs typeface="Open Sans Light"/>
              <a:sym typeface="Open Sans"/>
            </a:endParaRPr>
          </a:p>
          <a:p>
            <a:pPr marL="457200" lvl="0" indent="0" algn="l" rtl="0">
              <a:lnSpc>
                <a:spcPct val="115000"/>
              </a:lnSpc>
              <a:spcBef>
                <a:spcPts val="1200"/>
              </a:spcBef>
              <a:spcAft>
                <a:spcPts val="0"/>
              </a:spcAft>
              <a:buNone/>
            </a:pPr>
            <a:endParaRPr sz="1000">
              <a:solidFill>
                <a:schemeClr val="dk1"/>
              </a:solidFill>
              <a:latin typeface="Open Sans Light"/>
              <a:ea typeface="Open Sans Light"/>
              <a:cs typeface="Open Sans Light"/>
              <a:sym typeface="Open Sans"/>
            </a:endParaRPr>
          </a:p>
          <a:p>
            <a:pPr marL="457200" lvl="0" indent="0" algn="l" rtl="0">
              <a:lnSpc>
                <a:spcPct val="115000"/>
              </a:lnSpc>
              <a:spcBef>
                <a:spcPts val="1200"/>
              </a:spcBef>
              <a:spcAft>
                <a:spcPts val="0"/>
              </a:spcAft>
              <a:buNone/>
            </a:pPr>
            <a:endParaRPr sz="1000">
              <a:solidFill>
                <a:schemeClr val="dk1"/>
              </a:solidFill>
              <a:latin typeface="Open Sans Light"/>
              <a:ea typeface="Open Sans Light"/>
              <a:cs typeface="Open Sans Light"/>
              <a:sym typeface="Open Sans"/>
            </a:endParaRPr>
          </a:p>
          <a:p>
            <a:pPr marL="0" marR="0" lvl="0" indent="0" algn="l" rtl="0">
              <a:lnSpc>
                <a:spcPct val="115000"/>
              </a:lnSpc>
              <a:spcBef>
                <a:spcPts val="1200"/>
              </a:spcBef>
              <a:spcAft>
                <a:spcPts val="0"/>
              </a:spcAft>
              <a:buNone/>
            </a:pPr>
            <a:endParaRPr sz="1100" b="1">
              <a:solidFill>
                <a:srgbClr val="1200C5"/>
              </a:solidFill>
              <a:latin typeface="Open Sans ExtraBold"/>
              <a:ea typeface="Open Sans ExtraBold"/>
              <a:cs typeface="Open Sans ExtraBold"/>
              <a:sym typeface="Open Sans"/>
            </a:endParaRPr>
          </a:p>
        </p:txBody>
      </p:sp>
      <p:sp>
        <p:nvSpPr>
          <p:cNvPr id="272" name="Google Shape;272;p29"/>
          <p:cNvSpPr txBox="1"/>
          <p:nvPr/>
        </p:nvSpPr>
        <p:spPr>
          <a:xfrm>
            <a:off x="380050" y="239025"/>
            <a:ext cx="43323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b="1">
                <a:solidFill>
                  <a:srgbClr val="0A00BE"/>
                </a:solidFill>
                <a:latin typeface="Open Sans ExtraBold"/>
                <a:ea typeface="Open Sans ExtraBold"/>
                <a:cs typeface="Open Sans ExtraBold"/>
                <a:sym typeface="Open Sans"/>
              </a:rPr>
              <a:t>GT 6 – Outil d’évaluation de la maturité et des risques</a:t>
            </a:r>
            <a:endParaRPr b="1">
              <a:solidFill>
                <a:srgbClr val="0A00BE"/>
              </a:solidFill>
              <a:latin typeface="Open Sans ExtraBold"/>
              <a:ea typeface="Open Sans ExtraBold"/>
              <a:cs typeface="Open Sans ExtraBold"/>
              <a:sym typeface="Open Sans"/>
            </a:endParaRPr>
          </a:p>
        </p:txBody>
      </p:sp>
      <p:sp>
        <p:nvSpPr>
          <p:cNvPr id="273" name="Google Shape;273;p29"/>
          <p:cNvSpPr/>
          <p:nvPr/>
        </p:nvSpPr>
        <p:spPr>
          <a:xfrm>
            <a:off x="4823425" y="7450"/>
            <a:ext cx="4332300" cy="5143500"/>
          </a:xfrm>
          <a:prstGeom prst="rect">
            <a:avLst/>
          </a:prstGeom>
          <a:solidFill>
            <a:srgbClr val="134F5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74" name="Google Shape;274;p29"/>
          <p:cNvSpPr txBox="1"/>
          <p:nvPr/>
        </p:nvSpPr>
        <p:spPr>
          <a:xfrm>
            <a:off x="5151025" y="308550"/>
            <a:ext cx="3677100" cy="4342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100" b="1">
                <a:solidFill>
                  <a:schemeClr val="lt1"/>
                </a:solidFill>
                <a:latin typeface="Open Sans ExtraBold"/>
                <a:ea typeface="Open Sans ExtraBold"/>
                <a:cs typeface="Open Sans ExtraBold"/>
                <a:sym typeface="Open Sans"/>
              </a:rPr>
              <a:t>Tâches / Livrables</a:t>
            </a:r>
            <a:endParaRPr sz="1100" b="1">
              <a:solidFill>
                <a:schemeClr val="lt1"/>
              </a:solidFill>
              <a:latin typeface="Open Sans ExtraBold"/>
              <a:ea typeface="Open Sans ExtraBold"/>
              <a:cs typeface="Open Sans ExtraBold"/>
              <a:sym typeface="Open Sans"/>
            </a:endParaRPr>
          </a:p>
          <a:p>
            <a:pPr marL="457200" lvl="0" indent="0" algn="l" rtl="0">
              <a:lnSpc>
                <a:spcPct val="115000"/>
              </a:lnSpc>
              <a:spcBef>
                <a:spcPts val="1200"/>
              </a:spcBef>
              <a:spcAft>
                <a:spcPts val="0"/>
              </a:spcAft>
              <a:buNone/>
            </a:pPr>
            <a:endParaRPr sz="1100" b="1">
              <a:solidFill>
                <a:schemeClr val="lt1"/>
              </a:solidFill>
              <a:latin typeface="Open Sans ExtraBold"/>
              <a:ea typeface="Open Sans ExtraBold"/>
              <a:cs typeface="Open Sans ExtraBold"/>
              <a:sym typeface="Open Sans"/>
            </a:endParaRPr>
          </a:p>
          <a:p>
            <a:pPr marL="457200" lvl="0" indent="-298450" algn="l" rtl="0">
              <a:lnSpc>
                <a:spcPct val="115000"/>
              </a:lnSpc>
              <a:spcBef>
                <a:spcPts val="1200"/>
              </a:spcBef>
              <a:spcAft>
                <a:spcPts val="0"/>
              </a:spcAft>
              <a:buClr>
                <a:schemeClr val="lt1"/>
              </a:buClr>
              <a:buSzPts val="1100"/>
              <a:buFont typeface="Open Sans"/>
              <a:buChar char="❏"/>
            </a:pPr>
            <a:r>
              <a:rPr lang="en" sz="1100">
                <a:solidFill>
                  <a:schemeClr val="lt1"/>
                </a:solidFill>
                <a:latin typeface="Open Sans Light"/>
                <a:ea typeface="Open Sans Light"/>
                <a:cs typeface="Open Sans Light"/>
                <a:sym typeface="Open Sans"/>
              </a:rPr>
              <a:t>Analyser les outils et méthodes existants.</a:t>
            </a:r>
            <a:endParaRPr sz="1100">
              <a:solidFill>
                <a:schemeClr val="lt1"/>
              </a:solidFill>
              <a:latin typeface="Open Sans Light"/>
              <a:ea typeface="Open Sans Light"/>
              <a:cs typeface="Open Sans Light"/>
              <a:sym typeface="Open Sans"/>
            </a:endParaRPr>
          </a:p>
          <a:p>
            <a:pPr marL="457200" lvl="0" indent="-298450" algn="l" rtl="0">
              <a:lnSpc>
                <a:spcPct val="115000"/>
              </a:lnSpc>
              <a:spcBef>
                <a:spcPts val="600"/>
              </a:spcBef>
              <a:spcAft>
                <a:spcPts val="0"/>
              </a:spcAft>
              <a:buClr>
                <a:schemeClr val="lt1"/>
              </a:buClr>
              <a:buSzPts val="1100"/>
              <a:buFont typeface="Open Sans"/>
              <a:buChar char="❏"/>
            </a:pPr>
            <a:r>
              <a:rPr lang="en" sz="1100">
                <a:solidFill>
                  <a:schemeClr val="lt1"/>
                </a:solidFill>
                <a:latin typeface="Open Sans Light"/>
                <a:ea typeface="Open Sans Light"/>
                <a:cs typeface="Open Sans Light"/>
                <a:sym typeface="Open Sans"/>
              </a:rPr>
              <a:t>Définir les dimensions et critères d’évaluation.</a:t>
            </a:r>
            <a:endParaRPr sz="1100">
              <a:solidFill>
                <a:schemeClr val="lt1"/>
              </a:solidFill>
              <a:latin typeface="Open Sans Light"/>
              <a:ea typeface="Open Sans Light"/>
              <a:cs typeface="Open Sans Light"/>
              <a:sym typeface="Open Sans"/>
            </a:endParaRPr>
          </a:p>
          <a:p>
            <a:pPr marL="457200" lvl="0" indent="-298450" algn="l" rtl="0">
              <a:lnSpc>
                <a:spcPct val="115000"/>
              </a:lnSpc>
              <a:spcBef>
                <a:spcPts val="600"/>
              </a:spcBef>
              <a:spcAft>
                <a:spcPts val="0"/>
              </a:spcAft>
              <a:buClr>
                <a:schemeClr val="lt1"/>
              </a:buClr>
              <a:buSzPts val="1100"/>
              <a:buFont typeface="Open Sans"/>
              <a:buChar char="❏"/>
            </a:pPr>
            <a:r>
              <a:rPr lang="en" sz="1100">
                <a:solidFill>
                  <a:schemeClr val="lt1"/>
                </a:solidFill>
                <a:latin typeface="Open Sans Light"/>
                <a:ea typeface="Open Sans Light"/>
                <a:cs typeface="Open Sans Light"/>
                <a:sym typeface="Open Sans"/>
              </a:rPr>
              <a:t>Construire le questionnaire et la méthode de scoring.</a:t>
            </a:r>
            <a:endParaRPr sz="1100">
              <a:solidFill>
                <a:schemeClr val="lt1"/>
              </a:solidFill>
              <a:latin typeface="Open Sans Light"/>
              <a:ea typeface="Open Sans Light"/>
              <a:cs typeface="Open Sans Light"/>
              <a:sym typeface="Open Sans"/>
            </a:endParaRPr>
          </a:p>
          <a:p>
            <a:pPr marL="457200" lvl="0" indent="-298450" algn="l" rtl="0">
              <a:lnSpc>
                <a:spcPct val="115000"/>
              </a:lnSpc>
              <a:spcBef>
                <a:spcPts val="600"/>
              </a:spcBef>
              <a:spcAft>
                <a:spcPts val="0"/>
              </a:spcAft>
              <a:buClr>
                <a:schemeClr val="lt1"/>
              </a:buClr>
              <a:buSzPts val="1100"/>
              <a:buFont typeface="Open Sans"/>
              <a:buChar char="❏"/>
            </a:pPr>
            <a:r>
              <a:rPr lang="en" sz="1100">
                <a:solidFill>
                  <a:schemeClr val="lt1"/>
                </a:solidFill>
                <a:latin typeface="Open Sans Light"/>
                <a:ea typeface="Open Sans Light"/>
                <a:cs typeface="Open Sans Light"/>
                <a:sym typeface="Open Sans"/>
              </a:rPr>
              <a:t>Tester l’outil sur des cas réels et l’améliorer en fonction des retours d’expérience.</a:t>
            </a:r>
            <a:endParaRPr sz="1100">
              <a:solidFill>
                <a:schemeClr val="lt1"/>
              </a:solidFill>
              <a:latin typeface="Open Sans Light"/>
              <a:ea typeface="Open Sans Light"/>
              <a:cs typeface="Open Sans Light"/>
              <a:sym typeface="Open Sans"/>
            </a:endParaRPr>
          </a:p>
          <a:p>
            <a:pPr marL="457200" lvl="0" indent="0" algn="l" rtl="0">
              <a:lnSpc>
                <a:spcPct val="115000"/>
              </a:lnSpc>
              <a:spcBef>
                <a:spcPts val="1200"/>
              </a:spcBef>
              <a:spcAft>
                <a:spcPts val="0"/>
              </a:spcAft>
              <a:buNone/>
            </a:pPr>
            <a:endParaRPr sz="1100" b="1">
              <a:solidFill>
                <a:schemeClr val="lt1"/>
              </a:solidFill>
              <a:latin typeface="Open Sans ExtraBold"/>
              <a:ea typeface="Open Sans ExtraBold"/>
              <a:cs typeface="Open Sans ExtraBold"/>
              <a:sym typeface="Open Sans"/>
            </a:endParaRPr>
          </a:p>
          <a:p>
            <a:pPr marL="0" lvl="0" indent="0" algn="l" rtl="0">
              <a:lnSpc>
                <a:spcPct val="115000"/>
              </a:lnSpc>
              <a:spcBef>
                <a:spcPts val="1200"/>
              </a:spcBef>
              <a:spcAft>
                <a:spcPts val="0"/>
              </a:spcAft>
              <a:buNone/>
            </a:pPr>
            <a:endParaRPr sz="1100" b="1">
              <a:solidFill>
                <a:schemeClr val="lt1"/>
              </a:solidFill>
              <a:latin typeface="Open Sans ExtraBold"/>
              <a:ea typeface="Open Sans ExtraBold"/>
              <a:cs typeface="Open Sans ExtraBold"/>
              <a:sym typeface="Open Sans"/>
            </a:endParaRPr>
          </a:p>
          <a:p>
            <a:pPr marL="457200" lvl="0" indent="0" algn="l" rtl="0">
              <a:lnSpc>
                <a:spcPct val="115000"/>
              </a:lnSpc>
              <a:spcBef>
                <a:spcPts val="1200"/>
              </a:spcBef>
              <a:spcAft>
                <a:spcPts val="0"/>
              </a:spcAft>
              <a:buNone/>
            </a:pPr>
            <a:endParaRPr sz="1100">
              <a:solidFill>
                <a:schemeClr val="lt1"/>
              </a:solidFill>
              <a:latin typeface="Open Sans Light"/>
              <a:ea typeface="Open Sans Light"/>
              <a:cs typeface="Open Sans Light"/>
              <a:sym typeface="Open Sans"/>
            </a:endParaRPr>
          </a:p>
          <a:p>
            <a:pPr marL="0" lvl="0" indent="0" algn="l" rtl="0">
              <a:spcBef>
                <a:spcPts val="1200"/>
              </a:spcBef>
              <a:spcAft>
                <a:spcPts val="0"/>
              </a:spcAft>
              <a:buClr>
                <a:schemeClr val="dk1"/>
              </a:buClr>
              <a:buSzPts val="1100"/>
              <a:buFont typeface="Arial"/>
              <a:buNone/>
            </a:pPr>
            <a:endParaRPr sz="1100" b="1">
              <a:solidFill>
                <a:schemeClr val="lt1"/>
              </a:solidFill>
              <a:latin typeface="Open Sans ExtraBold"/>
              <a:ea typeface="Open Sans ExtraBold"/>
              <a:cs typeface="Open Sans ExtraBold"/>
              <a:sym typeface="Open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30"/>
          <p:cNvSpPr txBox="1"/>
          <p:nvPr/>
        </p:nvSpPr>
        <p:spPr>
          <a:xfrm>
            <a:off x="438100" y="958025"/>
            <a:ext cx="3887100" cy="38988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sz="1000" b="1">
                <a:solidFill>
                  <a:srgbClr val="1200C5"/>
                </a:solidFill>
                <a:latin typeface="Open Sans ExtraBold"/>
                <a:ea typeface="Open Sans ExtraBold"/>
                <a:cs typeface="Open Sans ExtraBold"/>
                <a:sym typeface="Open Sans"/>
              </a:rPr>
              <a:t>Participants</a:t>
            </a:r>
            <a:endParaRPr sz="1000" b="1">
              <a:solidFill>
                <a:srgbClr val="1200C5"/>
              </a:solidFill>
              <a:latin typeface="Open Sans ExtraBold"/>
              <a:ea typeface="Open Sans ExtraBold"/>
              <a:cs typeface="Open Sans ExtraBold"/>
              <a:sym typeface="Open Sans"/>
            </a:endParaRPr>
          </a:p>
          <a:p>
            <a:pPr marL="0" marR="0" lvl="0" indent="0" algn="l" rtl="0">
              <a:lnSpc>
                <a:spcPct val="115000"/>
              </a:lnSpc>
              <a:spcBef>
                <a:spcPts val="0"/>
              </a:spcBef>
              <a:spcAft>
                <a:spcPts val="0"/>
              </a:spcAft>
              <a:buNone/>
            </a:pPr>
            <a:endParaRPr sz="1000">
              <a:solidFill>
                <a:schemeClr val="dk1"/>
              </a:solidFill>
              <a:latin typeface="Open Sans Light"/>
              <a:ea typeface="Open Sans Light"/>
              <a:cs typeface="Open Sans Light"/>
              <a:sym typeface="Open Sans"/>
            </a:endParaRPr>
          </a:p>
          <a:p>
            <a:pPr marL="0" marR="0" lvl="0" indent="0" algn="l" rtl="0">
              <a:lnSpc>
                <a:spcPct val="115000"/>
              </a:lnSpc>
              <a:spcBef>
                <a:spcPts val="0"/>
              </a:spcBef>
              <a:spcAft>
                <a:spcPts val="0"/>
              </a:spcAft>
              <a:buNone/>
            </a:pPr>
            <a:endParaRPr sz="1000">
              <a:solidFill>
                <a:schemeClr val="dk1"/>
              </a:solidFill>
              <a:latin typeface="Open Sans Light"/>
              <a:ea typeface="Open Sans Light"/>
              <a:cs typeface="Open Sans Light"/>
              <a:sym typeface="Open Sans"/>
            </a:endParaRPr>
          </a:p>
          <a:p>
            <a:pPr marL="0" lvl="0" indent="0" algn="l" rtl="0">
              <a:lnSpc>
                <a:spcPct val="115000"/>
              </a:lnSpc>
              <a:spcBef>
                <a:spcPts val="1200"/>
              </a:spcBef>
              <a:spcAft>
                <a:spcPts val="0"/>
              </a:spcAft>
              <a:buNone/>
            </a:pPr>
            <a:r>
              <a:rPr lang="en" sz="1000" b="1">
                <a:solidFill>
                  <a:srgbClr val="1200C5"/>
                </a:solidFill>
                <a:latin typeface="Open Sans ExtraBold"/>
                <a:ea typeface="Open Sans ExtraBold"/>
                <a:cs typeface="Open Sans ExtraBold"/>
                <a:sym typeface="Open Sans"/>
              </a:rPr>
              <a:t>Description</a:t>
            </a:r>
            <a:br>
              <a:rPr lang="en" sz="1000" b="1">
                <a:solidFill>
                  <a:schemeClr val="dk1"/>
                </a:solidFill>
                <a:latin typeface="Open Sans ExtraBold"/>
                <a:ea typeface="Open Sans ExtraBold"/>
                <a:cs typeface="Open Sans ExtraBold"/>
                <a:sym typeface="Open Sans"/>
              </a:rPr>
            </a:br>
            <a:r>
              <a:rPr lang="en" sz="1000">
                <a:solidFill>
                  <a:schemeClr val="dk1"/>
                </a:solidFill>
                <a:latin typeface="Open Sans Light"/>
                <a:ea typeface="Open Sans Light"/>
                <a:cs typeface="Open Sans Light"/>
                <a:sym typeface="Open Sans"/>
              </a:rPr>
              <a:t>Développer un outil simple et opérationnel permettant à une organisation d’identifier ses dépendances numériques critiques, d’évaluer les risques associés et de mesurer sa capacité à les maîtriser.</a:t>
            </a:r>
            <a:endParaRPr sz="1000">
              <a:solidFill>
                <a:schemeClr val="dk1"/>
              </a:solidFill>
              <a:latin typeface="Open Sans Light"/>
              <a:ea typeface="Open Sans Light"/>
              <a:cs typeface="Open Sans Light"/>
              <a:sym typeface="Open Sans"/>
            </a:endParaRPr>
          </a:p>
          <a:p>
            <a:pPr marL="0" lvl="0" indent="0" algn="l" rtl="0">
              <a:lnSpc>
                <a:spcPct val="115000"/>
              </a:lnSpc>
              <a:spcBef>
                <a:spcPts val="1200"/>
              </a:spcBef>
              <a:spcAft>
                <a:spcPts val="0"/>
              </a:spcAft>
              <a:buNone/>
            </a:pPr>
            <a:r>
              <a:rPr lang="en" sz="1000" b="1">
                <a:solidFill>
                  <a:srgbClr val="1200C5"/>
                </a:solidFill>
                <a:latin typeface="Open Sans ExtraBold"/>
                <a:ea typeface="Open Sans ExtraBold"/>
                <a:cs typeface="Open Sans ExtraBold"/>
                <a:sym typeface="Open Sans"/>
              </a:rPr>
              <a:t>Objectifs</a:t>
            </a:r>
            <a:endParaRPr sz="1000">
              <a:solidFill>
                <a:schemeClr val="dk1"/>
              </a:solidFill>
              <a:latin typeface="Open Sans Light"/>
              <a:ea typeface="Open Sans Light"/>
              <a:cs typeface="Open Sans Light"/>
              <a:sym typeface="Open Sans"/>
            </a:endParaRPr>
          </a:p>
          <a:p>
            <a:pPr marL="457200" lvl="0" indent="-298450" algn="l" rtl="0">
              <a:lnSpc>
                <a:spcPct val="115000"/>
              </a:lnSpc>
              <a:spcBef>
                <a:spcPts val="1200"/>
              </a:spcBef>
              <a:spcAft>
                <a:spcPts val="0"/>
              </a:spcAft>
              <a:buClr>
                <a:schemeClr val="dk1"/>
              </a:buClr>
              <a:buSzPts val="1100"/>
              <a:buChar char="●"/>
            </a:pPr>
            <a:r>
              <a:rPr lang="en" sz="1000">
                <a:solidFill>
                  <a:schemeClr val="dk1"/>
                </a:solidFill>
                <a:latin typeface="Open Sans Light"/>
                <a:ea typeface="Open Sans Light"/>
                <a:cs typeface="Open Sans Light"/>
                <a:sym typeface="Open Sans"/>
              </a:rPr>
              <a:t>Fournir un langage commun pour évaluer la souveraineté numérique.</a:t>
            </a:r>
            <a:endParaRPr sz="1000">
              <a:solidFill>
                <a:schemeClr val="dk1"/>
              </a:solidFill>
              <a:latin typeface="Open Sans Light"/>
              <a:ea typeface="Open Sans Light"/>
              <a:cs typeface="Open Sans Light"/>
              <a:sym typeface="Open Sans"/>
            </a:endParaRPr>
          </a:p>
          <a:p>
            <a:pPr marL="457200" lvl="0" indent="-298450" algn="l" rtl="0">
              <a:lnSpc>
                <a:spcPct val="115000"/>
              </a:lnSpc>
              <a:spcBef>
                <a:spcPts val="0"/>
              </a:spcBef>
              <a:spcAft>
                <a:spcPts val="0"/>
              </a:spcAft>
              <a:buClr>
                <a:schemeClr val="dk1"/>
              </a:buClr>
              <a:buSzPts val="1100"/>
              <a:buChar char="●"/>
            </a:pPr>
            <a:r>
              <a:rPr lang="en" sz="1000">
                <a:solidFill>
                  <a:schemeClr val="dk1"/>
                </a:solidFill>
                <a:latin typeface="Open Sans Light"/>
                <a:ea typeface="Open Sans Light"/>
                <a:cs typeface="Open Sans Light"/>
                <a:sym typeface="Open Sans"/>
              </a:rPr>
              <a:t>Identifier les dépendances critiques.</a:t>
            </a:r>
            <a:endParaRPr sz="1000">
              <a:solidFill>
                <a:schemeClr val="dk1"/>
              </a:solidFill>
              <a:latin typeface="Open Sans Light"/>
              <a:ea typeface="Open Sans Light"/>
              <a:cs typeface="Open Sans Light"/>
              <a:sym typeface="Open Sans"/>
            </a:endParaRPr>
          </a:p>
          <a:p>
            <a:pPr marL="457200" lvl="0" indent="-298450" algn="l" rtl="0">
              <a:lnSpc>
                <a:spcPct val="115000"/>
              </a:lnSpc>
              <a:spcBef>
                <a:spcPts val="0"/>
              </a:spcBef>
              <a:spcAft>
                <a:spcPts val="0"/>
              </a:spcAft>
              <a:buClr>
                <a:schemeClr val="dk1"/>
              </a:buClr>
              <a:buSzPts val="1100"/>
              <a:buChar char="●"/>
            </a:pPr>
            <a:r>
              <a:rPr lang="en" sz="1000">
                <a:solidFill>
                  <a:schemeClr val="dk1"/>
                </a:solidFill>
                <a:latin typeface="Open Sans Light"/>
                <a:ea typeface="Open Sans Light"/>
                <a:cs typeface="Open Sans Light"/>
                <a:sym typeface="Open Sans"/>
              </a:rPr>
              <a:t>Évaluer les risques et le niveau de maîtrise.</a:t>
            </a:r>
            <a:endParaRPr sz="1000">
              <a:solidFill>
                <a:schemeClr val="dk1"/>
              </a:solidFill>
              <a:latin typeface="Open Sans Light"/>
              <a:ea typeface="Open Sans Light"/>
              <a:cs typeface="Open Sans Light"/>
              <a:sym typeface="Open Sans"/>
            </a:endParaRPr>
          </a:p>
          <a:p>
            <a:pPr marL="457200" lvl="0" indent="-298450" algn="l" rtl="0">
              <a:lnSpc>
                <a:spcPct val="115000"/>
              </a:lnSpc>
              <a:spcBef>
                <a:spcPts val="0"/>
              </a:spcBef>
              <a:spcAft>
                <a:spcPts val="0"/>
              </a:spcAft>
              <a:buClr>
                <a:schemeClr val="dk1"/>
              </a:buClr>
              <a:buSzPts val="1100"/>
              <a:buChar char="●"/>
            </a:pPr>
            <a:r>
              <a:rPr lang="en" sz="1000">
                <a:solidFill>
                  <a:schemeClr val="dk1"/>
                </a:solidFill>
                <a:latin typeface="Open Sans Light"/>
                <a:ea typeface="Open Sans Light"/>
                <a:cs typeface="Open Sans Light"/>
                <a:sym typeface="Open Sans"/>
              </a:rPr>
              <a:t>Aider les organisations à prioriser leurs actions.</a:t>
            </a:r>
            <a:endParaRPr sz="1000">
              <a:solidFill>
                <a:schemeClr val="dk1"/>
              </a:solidFill>
              <a:latin typeface="Open Sans Light"/>
              <a:ea typeface="Open Sans Light"/>
              <a:cs typeface="Open Sans Light"/>
              <a:sym typeface="Open Sans"/>
            </a:endParaRPr>
          </a:p>
          <a:p>
            <a:pPr marL="457200" lvl="0" indent="-298450" algn="l" rtl="0">
              <a:lnSpc>
                <a:spcPct val="115000"/>
              </a:lnSpc>
              <a:spcBef>
                <a:spcPts val="0"/>
              </a:spcBef>
              <a:spcAft>
                <a:spcPts val="0"/>
              </a:spcAft>
              <a:buClr>
                <a:schemeClr val="dk1"/>
              </a:buClr>
              <a:buSzPts val="1100"/>
              <a:buChar char="●"/>
            </a:pPr>
            <a:r>
              <a:rPr lang="en" sz="1000">
                <a:solidFill>
                  <a:schemeClr val="dk1"/>
                </a:solidFill>
                <a:latin typeface="Open Sans Light"/>
                <a:ea typeface="Open Sans Light"/>
                <a:cs typeface="Open Sans Light"/>
                <a:sym typeface="Open Sans"/>
              </a:rPr>
              <a:t>Permettre de mesurer les progrès dans le temps.</a:t>
            </a:r>
            <a:endParaRPr sz="1000">
              <a:solidFill>
                <a:schemeClr val="dk1"/>
              </a:solidFill>
              <a:latin typeface="Open Sans Light"/>
              <a:ea typeface="Open Sans Light"/>
              <a:cs typeface="Open Sans Light"/>
              <a:sym typeface="Open Sans"/>
            </a:endParaRPr>
          </a:p>
          <a:p>
            <a:pPr marL="457200" lvl="0" indent="0" algn="l" rtl="0">
              <a:lnSpc>
                <a:spcPct val="115000"/>
              </a:lnSpc>
              <a:spcBef>
                <a:spcPts val="1200"/>
              </a:spcBef>
              <a:spcAft>
                <a:spcPts val="0"/>
              </a:spcAft>
              <a:buNone/>
            </a:pPr>
            <a:endParaRPr sz="1000">
              <a:solidFill>
                <a:schemeClr val="dk1"/>
              </a:solidFill>
              <a:latin typeface="Open Sans Light"/>
              <a:ea typeface="Open Sans Light"/>
              <a:cs typeface="Open Sans Light"/>
              <a:sym typeface="Open Sans"/>
            </a:endParaRPr>
          </a:p>
          <a:p>
            <a:pPr marL="457200" lvl="0" indent="0" algn="l" rtl="0">
              <a:lnSpc>
                <a:spcPct val="115000"/>
              </a:lnSpc>
              <a:spcBef>
                <a:spcPts val="1200"/>
              </a:spcBef>
              <a:spcAft>
                <a:spcPts val="0"/>
              </a:spcAft>
              <a:buNone/>
            </a:pPr>
            <a:endParaRPr sz="1000">
              <a:solidFill>
                <a:schemeClr val="dk1"/>
              </a:solidFill>
              <a:latin typeface="Open Sans Light"/>
              <a:ea typeface="Open Sans Light"/>
              <a:cs typeface="Open Sans Light"/>
              <a:sym typeface="Open Sans"/>
            </a:endParaRPr>
          </a:p>
          <a:p>
            <a:pPr marL="457200" lvl="0" indent="0" algn="l" rtl="0">
              <a:lnSpc>
                <a:spcPct val="115000"/>
              </a:lnSpc>
              <a:spcBef>
                <a:spcPts val="1200"/>
              </a:spcBef>
              <a:spcAft>
                <a:spcPts val="0"/>
              </a:spcAft>
              <a:buNone/>
            </a:pPr>
            <a:endParaRPr sz="1000">
              <a:solidFill>
                <a:schemeClr val="dk1"/>
              </a:solidFill>
              <a:latin typeface="Open Sans Light"/>
              <a:ea typeface="Open Sans Light"/>
              <a:cs typeface="Open Sans Light"/>
              <a:sym typeface="Open Sans"/>
            </a:endParaRPr>
          </a:p>
          <a:p>
            <a:pPr marL="457200" lvl="0" indent="0" algn="l" rtl="0">
              <a:lnSpc>
                <a:spcPct val="115000"/>
              </a:lnSpc>
              <a:spcBef>
                <a:spcPts val="1200"/>
              </a:spcBef>
              <a:spcAft>
                <a:spcPts val="0"/>
              </a:spcAft>
              <a:buNone/>
            </a:pPr>
            <a:endParaRPr sz="1000">
              <a:solidFill>
                <a:schemeClr val="dk1"/>
              </a:solidFill>
              <a:latin typeface="Open Sans Light"/>
              <a:ea typeface="Open Sans Light"/>
              <a:cs typeface="Open Sans Light"/>
              <a:sym typeface="Open Sans"/>
            </a:endParaRPr>
          </a:p>
          <a:p>
            <a:pPr marL="457200" lvl="0" indent="0" algn="l" rtl="0">
              <a:lnSpc>
                <a:spcPct val="115000"/>
              </a:lnSpc>
              <a:spcBef>
                <a:spcPts val="1200"/>
              </a:spcBef>
              <a:spcAft>
                <a:spcPts val="0"/>
              </a:spcAft>
              <a:buNone/>
            </a:pPr>
            <a:endParaRPr sz="1000">
              <a:solidFill>
                <a:schemeClr val="dk1"/>
              </a:solidFill>
              <a:latin typeface="Open Sans Light"/>
              <a:ea typeface="Open Sans Light"/>
              <a:cs typeface="Open Sans Light"/>
              <a:sym typeface="Open Sans"/>
            </a:endParaRPr>
          </a:p>
          <a:p>
            <a:pPr marL="0" marR="0" lvl="0" indent="0" algn="l" rtl="0">
              <a:lnSpc>
                <a:spcPct val="115000"/>
              </a:lnSpc>
              <a:spcBef>
                <a:spcPts val="1200"/>
              </a:spcBef>
              <a:spcAft>
                <a:spcPts val="0"/>
              </a:spcAft>
              <a:buNone/>
            </a:pPr>
            <a:endParaRPr sz="1100" b="1">
              <a:solidFill>
                <a:srgbClr val="1200C5"/>
              </a:solidFill>
              <a:latin typeface="Open Sans ExtraBold"/>
              <a:ea typeface="Open Sans ExtraBold"/>
              <a:cs typeface="Open Sans ExtraBold"/>
              <a:sym typeface="Open Sans"/>
            </a:endParaRPr>
          </a:p>
        </p:txBody>
      </p:sp>
      <p:sp>
        <p:nvSpPr>
          <p:cNvPr id="280" name="Google Shape;280;p30"/>
          <p:cNvSpPr txBox="1"/>
          <p:nvPr/>
        </p:nvSpPr>
        <p:spPr>
          <a:xfrm>
            <a:off x="380050" y="239025"/>
            <a:ext cx="43323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b="1">
                <a:solidFill>
                  <a:srgbClr val="0A00BE"/>
                </a:solidFill>
                <a:latin typeface="Open Sans ExtraBold"/>
                <a:ea typeface="Open Sans ExtraBold"/>
                <a:cs typeface="Open Sans ExtraBold"/>
                <a:sym typeface="Open Sans"/>
              </a:rPr>
              <a:t>GT 6 – Outil d’évaluation de la maturité et des risques</a:t>
            </a:r>
            <a:endParaRPr b="1">
              <a:solidFill>
                <a:srgbClr val="0A00BE"/>
              </a:solidFill>
              <a:latin typeface="Open Sans ExtraBold"/>
              <a:ea typeface="Open Sans ExtraBold"/>
              <a:cs typeface="Open Sans ExtraBold"/>
              <a:sym typeface="Open Sans"/>
            </a:endParaRPr>
          </a:p>
        </p:txBody>
      </p:sp>
      <p:pic>
        <p:nvPicPr>
          <p:cNvPr id="281" name="Google Shape;281;p30"/>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5596200" y="429175"/>
            <a:ext cx="2050124" cy="2226550"/>
          </a:xfrm>
          <a:prstGeom prst="rect">
            <a:avLst/>
          </a:prstGeom>
          <a:noFill/>
          <a:ln>
            <a:noFill/>
          </a:ln>
        </p:spPr>
      </p:pic>
      <p:pic>
        <p:nvPicPr>
          <p:cNvPr id="282" name="Google Shape;282;p30"/>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623025" y="2826100"/>
            <a:ext cx="4290448" cy="184957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31"/>
          <p:cNvSpPr txBox="1"/>
          <p:nvPr/>
        </p:nvSpPr>
        <p:spPr>
          <a:xfrm>
            <a:off x="438100" y="958025"/>
            <a:ext cx="3887100" cy="38988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sz="1000" b="1">
                <a:solidFill>
                  <a:srgbClr val="1200C5"/>
                </a:solidFill>
                <a:latin typeface="Open Sans ExtraBold"/>
                <a:ea typeface="Open Sans ExtraBold"/>
                <a:cs typeface="Open Sans ExtraBold"/>
                <a:sym typeface="Open Sans"/>
              </a:rPr>
              <a:t>Participants</a:t>
            </a:r>
            <a:endParaRPr sz="1000" b="1">
              <a:solidFill>
                <a:srgbClr val="1200C5"/>
              </a:solidFill>
              <a:latin typeface="Open Sans ExtraBold"/>
              <a:ea typeface="Open Sans ExtraBold"/>
              <a:cs typeface="Open Sans ExtraBold"/>
              <a:sym typeface="Open Sans"/>
            </a:endParaRPr>
          </a:p>
          <a:p>
            <a:pPr marL="0" marR="0" lvl="0" indent="0" algn="l" rtl="0">
              <a:lnSpc>
                <a:spcPct val="115000"/>
              </a:lnSpc>
              <a:spcBef>
                <a:spcPts val="0"/>
              </a:spcBef>
              <a:spcAft>
                <a:spcPts val="0"/>
              </a:spcAft>
              <a:buNone/>
            </a:pPr>
            <a:endParaRPr sz="1000">
              <a:solidFill>
                <a:schemeClr val="dk1"/>
              </a:solidFill>
              <a:latin typeface="Open Sans Light"/>
              <a:ea typeface="Open Sans Light"/>
              <a:cs typeface="Open Sans Light"/>
              <a:sym typeface="Open Sans"/>
            </a:endParaRPr>
          </a:p>
          <a:p>
            <a:pPr marL="0" marR="0" lvl="0" indent="0" algn="l" rtl="0">
              <a:lnSpc>
                <a:spcPct val="115000"/>
              </a:lnSpc>
              <a:spcBef>
                <a:spcPts val="0"/>
              </a:spcBef>
              <a:spcAft>
                <a:spcPts val="0"/>
              </a:spcAft>
              <a:buNone/>
            </a:pPr>
            <a:endParaRPr sz="1000">
              <a:solidFill>
                <a:schemeClr val="dk1"/>
              </a:solidFill>
              <a:latin typeface="Open Sans Light"/>
              <a:ea typeface="Open Sans Light"/>
              <a:cs typeface="Open Sans Light"/>
              <a:sym typeface="Open Sans"/>
            </a:endParaRPr>
          </a:p>
          <a:p>
            <a:pPr marL="0" lvl="0" indent="0" algn="l" rtl="0">
              <a:lnSpc>
                <a:spcPct val="115000"/>
              </a:lnSpc>
              <a:spcBef>
                <a:spcPts val="1200"/>
              </a:spcBef>
              <a:spcAft>
                <a:spcPts val="0"/>
              </a:spcAft>
              <a:buNone/>
            </a:pPr>
            <a:r>
              <a:rPr lang="en" sz="1000" b="1">
                <a:solidFill>
                  <a:srgbClr val="1200C5"/>
                </a:solidFill>
                <a:latin typeface="Open Sans ExtraBold"/>
                <a:ea typeface="Open Sans ExtraBold"/>
                <a:cs typeface="Open Sans ExtraBold"/>
                <a:sym typeface="Open Sans"/>
              </a:rPr>
              <a:t>Description</a:t>
            </a:r>
            <a:br>
              <a:rPr lang="en" sz="1000" b="1">
                <a:solidFill>
                  <a:schemeClr val="dk1"/>
                </a:solidFill>
                <a:latin typeface="Open Sans ExtraBold"/>
                <a:ea typeface="Open Sans ExtraBold"/>
                <a:cs typeface="Open Sans ExtraBold"/>
                <a:sym typeface="Open Sans"/>
              </a:rPr>
            </a:br>
            <a:r>
              <a:rPr lang="en" sz="1000">
                <a:solidFill>
                  <a:schemeClr val="dk1"/>
                </a:solidFill>
                <a:latin typeface="Open Sans Light"/>
                <a:ea typeface="Open Sans Light"/>
                <a:cs typeface="Open Sans Light"/>
                <a:sym typeface="Open Sans"/>
              </a:rPr>
              <a:t>Développer un outil simple et opérationnel permettant à une organisation d’identifier ses dépendances numériques critiques, d’évaluer les risques associés et de mesurer sa capacité à les maîtriser.</a:t>
            </a:r>
            <a:endParaRPr sz="1000">
              <a:solidFill>
                <a:schemeClr val="dk1"/>
              </a:solidFill>
              <a:latin typeface="Open Sans Light"/>
              <a:ea typeface="Open Sans Light"/>
              <a:cs typeface="Open Sans Light"/>
              <a:sym typeface="Open Sans"/>
            </a:endParaRPr>
          </a:p>
          <a:p>
            <a:pPr marL="0" lvl="0" indent="0" algn="l" rtl="0">
              <a:lnSpc>
                <a:spcPct val="115000"/>
              </a:lnSpc>
              <a:spcBef>
                <a:spcPts val="1200"/>
              </a:spcBef>
              <a:spcAft>
                <a:spcPts val="0"/>
              </a:spcAft>
              <a:buNone/>
            </a:pPr>
            <a:r>
              <a:rPr lang="en" sz="1000" b="1">
                <a:solidFill>
                  <a:srgbClr val="1200C5"/>
                </a:solidFill>
                <a:latin typeface="Open Sans ExtraBold"/>
                <a:ea typeface="Open Sans ExtraBold"/>
                <a:cs typeface="Open Sans ExtraBold"/>
                <a:sym typeface="Open Sans"/>
              </a:rPr>
              <a:t>Objectifs</a:t>
            </a:r>
            <a:endParaRPr sz="1000">
              <a:solidFill>
                <a:schemeClr val="dk1"/>
              </a:solidFill>
              <a:latin typeface="Open Sans Light"/>
              <a:ea typeface="Open Sans Light"/>
              <a:cs typeface="Open Sans Light"/>
              <a:sym typeface="Open Sans"/>
            </a:endParaRPr>
          </a:p>
          <a:p>
            <a:pPr marL="457200" lvl="0" indent="-298450" algn="l" rtl="0">
              <a:lnSpc>
                <a:spcPct val="115000"/>
              </a:lnSpc>
              <a:spcBef>
                <a:spcPts val="1200"/>
              </a:spcBef>
              <a:spcAft>
                <a:spcPts val="0"/>
              </a:spcAft>
              <a:buClr>
                <a:schemeClr val="dk1"/>
              </a:buClr>
              <a:buSzPts val="1100"/>
              <a:buChar char="●"/>
            </a:pPr>
            <a:r>
              <a:rPr lang="en" sz="1000">
                <a:solidFill>
                  <a:schemeClr val="dk1"/>
                </a:solidFill>
                <a:latin typeface="Open Sans Light"/>
                <a:ea typeface="Open Sans Light"/>
                <a:cs typeface="Open Sans Light"/>
                <a:sym typeface="Open Sans"/>
              </a:rPr>
              <a:t>Fournir un langage commun pour évaluer la souveraineté numérique.</a:t>
            </a:r>
            <a:endParaRPr sz="1000">
              <a:solidFill>
                <a:schemeClr val="dk1"/>
              </a:solidFill>
              <a:latin typeface="Open Sans Light"/>
              <a:ea typeface="Open Sans Light"/>
              <a:cs typeface="Open Sans Light"/>
              <a:sym typeface="Open Sans"/>
            </a:endParaRPr>
          </a:p>
          <a:p>
            <a:pPr marL="457200" lvl="0" indent="-298450" algn="l" rtl="0">
              <a:lnSpc>
                <a:spcPct val="115000"/>
              </a:lnSpc>
              <a:spcBef>
                <a:spcPts val="0"/>
              </a:spcBef>
              <a:spcAft>
                <a:spcPts val="0"/>
              </a:spcAft>
              <a:buClr>
                <a:schemeClr val="dk1"/>
              </a:buClr>
              <a:buSzPts val="1100"/>
              <a:buChar char="●"/>
            </a:pPr>
            <a:r>
              <a:rPr lang="en" sz="1000">
                <a:solidFill>
                  <a:schemeClr val="dk1"/>
                </a:solidFill>
                <a:latin typeface="Open Sans Light"/>
                <a:ea typeface="Open Sans Light"/>
                <a:cs typeface="Open Sans Light"/>
                <a:sym typeface="Open Sans"/>
              </a:rPr>
              <a:t>Identifier les dépendances critiques.</a:t>
            </a:r>
            <a:endParaRPr sz="1000">
              <a:solidFill>
                <a:schemeClr val="dk1"/>
              </a:solidFill>
              <a:latin typeface="Open Sans Light"/>
              <a:ea typeface="Open Sans Light"/>
              <a:cs typeface="Open Sans Light"/>
              <a:sym typeface="Open Sans"/>
            </a:endParaRPr>
          </a:p>
          <a:p>
            <a:pPr marL="457200" lvl="0" indent="-298450" algn="l" rtl="0">
              <a:lnSpc>
                <a:spcPct val="115000"/>
              </a:lnSpc>
              <a:spcBef>
                <a:spcPts val="0"/>
              </a:spcBef>
              <a:spcAft>
                <a:spcPts val="0"/>
              </a:spcAft>
              <a:buClr>
                <a:schemeClr val="dk1"/>
              </a:buClr>
              <a:buSzPts val="1100"/>
              <a:buChar char="●"/>
            </a:pPr>
            <a:r>
              <a:rPr lang="en" sz="1000">
                <a:solidFill>
                  <a:schemeClr val="dk1"/>
                </a:solidFill>
                <a:latin typeface="Open Sans Light"/>
                <a:ea typeface="Open Sans Light"/>
                <a:cs typeface="Open Sans Light"/>
                <a:sym typeface="Open Sans"/>
              </a:rPr>
              <a:t>Évaluer les risques et le niveau de maîtrise.</a:t>
            </a:r>
            <a:endParaRPr sz="1000">
              <a:solidFill>
                <a:schemeClr val="dk1"/>
              </a:solidFill>
              <a:latin typeface="Open Sans Light"/>
              <a:ea typeface="Open Sans Light"/>
              <a:cs typeface="Open Sans Light"/>
              <a:sym typeface="Open Sans"/>
            </a:endParaRPr>
          </a:p>
          <a:p>
            <a:pPr marL="457200" lvl="0" indent="-298450" algn="l" rtl="0">
              <a:lnSpc>
                <a:spcPct val="115000"/>
              </a:lnSpc>
              <a:spcBef>
                <a:spcPts val="0"/>
              </a:spcBef>
              <a:spcAft>
                <a:spcPts val="0"/>
              </a:spcAft>
              <a:buClr>
                <a:schemeClr val="dk1"/>
              </a:buClr>
              <a:buSzPts val="1100"/>
              <a:buChar char="●"/>
            </a:pPr>
            <a:r>
              <a:rPr lang="en" sz="1000">
                <a:solidFill>
                  <a:schemeClr val="dk1"/>
                </a:solidFill>
                <a:latin typeface="Open Sans Light"/>
                <a:ea typeface="Open Sans Light"/>
                <a:cs typeface="Open Sans Light"/>
                <a:sym typeface="Open Sans"/>
              </a:rPr>
              <a:t>Aider les organisations à prioriser leurs actions.</a:t>
            </a:r>
            <a:endParaRPr sz="1000">
              <a:solidFill>
                <a:schemeClr val="dk1"/>
              </a:solidFill>
              <a:latin typeface="Open Sans Light"/>
              <a:ea typeface="Open Sans Light"/>
              <a:cs typeface="Open Sans Light"/>
              <a:sym typeface="Open Sans"/>
            </a:endParaRPr>
          </a:p>
          <a:p>
            <a:pPr marL="457200" lvl="0" indent="-298450" algn="l" rtl="0">
              <a:lnSpc>
                <a:spcPct val="115000"/>
              </a:lnSpc>
              <a:spcBef>
                <a:spcPts val="0"/>
              </a:spcBef>
              <a:spcAft>
                <a:spcPts val="0"/>
              </a:spcAft>
              <a:buClr>
                <a:schemeClr val="dk1"/>
              </a:buClr>
              <a:buSzPts val="1100"/>
              <a:buChar char="●"/>
            </a:pPr>
            <a:r>
              <a:rPr lang="en" sz="1000">
                <a:solidFill>
                  <a:schemeClr val="dk1"/>
                </a:solidFill>
                <a:latin typeface="Open Sans Light"/>
                <a:ea typeface="Open Sans Light"/>
                <a:cs typeface="Open Sans Light"/>
                <a:sym typeface="Open Sans"/>
              </a:rPr>
              <a:t>Permettre de mesurer les progrès dans le temps.</a:t>
            </a:r>
            <a:endParaRPr sz="1000">
              <a:solidFill>
                <a:schemeClr val="dk1"/>
              </a:solidFill>
              <a:latin typeface="Open Sans Light"/>
              <a:ea typeface="Open Sans Light"/>
              <a:cs typeface="Open Sans Light"/>
              <a:sym typeface="Open Sans"/>
            </a:endParaRPr>
          </a:p>
          <a:p>
            <a:pPr marL="457200" lvl="0" indent="0" algn="l" rtl="0">
              <a:lnSpc>
                <a:spcPct val="115000"/>
              </a:lnSpc>
              <a:spcBef>
                <a:spcPts val="1200"/>
              </a:spcBef>
              <a:spcAft>
                <a:spcPts val="0"/>
              </a:spcAft>
              <a:buNone/>
            </a:pPr>
            <a:endParaRPr sz="1000">
              <a:solidFill>
                <a:schemeClr val="dk1"/>
              </a:solidFill>
              <a:latin typeface="Open Sans Light"/>
              <a:ea typeface="Open Sans Light"/>
              <a:cs typeface="Open Sans Light"/>
              <a:sym typeface="Open Sans"/>
            </a:endParaRPr>
          </a:p>
          <a:p>
            <a:pPr marL="457200" lvl="0" indent="0" algn="l" rtl="0">
              <a:lnSpc>
                <a:spcPct val="115000"/>
              </a:lnSpc>
              <a:spcBef>
                <a:spcPts val="1200"/>
              </a:spcBef>
              <a:spcAft>
                <a:spcPts val="0"/>
              </a:spcAft>
              <a:buNone/>
            </a:pPr>
            <a:endParaRPr sz="1000">
              <a:solidFill>
                <a:schemeClr val="dk1"/>
              </a:solidFill>
              <a:latin typeface="Open Sans Light"/>
              <a:ea typeface="Open Sans Light"/>
              <a:cs typeface="Open Sans Light"/>
              <a:sym typeface="Open Sans"/>
            </a:endParaRPr>
          </a:p>
          <a:p>
            <a:pPr marL="457200" lvl="0" indent="0" algn="l" rtl="0">
              <a:lnSpc>
                <a:spcPct val="115000"/>
              </a:lnSpc>
              <a:spcBef>
                <a:spcPts val="1200"/>
              </a:spcBef>
              <a:spcAft>
                <a:spcPts val="0"/>
              </a:spcAft>
              <a:buNone/>
            </a:pPr>
            <a:endParaRPr sz="1000">
              <a:solidFill>
                <a:schemeClr val="dk1"/>
              </a:solidFill>
              <a:latin typeface="Open Sans Light"/>
              <a:ea typeface="Open Sans Light"/>
              <a:cs typeface="Open Sans Light"/>
              <a:sym typeface="Open Sans"/>
            </a:endParaRPr>
          </a:p>
          <a:p>
            <a:pPr marL="457200" lvl="0" indent="0" algn="l" rtl="0">
              <a:lnSpc>
                <a:spcPct val="115000"/>
              </a:lnSpc>
              <a:spcBef>
                <a:spcPts val="1200"/>
              </a:spcBef>
              <a:spcAft>
                <a:spcPts val="0"/>
              </a:spcAft>
              <a:buNone/>
            </a:pPr>
            <a:endParaRPr sz="1000">
              <a:solidFill>
                <a:schemeClr val="dk1"/>
              </a:solidFill>
              <a:latin typeface="Open Sans Light"/>
              <a:ea typeface="Open Sans Light"/>
              <a:cs typeface="Open Sans Light"/>
              <a:sym typeface="Open Sans"/>
            </a:endParaRPr>
          </a:p>
          <a:p>
            <a:pPr marL="457200" lvl="0" indent="0" algn="l" rtl="0">
              <a:lnSpc>
                <a:spcPct val="115000"/>
              </a:lnSpc>
              <a:spcBef>
                <a:spcPts val="1200"/>
              </a:spcBef>
              <a:spcAft>
                <a:spcPts val="0"/>
              </a:spcAft>
              <a:buNone/>
            </a:pPr>
            <a:endParaRPr sz="1000">
              <a:solidFill>
                <a:schemeClr val="dk1"/>
              </a:solidFill>
              <a:latin typeface="Open Sans Light"/>
              <a:ea typeface="Open Sans Light"/>
              <a:cs typeface="Open Sans Light"/>
              <a:sym typeface="Open Sans"/>
            </a:endParaRPr>
          </a:p>
          <a:p>
            <a:pPr marL="0" marR="0" lvl="0" indent="0" algn="l" rtl="0">
              <a:lnSpc>
                <a:spcPct val="115000"/>
              </a:lnSpc>
              <a:spcBef>
                <a:spcPts val="1200"/>
              </a:spcBef>
              <a:spcAft>
                <a:spcPts val="0"/>
              </a:spcAft>
              <a:buNone/>
            </a:pPr>
            <a:endParaRPr sz="1100" b="1">
              <a:solidFill>
                <a:srgbClr val="1200C5"/>
              </a:solidFill>
              <a:latin typeface="Open Sans ExtraBold"/>
              <a:ea typeface="Open Sans ExtraBold"/>
              <a:cs typeface="Open Sans ExtraBold"/>
              <a:sym typeface="Open Sans"/>
            </a:endParaRPr>
          </a:p>
        </p:txBody>
      </p:sp>
      <p:sp>
        <p:nvSpPr>
          <p:cNvPr id="288" name="Google Shape;288;p31"/>
          <p:cNvSpPr txBox="1"/>
          <p:nvPr/>
        </p:nvSpPr>
        <p:spPr>
          <a:xfrm>
            <a:off x="380050" y="239025"/>
            <a:ext cx="43323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b="1">
                <a:solidFill>
                  <a:srgbClr val="0A00BE"/>
                </a:solidFill>
                <a:latin typeface="Open Sans ExtraBold"/>
                <a:ea typeface="Open Sans ExtraBold"/>
                <a:cs typeface="Open Sans ExtraBold"/>
                <a:sym typeface="Open Sans"/>
              </a:rPr>
              <a:t>GT 6 – Outil d’évaluation de la maturité et des risques</a:t>
            </a:r>
            <a:endParaRPr b="1">
              <a:solidFill>
                <a:srgbClr val="0A00BE"/>
              </a:solidFill>
              <a:latin typeface="Open Sans ExtraBold"/>
              <a:ea typeface="Open Sans ExtraBold"/>
              <a:cs typeface="Open Sans ExtraBold"/>
              <a:sym typeface="Open Sans"/>
            </a:endParaRPr>
          </a:p>
        </p:txBody>
      </p:sp>
      <p:pic>
        <p:nvPicPr>
          <p:cNvPr id="289" name="Google Shape;289;p31"/>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4528650" y="1836300"/>
            <a:ext cx="4514002" cy="2933660"/>
          </a:xfrm>
          <a:prstGeom prst="rect">
            <a:avLst/>
          </a:prstGeom>
          <a:noFill/>
          <a:ln>
            <a:noFill/>
          </a:ln>
        </p:spPr>
      </p:pic>
      <p:pic>
        <p:nvPicPr>
          <p:cNvPr id="290" name="Google Shape;290;p31"/>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618063" y="824300"/>
            <a:ext cx="2410975" cy="852650"/>
          </a:xfrm>
          <a:prstGeom prst="rect">
            <a:avLst/>
          </a:prstGeom>
          <a:noFill/>
          <a:ln>
            <a:noFill/>
          </a:ln>
        </p:spPr>
      </p:pic>
      <p:sp>
        <p:nvSpPr>
          <p:cNvPr id="291" name="Google Shape;291;p31"/>
          <p:cNvSpPr txBox="1"/>
          <p:nvPr/>
        </p:nvSpPr>
        <p:spPr>
          <a:xfrm>
            <a:off x="5323550" y="306150"/>
            <a:ext cx="3000000" cy="35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t>https://digitalresilienceinitiative.org/</a:t>
            </a:r>
            <a:endParaRPr sz="1200" b="1"/>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32"/>
          <p:cNvSpPr txBox="1"/>
          <p:nvPr/>
        </p:nvSpPr>
        <p:spPr>
          <a:xfrm>
            <a:off x="438100" y="958025"/>
            <a:ext cx="3887100" cy="38988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sz="1000" b="1">
                <a:solidFill>
                  <a:srgbClr val="1200C5"/>
                </a:solidFill>
                <a:latin typeface="Open Sans ExtraBold"/>
                <a:ea typeface="Open Sans ExtraBold"/>
                <a:cs typeface="Open Sans ExtraBold"/>
                <a:sym typeface="Open Sans"/>
              </a:rPr>
              <a:t>Participants</a:t>
            </a:r>
            <a:endParaRPr sz="1000" b="1">
              <a:solidFill>
                <a:srgbClr val="1200C5"/>
              </a:solidFill>
              <a:latin typeface="Open Sans ExtraBold"/>
              <a:ea typeface="Open Sans ExtraBold"/>
              <a:cs typeface="Open Sans ExtraBold"/>
              <a:sym typeface="Open Sans"/>
            </a:endParaRPr>
          </a:p>
          <a:p>
            <a:pPr marL="0" marR="0" lvl="0" indent="0" algn="l" rtl="0">
              <a:lnSpc>
                <a:spcPct val="115000"/>
              </a:lnSpc>
              <a:spcBef>
                <a:spcPts val="0"/>
              </a:spcBef>
              <a:spcAft>
                <a:spcPts val="0"/>
              </a:spcAft>
              <a:buNone/>
            </a:pPr>
            <a:endParaRPr sz="1000">
              <a:solidFill>
                <a:schemeClr val="dk1"/>
              </a:solidFill>
              <a:latin typeface="Open Sans Light"/>
              <a:ea typeface="Open Sans Light"/>
              <a:cs typeface="Open Sans Light"/>
              <a:sym typeface="Open Sans"/>
            </a:endParaRPr>
          </a:p>
          <a:p>
            <a:pPr marL="0" marR="0" lvl="0" indent="0" algn="l" rtl="0">
              <a:lnSpc>
                <a:spcPct val="115000"/>
              </a:lnSpc>
              <a:spcBef>
                <a:spcPts val="0"/>
              </a:spcBef>
              <a:spcAft>
                <a:spcPts val="0"/>
              </a:spcAft>
              <a:buNone/>
            </a:pPr>
            <a:endParaRPr sz="1000">
              <a:solidFill>
                <a:schemeClr val="dk1"/>
              </a:solidFill>
              <a:latin typeface="Open Sans Light"/>
              <a:ea typeface="Open Sans Light"/>
              <a:cs typeface="Open Sans Light"/>
              <a:sym typeface="Open Sans"/>
            </a:endParaRPr>
          </a:p>
          <a:p>
            <a:pPr marL="0" lvl="0" indent="0" algn="l" rtl="0">
              <a:lnSpc>
                <a:spcPct val="115000"/>
              </a:lnSpc>
              <a:spcBef>
                <a:spcPts val="1200"/>
              </a:spcBef>
              <a:spcAft>
                <a:spcPts val="0"/>
              </a:spcAft>
              <a:buNone/>
            </a:pPr>
            <a:r>
              <a:rPr lang="en" sz="1000" b="1">
                <a:solidFill>
                  <a:srgbClr val="1200C5"/>
                </a:solidFill>
                <a:latin typeface="Open Sans ExtraBold"/>
                <a:ea typeface="Open Sans ExtraBold"/>
                <a:cs typeface="Open Sans ExtraBold"/>
                <a:sym typeface="Open Sans"/>
              </a:rPr>
              <a:t>Description</a:t>
            </a:r>
            <a:br>
              <a:rPr lang="en" sz="1000" b="1">
                <a:solidFill>
                  <a:schemeClr val="dk1"/>
                </a:solidFill>
                <a:latin typeface="Open Sans ExtraBold"/>
                <a:ea typeface="Open Sans ExtraBold"/>
                <a:cs typeface="Open Sans ExtraBold"/>
                <a:sym typeface="Open Sans"/>
              </a:rPr>
            </a:br>
            <a:r>
              <a:rPr lang="en" sz="1000">
                <a:solidFill>
                  <a:schemeClr val="dk1"/>
                </a:solidFill>
                <a:latin typeface="Open Sans Light"/>
                <a:ea typeface="Open Sans Light"/>
                <a:cs typeface="Open Sans Light"/>
                <a:sym typeface="Open Sans"/>
              </a:rPr>
              <a:t>Développer un outil simple et opérationnel permettant à une organisation d’identifier ses dépendances numériques critiques, d’évaluer les risques associés et de mesurer sa capacité à les maîtriser.</a:t>
            </a:r>
            <a:endParaRPr sz="1000">
              <a:solidFill>
                <a:schemeClr val="dk1"/>
              </a:solidFill>
              <a:latin typeface="Open Sans Light"/>
              <a:ea typeface="Open Sans Light"/>
              <a:cs typeface="Open Sans Light"/>
              <a:sym typeface="Open Sans"/>
            </a:endParaRPr>
          </a:p>
          <a:p>
            <a:pPr marL="0" lvl="0" indent="0" algn="l" rtl="0">
              <a:lnSpc>
                <a:spcPct val="115000"/>
              </a:lnSpc>
              <a:spcBef>
                <a:spcPts val="1200"/>
              </a:spcBef>
              <a:spcAft>
                <a:spcPts val="0"/>
              </a:spcAft>
              <a:buNone/>
            </a:pPr>
            <a:r>
              <a:rPr lang="en" sz="1000" b="1">
                <a:solidFill>
                  <a:srgbClr val="1200C5"/>
                </a:solidFill>
                <a:latin typeface="Open Sans ExtraBold"/>
                <a:ea typeface="Open Sans ExtraBold"/>
                <a:cs typeface="Open Sans ExtraBold"/>
                <a:sym typeface="Open Sans"/>
              </a:rPr>
              <a:t>Objectifs</a:t>
            </a:r>
            <a:endParaRPr sz="1000">
              <a:solidFill>
                <a:schemeClr val="dk1"/>
              </a:solidFill>
              <a:latin typeface="Open Sans Light"/>
              <a:ea typeface="Open Sans Light"/>
              <a:cs typeface="Open Sans Light"/>
              <a:sym typeface="Open Sans"/>
            </a:endParaRPr>
          </a:p>
          <a:p>
            <a:pPr marL="457200" lvl="0" indent="-298450" algn="l" rtl="0">
              <a:lnSpc>
                <a:spcPct val="115000"/>
              </a:lnSpc>
              <a:spcBef>
                <a:spcPts val="1200"/>
              </a:spcBef>
              <a:spcAft>
                <a:spcPts val="0"/>
              </a:spcAft>
              <a:buClr>
                <a:schemeClr val="dk1"/>
              </a:buClr>
              <a:buSzPts val="1100"/>
              <a:buChar char="●"/>
            </a:pPr>
            <a:r>
              <a:rPr lang="en" sz="1000">
                <a:solidFill>
                  <a:schemeClr val="dk1"/>
                </a:solidFill>
                <a:latin typeface="Open Sans Light"/>
                <a:ea typeface="Open Sans Light"/>
                <a:cs typeface="Open Sans Light"/>
                <a:sym typeface="Open Sans"/>
              </a:rPr>
              <a:t>Fournir un langage commun pour évaluer la souveraineté numérique.</a:t>
            </a:r>
            <a:endParaRPr sz="1000">
              <a:solidFill>
                <a:schemeClr val="dk1"/>
              </a:solidFill>
              <a:latin typeface="Open Sans Light"/>
              <a:ea typeface="Open Sans Light"/>
              <a:cs typeface="Open Sans Light"/>
              <a:sym typeface="Open Sans"/>
            </a:endParaRPr>
          </a:p>
          <a:p>
            <a:pPr marL="457200" lvl="0" indent="-298450" algn="l" rtl="0">
              <a:lnSpc>
                <a:spcPct val="115000"/>
              </a:lnSpc>
              <a:spcBef>
                <a:spcPts val="0"/>
              </a:spcBef>
              <a:spcAft>
                <a:spcPts val="0"/>
              </a:spcAft>
              <a:buClr>
                <a:schemeClr val="dk1"/>
              </a:buClr>
              <a:buSzPts val="1100"/>
              <a:buChar char="●"/>
            </a:pPr>
            <a:r>
              <a:rPr lang="en" sz="1000">
                <a:solidFill>
                  <a:schemeClr val="dk1"/>
                </a:solidFill>
                <a:latin typeface="Open Sans Light"/>
                <a:ea typeface="Open Sans Light"/>
                <a:cs typeface="Open Sans Light"/>
                <a:sym typeface="Open Sans"/>
              </a:rPr>
              <a:t>Identifier les dépendances critiques.</a:t>
            </a:r>
            <a:endParaRPr sz="1000">
              <a:solidFill>
                <a:schemeClr val="dk1"/>
              </a:solidFill>
              <a:latin typeface="Open Sans Light"/>
              <a:ea typeface="Open Sans Light"/>
              <a:cs typeface="Open Sans Light"/>
              <a:sym typeface="Open Sans"/>
            </a:endParaRPr>
          </a:p>
          <a:p>
            <a:pPr marL="457200" lvl="0" indent="-298450" algn="l" rtl="0">
              <a:lnSpc>
                <a:spcPct val="115000"/>
              </a:lnSpc>
              <a:spcBef>
                <a:spcPts val="0"/>
              </a:spcBef>
              <a:spcAft>
                <a:spcPts val="0"/>
              </a:spcAft>
              <a:buClr>
                <a:schemeClr val="dk1"/>
              </a:buClr>
              <a:buSzPts val="1100"/>
              <a:buChar char="●"/>
            </a:pPr>
            <a:r>
              <a:rPr lang="en" sz="1000">
                <a:solidFill>
                  <a:schemeClr val="dk1"/>
                </a:solidFill>
                <a:latin typeface="Open Sans Light"/>
                <a:ea typeface="Open Sans Light"/>
                <a:cs typeface="Open Sans Light"/>
                <a:sym typeface="Open Sans"/>
              </a:rPr>
              <a:t>Évaluer les risques et le niveau de maîtrise.</a:t>
            </a:r>
            <a:endParaRPr sz="1000">
              <a:solidFill>
                <a:schemeClr val="dk1"/>
              </a:solidFill>
              <a:latin typeface="Open Sans Light"/>
              <a:ea typeface="Open Sans Light"/>
              <a:cs typeface="Open Sans Light"/>
              <a:sym typeface="Open Sans"/>
            </a:endParaRPr>
          </a:p>
          <a:p>
            <a:pPr marL="457200" lvl="0" indent="-298450" algn="l" rtl="0">
              <a:lnSpc>
                <a:spcPct val="115000"/>
              </a:lnSpc>
              <a:spcBef>
                <a:spcPts val="0"/>
              </a:spcBef>
              <a:spcAft>
                <a:spcPts val="0"/>
              </a:spcAft>
              <a:buClr>
                <a:schemeClr val="dk1"/>
              </a:buClr>
              <a:buSzPts val="1100"/>
              <a:buChar char="●"/>
            </a:pPr>
            <a:r>
              <a:rPr lang="en" sz="1000">
                <a:solidFill>
                  <a:schemeClr val="dk1"/>
                </a:solidFill>
                <a:latin typeface="Open Sans Light"/>
                <a:ea typeface="Open Sans Light"/>
                <a:cs typeface="Open Sans Light"/>
                <a:sym typeface="Open Sans"/>
              </a:rPr>
              <a:t>Aider les organisations à prioriser leurs actions.</a:t>
            </a:r>
            <a:endParaRPr sz="1000">
              <a:solidFill>
                <a:schemeClr val="dk1"/>
              </a:solidFill>
              <a:latin typeface="Open Sans Light"/>
              <a:ea typeface="Open Sans Light"/>
              <a:cs typeface="Open Sans Light"/>
              <a:sym typeface="Open Sans"/>
            </a:endParaRPr>
          </a:p>
          <a:p>
            <a:pPr marL="457200" lvl="0" indent="-298450" algn="l" rtl="0">
              <a:lnSpc>
                <a:spcPct val="115000"/>
              </a:lnSpc>
              <a:spcBef>
                <a:spcPts val="0"/>
              </a:spcBef>
              <a:spcAft>
                <a:spcPts val="0"/>
              </a:spcAft>
              <a:buClr>
                <a:schemeClr val="dk1"/>
              </a:buClr>
              <a:buSzPts val="1100"/>
              <a:buChar char="●"/>
            </a:pPr>
            <a:r>
              <a:rPr lang="en" sz="1000">
                <a:solidFill>
                  <a:schemeClr val="dk1"/>
                </a:solidFill>
                <a:latin typeface="Open Sans Light"/>
                <a:ea typeface="Open Sans Light"/>
                <a:cs typeface="Open Sans Light"/>
                <a:sym typeface="Open Sans"/>
              </a:rPr>
              <a:t>Permettre de mesurer les progrès dans le temps.</a:t>
            </a:r>
            <a:endParaRPr sz="1000">
              <a:solidFill>
                <a:schemeClr val="dk1"/>
              </a:solidFill>
              <a:latin typeface="Open Sans Light"/>
              <a:ea typeface="Open Sans Light"/>
              <a:cs typeface="Open Sans Light"/>
              <a:sym typeface="Open Sans"/>
            </a:endParaRPr>
          </a:p>
          <a:p>
            <a:pPr marL="457200" lvl="0" indent="0" algn="l" rtl="0">
              <a:lnSpc>
                <a:spcPct val="115000"/>
              </a:lnSpc>
              <a:spcBef>
                <a:spcPts val="1200"/>
              </a:spcBef>
              <a:spcAft>
                <a:spcPts val="0"/>
              </a:spcAft>
              <a:buNone/>
            </a:pPr>
            <a:endParaRPr sz="1000">
              <a:solidFill>
                <a:schemeClr val="dk1"/>
              </a:solidFill>
              <a:latin typeface="Open Sans Light"/>
              <a:ea typeface="Open Sans Light"/>
              <a:cs typeface="Open Sans Light"/>
              <a:sym typeface="Open Sans"/>
            </a:endParaRPr>
          </a:p>
          <a:p>
            <a:pPr marL="457200" lvl="0" indent="0" algn="l" rtl="0">
              <a:lnSpc>
                <a:spcPct val="115000"/>
              </a:lnSpc>
              <a:spcBef>
                <a:spcPts val="1200"/>
              </a:spcBef>
              <a:spcAft>
                <a:spcPts val="0"/>
              </a:spcAft>
              <a:buNone/>
            </a:pPr>
            <a:endParaRPr sz="1000">
              <a:solidFill>
                <a:schemeClr val="dk1"/>
              </a:solidFill>
              <a:latin typeface="Open Sans Light"/>
              <a:ea typeface="Open Sans Light"/>
              <a:cs typeface="Open Sans Light"/>
              <a:sym typeface="Open Sans"/>
            </a:endParaRPr>
          </a:p>
          <a:p>
            <a:pPr marL="457200" lvl="0" indent="0" algn="l" rtl="0">
              <a:lnSpc>
                <a:spcPct val="115000"/>
              </a:lnSpc>
              <a:spcBef>
                <a:spcPts val="1200"/>
              </a:spcBef>
              <a:spcAft>
                <a:spcPts val="0"/>
              </a:spcAft>
              <a:buNone/>
            </a:pPr>
            <a:endParaRPr sz="1000">
              <a:solidFill>
                <a:schemeClr val="dk1"/>
              </a:solidFill>
              <a:latin typeface="Open Sans Light"/>
              <a:ea typeface="Open Sans Light"/>
              <a:cs typeface="Open Sans Light"/>
              <a:sym typeface="Open Sans"/>
            </a:endParaRPr>
          </a:p>
          <a:p>
            <a:pPr marL="457200" lvl="0" indent="0" algn="l" rtl="0">
              <a:lnSpc>
                <a:spcPct val="115000"/>
              </a:lnSpc>
              <a:spcBef>
                <a:spcPts val="1200"/>
              </a:spcBef>
              <a:spcAft>
                <a:spcPts val="0"/>
              </a:spcAft>
              <a:buNone/>
            </a:pPr>
            <a:endParaRPr sz="1000">
              <a:solidFill>
                <a:schemeClr val="dk1"/>
              </a:solidFill>
              <a:latin typeface="Open Sans Light"/>
              <a:ea typeface="Open Sans Light"/>
              <a:cs typeface="Open Sans Light"/>
              <a:sym typeface="Open Sans"/>
            </a:endParaRPr>
          </a:p>
          <a:p>
            <a:pPr marL="457200" lvl="0" indent="0" algn="l" rtl="0">
              <a:lnSpc>
                <a:spcPct val="115000"/>
              </a:lnSpc>
              <a:spcBef>
                <a:spcPts val="1200"/>
              </a:spcBef>
              <a:spcAft>
                <a:spcPts val="0"/>
              </a:spcAft>
              <a:buNone/>
            </a:pPr>
            <a:endParaRPr sz="1000">
              <a:solidFill>
                <a:schemeClr val="dk1"/>
              </a:solidFill>
              <a:latin typeface="Open Sans Light"/>
              <a:ea typeface="Open Sans Light"/>
              <a:cs typeface="Open Sans Light"/>
              <a:sym typeface="Open Sans"/>
            </a:endParaRPr>
          </a:p>
          <a:p>
            <a:pPr marL="0" marR="0" lvl="0" indent="0" algn="l" rtl="0">
              <a:lnSpc>
                <a:spcPct val="115000"/>
              </a:lnSpc>
              <a:spcBef>
                <a:spcPts val="1200"/>
              </a:spcBef>
              <a:spcAft>
                <a:spcPts val="0"/>
              </a:spcAft>
              <a:buNone/>
            </a:pPr>
            <a:endParaRPr sz="1100" b="1">
              <a:solidFill>
                <a:srgbClr val="1200C5"/>
              </a:solidFill>
              <a:latin typeface="Open Sans ExtraBold"/>
              <a:ea typeface="Open Sans ExtraBold"/>
              <a:cs typeface="Open Sans ExtraBold"/>
              <a:sym typeface="Open Sans"/>
            </a:endParaRPr>
          </a:p>
        </p:txBody>
      </p:sp>
      <p:sp>
        <p:nvSpPr>
          <p:cNvPr id="297" name="Google Shape;297;p32"/>
          <p:cNvSpPr txBox="1"/>
          <p:nvPr/>
        </p:nvSpPr>
        <p:spPr>
          <a:xfrm>
            <a:off x="380050" y="239025"/>
            <a:ext cx="43323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b="1">
                <a:solidFill>
                  <a:srgbClr val="0A00BE"/>
                </a:solidFill>
                <a:latin typeface="Open Sans ExtraBold"/>
                <a:ea typeface="Open Sans ExtraBold"/>
                <a:cs typeface="Open Sans ExtraBold"/>
                <a:sym typeface="Open Sans"/>
              </a:rPr>
              <a:t>GT 6 – Outil d’évaluation de la maturité et des risques</a:t>
            </a:r>
            <a:endParaRPr b="1">
              <a:solidFill>
                <a:srgbClr val="0A00BE"/>
              </a:solidFill>
              <a:latin typeface="Open Sans ExtraBold"/>
              <a:ea typeface="Open Sans ExtraBold"/>
              <a:cs typeface="Open Sans ExtraBold"/>
              <a:sym typeface="Open Sans"/>
            </a:endParaRPr>
          </a:p>
        </p:txBody>
      </p:sp>
      <p:pic>
        <p:nvPicPr>
          <p:cNvPr id="298" name="Google Shape;298;p32"/>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4477600" y="1007025"/>
            <a:ext cx="4513999" cy="3925216"/>
          </a:xfrm>
          <a:prstGeom prst="rect">
            <a:avLst/>
          </a:prstGeom>
          <a:noFill/>
          <a:ln>
            <a:noFill/>
          </a:ln>
        </p:spPr>
      </p:pic>
      <p:sp>
        <p:nvSpPr>
          <p:cNvPr id="299" name="Google Shape;299;p32"/>
          <p:cNvSpPr txBox="1"/>
          <p:nvPr/>
        </p:nvSpPr>
        <p:spPr>
          <a:xfrm>
            <a:off x="4477600" y="646325"/>
            <a:ext cx="3729900" cy="360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t>https://soversanity.ch/matrix/</a:t>
            </a:r>
            <a:endParaRPr sz="1200" b="1"/>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33"/>
          <p:cNvSpPr txBox="1"/>
          <p:nvPr/>
        </p:nvSpPr>
        <p:spPr>
          <a:xfrm>
            <a:off x="438100" y="958025"/>
            <a:ext cx="3887100" cy="38988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sz="1000" b="1">
                <a:solidFill>
                  <a:srgbClr val="1200C5"/>
                </a:solidFill>
                <a:latin typeface="Open Sans ExtraBold"/>
                <a:ea typeface="Open Sans ExtraBold"/>
                <a:cs typeface="Open Sans ExtraBold"/>
                <a:sym typeface="Open Sans"/>
              </a:rPr>
              <a:t>Participants</a:t>
            </a:r>
            <a:endParaRPr sz="1000" b="1">
              <a:solidFill>
                <a:srgbClr val="1200C5"/>
              </a:solidFill>
              <a:latin typeface="Open Sans ExtraBold"/>
              <a:ea typeface="Open Sans ExtraBold"/>
              <a:cs typeface="Open Sans ExtraBold"/>
              <a:sym typeface="Open Sans"/>
            </a:endParaRPr>
          </a:p>
          <a:p>
            <a:pPr marL="0" marR="0" lvl="0" indent="0" algn="l" rtl="0">
              <a:lnSpc>
                <a:spcPct val="115000"/>
              </a:lnSpc>
              <a:spcBef>
                <a:spcPts val="0"/>
              </a:spcBef>
              <a:spcAft>
                <a:spcPts val="0"/>
              </a:spcAft>
              <a:buNone/>
            </a:pPr>
            <a:endParaRPr sz="1000">
              <a:solidFill>
                <a:schemeClr val="dk1"/>
              </a:solidFill>
              <a:latin typeface="Open Sans Light"/>
              <a:ea typeface="Open Sans Light"/>
              <a:cs typeface="Open Sans Light"/>
              <a:sym typeface="Open Sans"/>
            </a:endParaRPr>
          </a:p>
          <a:p>
            <a:pPr marL="0" marR="0" lvl="0" indent="0" algn="l" rtl="0">
              <a:lnSpc>
                <a:spcPct val="115000"/>
              </a:lnSpc>
              <a:spcBef>
                <a:spcPts val="0"/>
              </a:spcBef>
              <a:spcAft>
                <a:spcPts val="0"/>
              </a:spcAft>
              <a:buNone/>
            </a:pPr>
            <a:endParaRPr sz="1000">
              <a:solidFill>
                <a:schemeClr val="dk1"/>
              </a:solidFill>
              <a:latin typeface="Open Sans Light"/>
              <a:ea typeface="Open Sans Light"/>
              <a:cs typeface="Open Sans Light"/>
              <a:sym typeface="Open Sans"/>
            </a:endParaRPr>
          </a:p>
          <a:p>
            <a:pPr marL="0" lvl="0" indent="0" algn="l" rtl="0">
              <a:lnSpc>
                <a:spcPct val="115000"/>
              </a:lnSpc>
              <a:spcBef>
                <a:spcPts val="1200"/>
              </a:spcBef>
              <a:spcAft>
                <a:spcPts val="0"/>
              </a:spcAft>
              <a:buNone/>
            </a:pPr>
            <a:r>
              <a:rPr lang="en" sz="1000" b="1">
                <a:solidFill>
                  <a:srgbClr val="1200C5"/>
                </a:solidFill>
                <a:latin typeface="Open Sans ExtraBold"/>
                <a:ea typeface="Open Sans ExtraBold"/>
                <a:cs typeface="Open Sans ExtraBold"/>
                <a:sym typeface="Open Sans"/>
              </a:rPr>
              <a:t>Description</a:t>
            </a:r>
            <a:br>
              <a:rPr lang="en" sz="1000" b="1">
                <a:solidFill>
                  <a:schemeClr val="dk1"/>
                </a:solidFill>
                <a:latin typeface="Open Sans ExtraBold"/>
                <a:ea typeface="Open Sans ExtraBold"/>
                <a:cs typeface="Open Sans ExtraBold"/>
                <a:sym typeface="Open Sans"/>
              </a:rPr>
            </a:br>
            <a:r>
              <a:rPr lang="en" sz="1000">
                <a:solidFill>
                  <a:schemeClr val="dk1"/>
                </a:solidFill>
                <a:latin typeface="Open Sans Light"/>
                <a:ea typeface="Open Sans Light"/>
                <a:cs typeface="Open Sans Light"/>
                <a:sym typeface="Open Sans"/>
              </a:rPr>
              <a:t>Faire connaître les enjeux de la souveraineté numérique, développer une culture commune et communiquer sur les travaux et résultats du Chantier 12 auprès des collaborateurs, des administrations et des décideurs.</a:t>
            </a:r>
            <a:endParaRPr sz="1000">
              <a:solidFill>
                <a:schemeClr val="dk1"/>
              </a:solidFill>
              <a:latin typeface="Open Sans Light"/>
              <a:ea typeface="Open Sans Light"/>
              <a:cs typeface="Open Sans Light"/>
              <a:sym typeface="Open Sans"/>
            </a:endParaRPr>
          </a:p>
          <a:p>
            <a:pPr marL="0" lvl="0" indent="0" algn="l" rtl="0">
              <a:lnSpc>
                <a:spcPct val="115000"/>
              </a:lnSpc>
              <a:spcBef>
                <a:spcPts val="1200"/>
              </a:spcBef>
              <a:spcAft>
                <a:spcPts val="0"/>
              </a:spcAft>
              <a:buNone/>
            </a:pPr>
            <a:r>
              <a:rPr lang="en" sz="1000" b="1">
                <a:solidFill>
                  <a:srgbClr val="1200C5"/>
                </a:solidFill>
                <a:latin typeface="Open Sans ExtraBold"/>
                <a:ea typeface="Open Sans ExtraBold"/>
                <a:cs typeface="Open Sans ExtraBold"/>
                <a:sym typeface="Open Sans"/>
              </a:rPr>
              <a:t>Objectifs</a:t>
            </a:r>
            <a:endParaRPr sz="1000">
              <a:solidFill>
                <a:schemeClr val="dk1"/>
              </a:solidFill>
              <a:latin typeface="Open Sans Light"/>
              <a:ea typeface="Open Sans Light"/>
              <a:cs typeface="Open Sans Light"/>
              <a:sym typeface="Open Sans"/>
            </a:endParaRPr>
          </a:p>
          <a:p>
            <a:pPr marL="457200" lvl="0" indent="-298450" algn="l" rtl="0">
              <a:lnSpc>
                <a:spcPct val="115000"/>
              </a:lnSpc>
              <a:spcBef>
                <a:spcPts val="1200"/>
              </a:spcBef>
              <a:spcAft>
                <a:spcPts val="0"/>
              </a:spcAft>
              <a:buClr>
                <a:schemeClr val="dk1"/>
              </a:buClr>
              <a:buSzPts val="1100"/>
              <a:buChar char="●"/>
            </a:pPr>
            <a:r>
              <a:rPr lang="en" sz="1000">
                <a:solidFill>
                  <a:schemeClr val="dk1"/>
                </a:solidFill>
                <a:latin typeface="Open Sans Light"/>
                <a:ea typeface="Open Sans Light"/>
                <a:cs typeface="Open Sans Light"/>
                <a:sym typeface="Open Sans"/>
              </a:rPr>
              <a:t>Développer une compréhension commune du sujet.</a:t>
            </a:r>
            <a:endParaRPr sz="1000">
              <a:solidFill>
                <a:schemeClr val="dk1"/>
              </a:solidFill>
              <a:latin typeface="Open Sans Light"/>
              <a:ea typeface="Open Sans Light"/>
              <a:cs typeface="Open Sans Light"/>
              <a:sym typeface="Open Sans"/>
            </a:endParaRPr>
          </a:p>
          <a:p>
            <a:pPr marL="457200" lvl="0" indent="-298450" algn="l" rtl="0">
              <a:lnSpc>
                <a:spcPct val="115000"/>
              </a:lnSpc>
              <a:spcBef>
                <a:spcPts val="0"/>
              </a:spcBef>
              <a:spcAft>
                <a:spcPts val="0"/>
              </a:spcAft>
              <a:buClr>
                <a:schemeClr val="dk1"/>
              </a:buClr>
              <a:buSzPts val="1100"/>
              <a:buChar char="●"/>
            </a:pPr>
            <a:r>
              <a:rPr lang="en" sz="1000">
                <a:solidFill>
                  <a:schemeClr val="dk1"/>
                </a:solidFill>
                <a:latin typeface="Open Sans Light"/>
                <a:ea typeface="Open Sans Light"/>
                <a:cs typeface="Open Sans Light"/>
                <a:sym typeface="Open Sans"/>
              </a:rPr>
              <a:t>Expliquer les liens entre souveraineté, résilience, risques, coûts et continuité des services publics.</a:t>
            </a:r>
            <a:endParaRPr sz="1000">
              <a:solidFill>
                <a:schemeClr val="dk1"/>
              </a:solidFill>
              <a:latin typeface="Open Sans Light"/>
              <a:ea typeface="Open Sans Light"/>
              <a:cs typeface="Open Sans Light"/>
              <a:sym typeface="Open Sans"/>
            </a:endParaRPr>
          </a:p>
          <a:p>
            <a:pPr marL="457200" lvl="0" indent="-298450" algn="l" rtl="0">
              <a:lnSpc>
                <a:spcPct val="115000"/>
              </a:lnSpc>
              <a:spcBef>
                <a:spcPts val="0"/>
              </a:spcBef>
              <a:spcAft>
                <a:spcPts val="0"/>
              </a:spcAft>
              <a:buClr>
                <a:schemeClr val="dk1"/>
              </a:buClr>
              <a:buSzPts val="1100"/>
              <a:buChar char="●"/>
            </a:pPr>
            <a:r>
              <a:rPr lang="en" sz="1000">
                <a:solidFill>
                  <a:schemeClr val="dk1"/>
                </a:solidFill>
                <a:latin typeface="Open Sans Light"/>
                <a:ea typeface="Open Sans Light"/>
                <a:cs typeface="Open Sans Light"/>
                <a:sym typeface="Open Sans"/>
              </a:rPr>
              <a:t>Valoriser les actifs et initiatives existants dans la Région.</a:t>
            </a:r>
            <a:endParaRPr sz="1000">
              <a:solidFill>
                <a:schemeClr val="dk1"/>
              </a:solidFill>
              <a:latin typeface="Open Sans Light"/>
              <a:ea typeface="Open Sans Light"/>
              <a:cs typeface="Open Sans Light"/>
              <a:sym typeface="Open Sans"/>
            </a:endParaRPr>
          </a:p>
          <a:p>
            <a:pPr marL="457200" lvl="0" indent="-298450" algn="l" rtl="0">
              <a:lnSpc>
                <a:spcPct val="115000"/>
              </a:lnSpc>
              <a:spcBef>
                <a:spcPts val="0"/>
              </a:spcBef>
              <a:spcAft>
                <a:spcPts val="0"/>
              </a:spcAft>
              <a:buClr>
                <a:schemeClr val="dk1"/>
              </a:buClr>
              <a:buSzPts val="1100"/>
              <a:buChar char="●"/>
            </a:pPr>
            <a:r>
              <a:rPr lang="en" sz="1000">
                <a:solidFill>
                  <a:schemeClr val="dk1"/>
                </a:solidFill>
                <a:latin typeface="Open Sans Light"/>
                <a:ea typeface="Open Sans Light"/>
                <a:cs typeface="Open Sans Light"/>
                <a:sym typeface="Open Sans"/>
              </a:rPr>
              <a:t>Faire connaître les résultats du chantier.</a:t>
            </a:r>
            <a:endParaRPr sz="1000">
              <a:solidFill>
                <a:schemeClr val="dk1"/>
              </a:solidFill>
              <a:latin typeface="Open Sans Light"/>
              <a:ea typeface="Open Sans Light"/>
              <a:cs typeface="Open Sans Light"/>
              <a:sym typeface="Open Sans"/>
            </a:endParaRPr>
          </a:p>
          <a:p>
            <a:pPr marL="457200" lvl="0" indent="-298450" algn="l" rtl="0">
              <a:lnSpc>
                <a:spcPct val="115000"/>
              </a:lnSpc>
              <a:spcBef>
                <a:spcPts val="0"/>
              </a:spcBef>
              <a:spcAft>
                <a:spcPts val="0"/>
              </a:spcAft>
              <a:buClr>
                <a:schemeClr val="dk1"/>
              </a:buClr>
              <a:buSzPts val="1100"/>
              <a:buChar char="●"/>
            </a:pPr>
            <a:r>
              <a:rPr lang="en" sz="1000">
                <a:solidFill>
                  <a:schemeClr val="dk1"/>
                </a:solidFill>
                <a:latin typeface="Open Sans Light"/>
                <a:ea typeface="Open Sans Light"/>
                <a:cs typeface="Open Sans Light"/>
                <a:sym typeface="Open Sans"/>
              </a:rPr>
              <a:t>Préparer l’adhésion aux futures actions et expérimentations.</a:t>
            </a:r>
            <a:endParaRPr sz="1000">
              <a:solidFill>
                <a:schemeClr val="dk1"/>
              </a:solidFill>
              <a:latin typeface="Open Sans Light"/>
              <a:ea typeface="Open Sans Light"/>
              <a:cs typeface="Open Sans Light"/>
              <a:sym typeface="Open Sans"/>
            </a:endParaRPr>
          </a:p>
          <a:p>
            <a:pPr marL="457200" lvl="0" indent="0" algn="l" rtl="0">
              <a:lnSpc>
                <a:spcPct val="115000"/>
              </a:lnSpc>
              <a:spcBef>
                <a:spcPts val="1200"/>
              </a:spcBef>
              <a:spcAft>
                <a:spcPts val="0"/>
              </a:spcAft>
              <a:buNone/>
            </a:pPr>
            <a:endParaRPr sz="1000">
              <a:solidFill>
                <a:schemeClr val="dk1"/>
              </a:solidFill>
              <a:latin typeface="Open Sans Light"/>
              <a:ea typeface="Open Sans Light"/>
              <a:cs typeface="Open Sans Light"/>
              <a:sym typeface="Open Sans"/>
            </a:endParaRPr>
          </a:p>
          <a:p>
            <a:pPr marL="457200" lvl="0" indent="0" algn="l" rtl="0">
              <a:lnSpc>
                <a:spcPct val="115000"/>
              </a:lnSpc>
              <a:spcBef>
                <a:spcPts val="1200"/>
              </a:spcBef>
              <a:spcAft>
                <a:spcPts val="0"/>
              </a:spcAft>
              <a:buNone/>
            </a:pPr>
            <a:endParaRPr sz="1000">
              <a:solidFill>
                <a:schemeClr val="dk1"/>
              </a:solidFill>
              <a:latin typeface="Open Sans Light"/>
              <a:ea typeface="Open Sans Light"/>
              <a:cs typeface="Open Sans Light"/>
              <a:sym typeface="Open Sans"/>
            </a:endParaRPr>
          </a:p>
          <a:p>
            <a:pPr marL="457200" lvl="0" indent="0" algn="l" rtl="0">
              <a:lnSpc>
                <a:spcPct val="115000"/>
              </a:lnSpc>
              <a:spcBef>
                <a:spcPts val="1200"/>
              </a:spcBef>
              <a:spcAft>
                <a:spcPts val="0"/>
              </a:spcAft>
              <a:buNone/>
            </a:pPr>
            <a:endParaRPr sz="1000">
              <a:solidFill>
                <a:schemeClr val="dk1"/>
              </a:solidFill>
              <a:latin typeface="Open Sans Light"/>
              <a:ea typeface="Open Sans Light"/>
              <a:cs typeface="Open Sans Light"/>
              <a:sym typeface="Open Sans"/>
            </a:endParaRPr>
          </a:p>
          <a:p>
            <a:pPr marL="457200" lvl="0" indent="0" algn="l" rtl="0">
              <a:lnSpc>
                <a:spcPct val="115000"/>
              </a:lnSpc>
              <a:spcBef>
                <a:spcPts val="1200"/>
              </a:spcBef>
              <a:spcAft>
                <a:spcPts val="0"/>
              </a:spcAft>
              <a:buNone/>
            </a:pPr>
            <a:endParaRPr sz="1000">
              <a:solidFill>
                <a:schemeClr val="dk1"/>
              </a:solidFill>
              <a:latin typeface="Open Sans Light"/>
              <a:ea typeface="Open Sans Light"/>
              <a:cs typeface="Open Sans Light"/>
              <a:sym typeface="Open Sans"/>
            </a:endParaRPr>
          </a:p>
          <a:p>
            <a:pPr marL="457200" lvl="0" indent="0" algn="l" rtl="0">
              <a:lnSpc>
                <a:spcPct val="115000"/>
              </a:lnSpc>
              <a:spcBef>
                <a:spcPts val="1200"/>
              </a:spcBef>
              <a:spcAft>
                <a:spcPts val="0"/>
              </a:spcAft>
              <a:buNone/>
            </a:pPr>
            <a:endParaRPr sz="1000">
              <a:solidFill>
                <a:schemeClr val="dk1"/>
              </a:solidFill>
              <a:latin typeface="Open Sans Light"/>
              <a:ea typeface="Open Sans Light"/>
              <a:cs typeface="Open Sans Light"/>
              <a:sym typeface="Open Sans"/>
            </a:endParaRPr>
          </a:p>
          <a:p>
            <a:pPr marL="457200" lvl="0" indent="0" algn="l" rtl="0">
              <a:lnSpc>
                <a:spcPct val="115000"/>
              </a:lnSpc>
              <a:spcBef>
                <a:spcPts val="1200"/>
              </a:spcBef>
              <a:spcAft>
                <a:spcPts val="0"/>
              </a:spcAft>
              <a:buNone/>
            </a:pPr>
            <a:endParaRPr sz="1000">
              <a:solidFill>
                <a:schemeClr val="dk1"/>
              </a:solidFill>
              <a:latin typeface="Open Sans Light"/>
              <a:ea typeface="Open Sans Light"/>
              <a:cs typeface="Open Sans Light"/>
              <a:sym typeface="Open Sans"/>
            </a:endParaRPr>
          </a:p>
          <a:p>
            <a:pPr marL="0" marR="0" lvl="0" indent="0" algn="l" rtl="0">
              <a:lnSpc>
                <a:spcPct val="115000"/>
              </a:lnSpc>
              <a:spcBef>
                <a:spcPts val="1200"/>
              </a:spcBef>
              <a:spcAft>
                <a:spcPts val="0"/>
              </a:spcAft>
              <a:buNone/>
            </a:pPr>
            <a:endParaRPr sz="1100" b="1">
              <a:solidFill>
                <a:srgbClr val="1200C5"/>
              </a:solidFill>
              <a:latin typeface="Open Sans ExtraBold"/>
              <a:ea typeface="Open Sans ExtraBold"/>
              <a:cs typeface="Open Sans ExtraBold"/>
              <a:sym typeface="Open Sans"/>
            </a:endParaRPr>
          </a:p>
        </p:txBody>
      </p:sp>
      <p:sp>
        <p:nvSpPr>
          <p:cNvPr id="305" name="Google Shape;305;p33"/>
          <p:cNvSpPr txBox="1"/>
          <p:nvPr/>
        </p:nvSpPr>
        <p:spPr>
          <a:xfrm>
            <a:off x="380050" y="239025"/>
            <a:ext cx="43323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b="1">
                <a:solidFill>
                  <a:srgbClr val="0A00BE"/>
                </a:solidFill>
                <a:latin typeface="Open Sans ExtraBold"/>
                <a:ea typeface="Open Sans ExtraBold"/>
                <a:cs typeface="Open Sans ExtraBold"/>
                <a:sym typeface="Open Sans"/>
              </a:rPr>
              <a:t>GT 7 – Sensibilisation et communication</a:t>
            </a:r>
            <a:endParaRPr b="1">
              <a:solidFill>
                <a:srgbClr val="0A00BE"/>
              </a:solidFill>
              <a:latin typeface="Open Sans ExtraBold"/>
              <a:ea typeface="Open Sans ExtraBold"/>
              <a:cs typeface="Open Sans ExtraBold"/>
              <a:sym typeface="Open Sans"/>
            </a:endParaRPr>
          </a:p>
        </p:txBody>
      </p:sp>
      <p:sp>
        <p:nvSpPr>
          <p:cNvPr id="306" name="Google Shape;306;p33"/>
          <p:cNvSpPr/>
          <p:nvPr/>
        </p:nvSpPr>
        <p:spPr>
          <a:xfrm>
            <a:off x="4823425" y="7450"/>
            <a:ext cx="4332300" cy="5143500"/>
          </a:xfrm>
          <a:prstGeom prst="rect">
            <a:avLst/>
          </a:prstGeom>
          <a:solidFill>
            <a:srgbClr val="134F5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7" name="Google Shape;307;p33"/>
          <p:cNvSpPr txBox="1"/>
          <p:nvPr/>
        </p:nvSpPr>
        <p:spPr>
          <a:xfrm>
            <a:off x="5151025" y="308550"/>
            <a:ext cx="3677100" cy="4342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100" b="1">
                <a:solidFill>
                  <a:schemeClr val="lt1"/>
                </a:solidFill>
                <a:latin typeface="Open Sans ExtraBold"/>
                <a:ea typeface="Open Sans ExtraBold"/>
                <a:cs typeface="Open Sans ExtraBold"/>
                <a:sym typeface="Open Sans"/>
              </a:rPr>
              <a:t>Tâches / Livrables</a:t>
            </a:r>
            <a:endParaRPr sz="1100">
              <a:solidFill>
                <a:schemeClr val="lt1"/>
              </a:solidFill>
              <a:latin typeface="Open Sans Light"/>
              <a:ea typeface="Open Sans Light"/>
              <a:cs typeface="Open Sans Light"/>
              <a:sym typeface="Open Sans"/>
            </a:endParaRPr>
          </a:p>
          <a:p>
            <a:pPr marL="457200" lvl="0" indent="-298450" algn="l" rtl="0">
              <a:lnSpc>
                <a:spcPct val="115000"/>
              </a:lnSpc>
              <a:spcBef>
                <a:spcPts val="1200"/>
              </a:spcBef>
              <a:spcAft>
                <a:spcPts val="0"/>
              </a:spcAft>
              <a:buClr>
                <a:schemeClr val="lt1"/>
              </a:buClr>
              <a:buSzPts val="1100"/>
              <a:buFont typeface="Open Sans"/>
              <a:buChar char="●"/>
            </a:pPr>
            <a:r>
              <a:rPr lang="en" sz="1100">
                <a:solidFill>
                  <a:schemeClr val="lt1"/>
                </a:solidFill>
                <a:latin typeface="Open Sans Light"/>
                <a:ea typeface="Open Sans Light"/>
                <a:cs typeface="Open Sans Light"/>
                <a:sym typeface="Open Sans"/>
              </a:rPr>
              <a:t>À définir</a:t>
            </a:r>
            <a:endParaRPr sz="1100">
              <a:solidFill>
                <a:schemeClr val="lt1"/>
              </a:solidFill>
              <a:latin typeface="Open Sans Light"/>
              <a:ea typeface="Open Sans Light"/>
              <a:cs typeface="Open Sans Light"/>
              <a:sym typeface="Open Sans"/>
            </a:endParaRPr>
          </a:p>
          <a:p>
            <a:pPr marL="457200" lvl="0" indent="-298450" algn="l" rtl="0">
              <a:lnSpc>
                <a:spcPct val="115000"/>
              </a:lnSpc>
              <a:spcBef>
                <a:spcPts val="0"/>
              </a:spcBef>
              <a:spcAft>
                <a:spcPts val="0"/>
              </a:spcAft>
              <a:buClr>
                <a:schemeClr val="lt1"/>
              </a:buClr>
              <a:buSzPts val="1100"/>
              <a:buFont typeface="Open Sans"/>
              <a:buChar char="●"/>
            </a:pPr>
            <a:endParaRPr sz="1100">
              <a:solidFill>
                <a:schemeClr val="lt1"/>
              </a:solidFill>
              <a:latin typeface="Open Sans Light"/>
              <a:ea typeface="Open Sans Light"/>
              <a:cs typeface="Open Sans Light"/>
              <a:sym typeface="Open Sans"/>
            </a:endParaRPr>
          </a:p>
          <a:p>
            <a:pPr marL="457200" lvl="0" indent="0" algn="l" rtl="0">
              <a:lnSpc>
                <a:spcPct val="115000"/>
              </a:lnSpc>
              <a:spcBef>
                <a:spcPts val="1200"/>
              </a:spcBef>
              <a:spcAft>
                <a:spcPts val="0"/>
              </a:spcAft>
              <a:buNone/>
            </a:pPr>
            <a:endParaRPr sz="1100" b="1">
              <a:solidFill>
                <a:schemeClr val="lt1"/>
              </a:solidFill>
              <a:latin typeface="Open Sans ExtraBold"/>
              <a:ea typeface="Open Sans ExtraBold"/>
              <a:cs typeface="Open Sans ExtraBold"/>
              <a:sym typeface="Open Sans"/>
            </a:endParaRPr>
          </a:p>
          <a:p>
            <a:pPr marL="457200" lvl="0" indent="0" algn="l" rtl="0">
              <a:lnSpc>
                <a:spcPct val="115000"/>
              </a:lnSpc>
              <a:spcBef>
                <a:spcPts val="1200"/>
              </a:spcBef>
              <a:spcAft>
                <a:spcPts val="0"/>
              </a:spcAft>
              <a:buNone/>
            </a:pPr>
            <a:endParaRPr sz="1100" b="1">
              <a:solidFill>
                <a:schemeClr val="lt1"/>
              </a:solidFill>
              <a:latin typeface="Open Sans ExtraBold"/>
              <a:ea typeface="Open Sans ExtraBold"/>
              <a:cs typeface="Open Sans ExtraBold"/>
              <a:sym typeface="Open Sans"/>
            </a:endParaRPr>
          </a:p>
          <a:p>
            <a:pPr marL="0" lvl="0" indent="0" algn="l" rtl="0">
              <a:lnSpc>
                <a:spcPct val="115000"/>
              </a:lnSpc>
              <a:spcBef>
                <a:spcPts val="1200"/>
              </a:spcBef>
              <a:spcAft>
                <a:spcPts val="0"/>
              </a:spcAft>
              <a:buNone/>
            </a:pPr>
            <a:endParaRPr sz="1100" b="1">
              <a:solidFill>
                <a:schemeClr val="lt1"/>
              </a:solidFill>
              <a:latin typeface="Open Sans ExtraBold"/>
              <a:ea typeface="Open Sans ExtraBold"/>
              <a:cs typeface="Open Sans ExtraBold"/>
              <a:sym typeface="Open Sans"/>
            </a:endParaRPr>
          </a:p>
          <a:p>
            <a:pPr marL="457200" lvl="0" indent="0" algn="l" rtl="0">
              <a:lnSpc>
                <a:spcPct val="115000"/>
              </a:lnSpc>
              <a:spcBef>
                <a:spcPts val="1200"/>
              </a:spcBef>
              <a:spcAft>
                <a:spcPts val="0"/>
              </a:spcAft>
              <a:buNone/>
            </a:pPr>
            <a:endParaRPr sz="1100">
              <a:solidFill>
                <a:schemeClr val="lt1"/>
              </a:solidFill>
              <a:latin typeface="Open Sans Light"/>
              <a:ea typeface="Open Sans Light"/>
              <a:cs typeface="Open Sans Light"/>
              <a:sym typeface="Open Sans"/>
            </a:endParaRPr>
          </a:p>
          <a:p>
            <a:pPr marL="0" lvl="0" indent="0" algn="l" rtl="0">
              <a:spcBef>
                <a:spcPts val="1200"/>
              </a:spcBef>
              <a:spcAft>
                <a:spcPts val="0"/>
              </a:spcAft>
              <a:buClr>
                <a:schemeClr val="dk1"/>
              </a:buClr>
              <a:buSzPts val="1100"/>
              <a:buFont typeface="Arial"/>
              <a:buNone/>
            </a:pPr>
            <a:endParaRPr sz="1100" b="1">
              <a:solidFill>
                <a:schemeClr val="lt1"/>
              </a:solidFill>
              <a:latin typeface="Open Sans ExtraBold"/>
              <a:ea typeface="Open Sans ExtraBold"/>
              <a:cs typeface="Open Sans ExtraBold"/>
              <a:sym typeface="Open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34"/>
          <p:cNvSpPr txBox="1"/>
          <p:nvPr/>
        </p:nvSpPr>
        <p:spPr>
          <a:xfrm>
            <a:off x="532400" y="367125"/>
            <a:ext cx="53592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800" i="1">
                <a:solidFill>
                  <a:srgbClr val="354095"/>
                </a:solidFill>
                <a:latin typeface="Roboto Black"/>
                <a:ea typeface="Roboto Black"/>
                <a:cs typeface="Roboto Black"/>
                <a:sym typeface="Roboto Black"/>
              </a:rPr>
              <a:t>Prochaines étapes</a:t>
            </a:r>
            <a:endParaRPr sz="1800">
              <a:solidFill>
                <a:srgbClr val="354095"/>
              </a:solidFill>
              <a:highlight>
                <a:srgbClr val="354095"/>
              </a:highlight>
              <a:latin typeface="Roboto Black"/>
              <a:ea typeface="Roboto Black"/>
              <a:cs typeface="Roboto Black"/>
              <a:sym typeface="Roboto Black"/>
            </a:endParaRPr>
          </a:p>
        </p:txBody>
      </p:sp>
      <p:sp>
        <p:nvSpPr>
          <p:cNvPr id="313" name="Google Shape;313;p34"/>
          <p:cNvSpPr txBox="1"/>
          <p:nvPr/>
        </p:nvSpPr>
        <p:spPr>
          <a:xfrm>
            <a:off x="698200" y="1311325"/>
            <a:ext cx="6591000" cy="24153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500">
                <a:solidFill>
                  <a:schemeClr val="dk1"/>
                </a:solidFill>
                <a:latin typeface="Open Sans Light"/>
                <a:ea typeface="Open Sans Light"/>
                <a:cs typeface="Open Sans Light"/>
                <a:sym typeface="Open Sans"/>
              </a:rPr>
              <a:t>1- Précisez-nous par email </a:t>
            </a:r>
            <a:r>
              <a:rPr lang="en" sz="1500" b="1">
                <a:solidFill>
                  <a:schemeClr val="dk1"/>
                </a:solidFill>
                <a:latin typeface="Open Sans ExtraBold"/>
                <a:ea typeface="Open Sans ExtraBold"/>
                <a:cs typeface="Open Sans ExtraBold"/>
                <a:sym typeface="Open Sans"/>
              </a:rPr>
              <a:t>à quel GT vous voulez participer</a:t>
            </a:r>
            <a:endParaRPr sz="1500" b="1">
              <a:solidFill>
                <a:schemeClr val="dk1"/>
              </a:solidFill>
              <a:latin typeface="Open Sans ExtraBold"/>
              <a:ea typeface="Open Sans ExtraBold"/>
              <a:cs typeface="Open Sans ExtraBold"/>
              <a:sym typeface="Open Sans"/>
            </a:endParaRPr>
          </a:p>
          <a:p>
            <a:pPr marL="0" lvl="0" indent="0" algn="l" rtl="0">
              <a:lnSpc>
                <a:spcPct val="150000"/>
              </a:lnSpc>
              <a:spcBef>
                <a:spcPts val="0"/>
              </a:spcBef>
              <a:spcAft>
                <a:spcPts val="0"/>
              </a:spcAft>
              <a:buNone/>
            </a:pPr>
            <a:r>
              <a:rPr lang="en" sz="1500">
                <a:solidFill>
                  <a:schemeClr val="dk1"/>
                </a:solidFill>
                <a:latin typeface="Open Sans Light"/>
                <a:ea typeface="Open Sans Light"/>
                <a:cs typeface="Open Sans Light"/>
                <a:sym typeface="Open Sans"/>
              </a:rPr>
              <a:t>2- </a:t>
            </a:r>
            <a:r>
              <a:rPr lang="en" sz="1500" b="1">
                <a:solidFill>
                  <a:schemeClr val="dk1"/>
                </a:solidFill>
                <a:latin typeface="Open Sans ExtraBold"/>
                <a:ea typeface="Open Sans ExtraBold"/>
                <a:cs typeface="Open Sans ExtraBold"/>
                <a:sym typeface="Open Sans"/>
              </a:rPr>
              <a:t>Aidez-nous à alimenter le “Cerveau collectif”:</a:t>
            </a:r>
            <a:endParaRPr sz="1500" b="1">
              <a:solidFill>
                <a:schemeClr val="dk1"/>
              </a:solidFill>
              <a:latin typeface="Open Sans ExtraBold"/>
              <a:ea typeface="Open Sans ExtraBold"/>
              <a:cs typeface="Open Sans ExtraBold"/>
              <a:sym typeface="Open Sans"/>
            </a:endParaRPr>
          </a:p>
          <a:p>
            <a:pPr marL="457200" lvl="0" indent="-323850" algn="l" rtl="0">
              <a:spcBef>
                <a:spcPts val="0"/>
              </a:spcBef>
              <a:spcAft>
                <a:spcPts val="0"/>
              </a:spcAft>
              <a:buClr>
                <a:schemeClr val="dk1"/>
              </a:buClr>
              <a:buSzPts val="1500"/>
              <a:buFont typeface="Open Sans"/>
              <a:buChar char="-"/>
            </a:pPr>
            <a:r>
              <a:rPr lang="en" sz="1500">
                <a:solidFill>
                  <a:schemeClr val="dk1"/>
                </a:solidFill>
                <a:latin typeface="Open Sans Light"/>
                <a:ea typeface="Open Sans Light"/>
                <a:cs typeface="Open Sans Light"/>
                <a:sym typeface="Open Sans"/>
              </a:rPr>
              <a:t>Rédiger une synthèse d’un document sur la souverainté</a:t>
            </a:r>
            <a:endParaRPr sz="1500">
              <a:solidFill>
                <a:schemeClr val="dk1"/>
              </a:solidFill>
              <a:latin typeface="Open Sans Light"/>
              <a:ea typeface="Open Sans Light"/>
              <a:cs typeface="Open Sans Light"/>
              <a:sym typeface="Open Sans"/>
            </a:endParaRPr>
          </a:p>
          <a:p>
            <a:pPr marL="457200" lvl="0" indent="-323850" algn="l" rtl="0">
              <a:spcBef>
                <a:spcPts val="0"/>
              </a:spcBef>
              <a:spcAft>
                <a:spcPts val="0"/>
              </a:spcAft>
              <a:buClr>
                <a:schemeClr val="dk1"/>
              </a:buClr>
              <a:buSzPts val="1500"/>
              <a:buFont typeface="Open Sans"/>
              <a:buChar char="-"/>
            </a:pPr>
            <a:r>
              <a:rPr lang="en" sz="1500">
                <a:solidFill>
                  <a:schemeClr val="dk1"/>
                </a:solidFill>
                <a:latin typeface="Open Sans Light"/>
                <a:ea typeface="Open Sans Light"/>
                <a:cs typeface="Open Sans Light"/>
                <a:sym typeface="Open Sans"/>
              </a:rPr>
              <a:t>Proposer une note sur un concept lié à la souverainté</a:t>
            </a:r>
            <a:endParaRPr sz="1500">
              <a:solidFill>
                <a:schemeClr val="dk1"/>
              </a:solidFill>
              <a:latin typeface="Open Sans Light"/>
              <a:ea typeface="Open Sans Light"/>
              <a:cs typeface="Open Sans Light"/>
              <a:sym typeface="Open Sans"/>
            </a:endParaRPr>
          </a:p>
          <a:p>
            <a:pPr marL="457200" lvl="0" indent="-323850" algn="l" rtl="0">
              <a:spcBef>
                <a:spcPts val="0"/>
              </a:spcBef>
              <a:spcAft>
                <a:spcPts val="0"/>
              </a:spcAft>
              <a:buClr>
                <a:schemeClr val="dk1"/>
              </a:buClr>
              <a:buSzPts val="1500"/>
              <a:buFont typeface="Open Sans"/>
              <a:buChar char="-"/>
            </a:pPr>
            <a:r>
              <a:rPr lang="en" sz="1500">
                <a:solidFill>
                  <a:schemeClr val="dk1"/>
                </a:solidFill>
                <a:latin typeface="Open Sans Light"/>
                <a:ea typeface="Open Sans Light"/>
                <a:cs typeface="Open Sans Light"/>
                <a:sym typeface="Open Sans"/>
              </a:rPr>
              <a:t>Donnez votre position sur le sujet </a:t>
            </a:r>
            <a:endParaRPr sz="1500">
              <a:solidFill>
                <a:schemeClr val="dk1"/>
              </a:solidFill>
              <a:latin typeface="Open Sans Light"/>
              <a:ea typeface="Open Sans Light"/>
              <a:cs typeface="Open Sans Light"/>
              <a:sym typeface="Open Sans"/>
            </a:endParaRPr>
          </a:p>
          <a:p>
            <a:pPr marL="457200" lvl="0" indent="-323850" algn="l" rtl="0">
              <a:spcBef>
                <a:spcPts val="0"/>
              </a:spcBef>
              <a:spcAft>
                <a:spcPts val="0"/>
              </a:spcAft>
              <a:buClr>
                <a:schemeClr val="dk1"/>
              </a:buClr>
              <a:buSzPts val="1500"/>
              <a:buFont typeface="Open Sans"/>
              <a:buChar char="-"/>
            </a:pPr>
            <a:r>
              <a:rPr lang="en" sz="1500">
                <a:solidFill>
                  <a:schemeClr val="dk1"/>
                </a:solidFill>
                <a:latin typeface="Open Sans Light"/>
                <a:ea typeface="Open Sans Light"/>
                <a:cs typeface="Open Sans Light"/>
                <a:sym typeface="Open Sans"/>
              </a:rPr>
              <a:t>Faites un interview d’un collaborateur</a:t>
            </a:r>
            <a:endParaRPr sz="1500">
              <a:solidFill>
                <a:schemeClr val="dk1"/>
              </a:solidFill>
              <a:latin typeface="Open Sans Light"/>
              <a:ea typeface="Open Sans Light"/>
              <a:cs typeface="Open Sans Light"/>
              <a:sym typeface="Open Sans"/>
            </a:endParaRPr>
          </a:p>
          <a:p>
            <a:pPr marL="457200" lvl="0" indent="-323850" algn="l" rtl="0">
              <a:spcBef>
                <a:spcPts val="0"/>
              </a:spcBef>
              <a:spcAft>
                <a:spcPts val="0"/>
              </a:spcAft>
              <a:buClr>
                <a:schemeClr val="dk1"/>
              </a:buClr>
              <a:buSzPts val="1500"/>
              <a:buFont typeface="Open Sans"/>
              <a:buChar char="-"/>
            </a:pPr>
            <a:r>
              <a:rPr lang="en" sz="1500">
                <a:solidFill>
                  <a:schemeClr val="dk1"/>
                </a:solidFill>
                <a:latin typeface="Open Sans Light"/>
                <a:ea typeface="Open Sans Light"/>
                <a:cs typeface="Open Sans Light"/>
                <a:sym typeface="Open Sans"/>
              </a:rPr>
              <a:t>…</a:t>
            </a:r>
            <a:endParaRPr sz="1500">
              <a:solidFill>
                <a:schemeClr val="dk1"/>
              </a:solidFill>
              <a:latin typeface="Open Sans Light"/>
              <a:ea typeface="Open Sans Light"/>
              <a:cs typeface="Open Sans Light"/>
              <a:sym typeface="Open Sans"/>
            </a:endParaRPr>
          </a:p>
        </p:txBody>
      </p:sp>
    </p:spTree>
  </p:cSld>
  <p:clrMapOvr>
    <a:masterClrMapping/>
  </p:clrMapOvr>
</p:sld>
</file>

<file path=ppt/theme/theme1.xml><?xml version="1.0" encoding="utf-8"?>
<a:theme xmlns:a="http://schemas.openxmlformats.org/drawingml/2006/main" name="1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186EE758CFC1842B285249C0620D97E" ma:contentTypeVersion="9" ma:contentTypeDescription="Crée un document." ma:contentTypeScope="" ma:versionID="783b8f647a89e533978f3623734ab9ff">
  <xsd:schema xmlns:xsd="http://www.w3.org/2001/XMLSchema" xmlns:xs="http://www.w3.org/2001/XMLSchema" xmlns:p="http://schemas.microsoft.com/office/2006/metadata/properties" xmlns:ns2="d3f9facc-bd55-4de7-8e1c-c048fbc10aa8" targetNamespace="http://schemas.microsoft.com/office/2006/metadata/properties" ma:root="true" ma:fieldsID="28ff319030c9cb84c8eec0cf4013ad28" ns2:_="">
    <xsd:import namespace="d3f9facc-bd55-4de7-8e1c-c048fbc10aa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3f9facc-bd55-4de7-8e1c-c048fbc10aa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Balises d’images" ma:readOnly="false" ma:fieldId="{5cf76f15-5ced-4ddc-b409-7134ff3c332f}" ma:taxonomyMulti="true" ma:sspId="6be116bf-fdc6-407a-af0d-5730e4d11466"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d3f9facc-bd55-4de7-8e1c-c048fbc10aa8">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FA25421E-0088-4FA6-B62B-9804397E9E93}"/>
</file>

<file path=customXml/itemProps2.xml><?xml version="1.0" encoding="utf-8"?>
<ds:datastoreItem xmlns:ds="http://schemas.openxmlformats.org/officeDocument/2006/customXml" ds:itemID="{0B1B3992-2728-4CD7-9D9F-79ACCF38BB2A}"/>
</file>

<file path=customXml/itemProps3.xml><?xml version="1.0" encoding="utf-8"?>
<ds:datastoreItem xmlns:ds="http://schemas.openxmlformats.org/officeDocument/2006/customXml" ds:itemID="{19980814-EA9F-4583-BC3C-EC384254EC13}"/>
</file>

<file path=docProps/app.xml><?xml version="1.0" encoding="utf-8"?>
<Properties xmlns="http://schemas.openxmlformats.org/officeDocument/2006/extended-properties" xmlns:vt="http://schemas.openxmlformats.org/officeDocument/2006/docPropsVTypes">
  <TotalTime>0</TotalTime>
  <Words>2059</Words>
  <Application>Microsoft Macintosh PowerPoint</Application>
  <PresentationFormat>Affichage à l'écran (16:9)</PresentationFormat>
  <Paragraphs>352</Paragraphs>
  <Slides>19</Slides>
  <Notes>19</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19</vt:i4>
      </vt:variant>
    </vt:vector>
  </HeadingPairs>
  <TitlesOfParts>
    <vt:vector size="28" baseType="lpstr">
      <vt:lpstr>Open Sans</vt:lpstr>
      <vt:lpstr>Syne Medium</vt:lpstr>
      <vt:lpstr>Calibri</vt:lpstr>
      <vt:lpstr>Roboto Black</vt:lpstr>
      <vt:lpstr>Montserrat</vt:lpstr>
      <vt:lpstr>Arial</vt:lpstr>
      <vt:lpstr>Open Sans Light</vt:lpstr>
      <vt:lpstr>Syne</vt:lpstr>
      <vt:lpstr>1_Simple Light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CHAPPE Thierry</cp:lastModifiedBy>
  <cp:revision>1</cp:revision>
  <dcterms:modified xsi:type="dcterms:W3CDTF">2026-09-09T15:56:26Z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0x010100D186EE758CFC1842B285249C0620D97E</vt:lpwstr>
  </property>
</Properties>
</file>