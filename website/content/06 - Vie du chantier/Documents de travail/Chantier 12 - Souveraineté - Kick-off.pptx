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embeddedFontLst>
    <p:embeddedFont>
      <p:font typeface="Montserrat" pitchFamily="2" charset="77"/>
      <p:regular r:id="rId42"/>
      <p:bold r:id="rId43"/>
      <p:italic r:id="rId44"/>
      <p:boldItalic r:id="rId45"/>
    </p:embeddedFont>
    <p:embeddedFont>
      <p:font typeface="Open Sans" pitchFamily="2" charset="0"/>
      <p:regular r:id="rId46"/>
      <p:bold r:id="rId47"/>
      <p:italic r:id="rId48"/>
      <p:boldItalic r:id="rId49"/>
    </p:embeddedFont>
    <p:embeddedFont>
      <p:font typeface="Open Sans Light" pitchFamily="2" charset="0"/>
      <p:regular r:id="rId50"/>
      <p:bold r:id="rId51"/>
      <p:italic r:id="rId52"/>
      <p:boldItalic r:id="rId53"/>
    </p:embeddedFont>
    <p:embeddedFont>
      <p:font typeface="Sora" pitchFamily="2" charset="0"/>
      <p:regular r:id="rId54"/>
      <p:bold r:id="rId55"/>
    </p:embeddedFont>
    <p:embeddedFont>
      <p:font typeface="Syne" pitchFamily="2" charset="77"/>
      <p:regular r:id="rId56"/>
      <p:bold r:id="rId57"/>
    </p:embeddedFont>
    <p:embeddedFont>
      <p:font typeface="Syne Medium" pitchFamily="2" charset="77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presProps" Target="presProps.xml"/><Relationship Id="rId65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9cbc8e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cc9cbc8e97_0_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9cbc8e9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cc9cbc8e97_0_56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9cbc8e97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cc9cbc8e97_0_11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5be8584f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5be8584f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4c125e05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4c125e05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ce2a78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e8ce2a78db_0_0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d0f140831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d0f140831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Hardware: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serveurs, équipements réseau, postes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Software: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OS, bases de données, applications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Données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Services numériques : </a:t>
            </a:r>
            <a:r>
              <a:rPr lang="en" sz="13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cloud, SaaS, plateformes</a:t>
            </a: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Char char="-"/>
            </a:pPr>
            <a:r>
              <a:rPr lang="en" sz="13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Compétences humaines</a:t>
            </a:r>
            <a:endParaRPr sz="1300" b="1">
              <a:solidFill>
                <a:srgbClr val="595959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df6897a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df6897a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 souveraineté numérique </a:t>
            </a: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n’est pas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l’autarcie technologique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rejet des acteurs privés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refus de l’innovation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une préférence nationale automatique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C’est un équilibre de choix  </a:t>
            </a: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de décision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stratégique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réduire la dépendance aux fournisseurs étrangers (AWS, Google Cloud, Azure)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Continuité des services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éviter interruptions massives en cas de panne ou cyberattaque</a:t>
            </a:r>
            <a:b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</a:b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Souveraineté économique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contrôle local sur les données et infrastructures pour les décisions critiques</a:t>
            </a:r>
            <a:endParaRPr sz="1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5be8584fb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5be8584fb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: https://www.sciencespo.fr/public/chaire-numerique/dossiers-de-recherche/cloud-souverain/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d4c125e05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d4c125e05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76bf207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a76bf207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8ce2a78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e8ce2a78db_0_6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d4c125e0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d4c125e0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9cbc8e97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9cbc8e97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5be8584f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5be8584fb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On s’intéresse à l’impact de nos infrastrucrures mais cela soulève la question de la vulnérabilité de nos infrastructures et de leur résilience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Flambées des prix  (matières premières, composants, services…)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Risques de pénuries ou de rupture de continuité de services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-"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Tensions géopolitiques et problématiques de souveraineté économique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Dépendances et vulnérabilités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Tensions géopolitiques ( terres-rares, semi-conducteurs… )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Tensions sur les matières premières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Accroissement de la demande</a:t>
            </a: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rgbClr val="2021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28575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2021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Puissance numérique déterminant de la puissance internationale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4c125e05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ed4c125e05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d0f14083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d0f140831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0f140831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d0f140831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4c125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d4c125e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86e0dad5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86e0dad5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d0f14083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d0f14083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d0f140831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d0f140831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5be8584f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95be8584f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c9cbc8e97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291" y="685838"/>
            <a:ext cx="6675600" cy="3429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cc9cbc8e97_0_165:notes"/>
          <p:cNvSpPr txBox="1">
            <a:spLocks noGrp="1"/>
          </p:cNvSpPr>
          <p:nvPr>
            <p:ph type="body" idx="1"/>
          </p:nvPr>
        </p:nvSpPr>
        <p:spPr>
          <a:xfrm>
            <a:off x="685801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5be8584f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5be8584f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5be8584fb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5be8584fb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5be8584fb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5be8584fb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5be8584fb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5be8584fb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5be8584fb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5be8584fb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5be8584fb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5be8584fb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d4c125e05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ed4c125e05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d4c125e0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ed4c125e0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d4c125e05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3ed4c125e05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d4c125e05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ed4c125e05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d4c125e05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d4c125e05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d4c125e0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d4c125e0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d4c125e0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d4c125e0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d4c125e05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3ed4c125e05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d4c125e05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3ed4c125e05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 rencontrer autour d’un sujet commun, créer du lien, former un réseau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Présenter l’avancement des différents groupes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Échanger avec les groupes de travail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457200" lvl="0" indent="-3175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❖"/>
            </a:pPr>
            <a:r>
              <a:rPr lang="en" sz="14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Repartir avec des idées et des actions concrètes</a:t>
            </a:r>
            <a:endParaRPr sz="14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6200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 rot="-5400000">
            <a:off x="7856120" y="118875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 rot="-5400000">
            <a:off x="7882820" y="2990910"/>
            <a:ext cx="177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>
            <a:spLocks noGrp="1"/>
          </p:cNvSpPr>
          <p:nvPr>
            <p:ph type="sldNum" idx="12"/>
          </p:nvPr>
        </p:nvSpPr>
        <p:spPr>
          <a:xfrm>
            <a:off x="8531788" y="4236720"/>
            <a:ext cx="548700" cy="297300"/>
          </a:xfrm>
          <a:prstGeom prst="bracketPair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-master">
  <p:cSld name="DEFAULT-mast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>
  <p:cSld name="2_Diapositive de titre 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457200" y="4767263"/>
            <a:ext cx="680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0" y="1338738"/>
            <a:ext cx="4507200" cy="2690400"/>
          </a:xfrm>
          <a:prstGeom prst="rect">
            <a:avLst/>
          </a:prstGeom>
          <a:gradFill>
            <a:gsLst>
              <a:gs pos="0">
                <a:schemeClr val="accent1"/>
              </a:gs>
              <a:gs pos="77600">
                <a:srgbClr val="C8C6F0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843463" y="1299320"/>
            <a:ext cx="39768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1800"/>
            </a:lvl1pPr>
            <a:lvl2pPr marL="91440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marL="1371600" lvl="2" indent="-3429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/>
            </a:lvl3pPr>
            <a:lvl4pPr marL="182880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447625" y="566006"/>
            <a:ext cx="79728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0BE"/>
              </a:buClr>
              <a:buSzPts val="3300"/>
              <a:buFont typeface="Syne"/>
              <a:buNone/>
              <a:defRPr sz="3300">
                <a:solidFill>
                  <a:srgbClr val="0A00BE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yne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4">
          <p15:clr>
            <a:srgbClr val="FBAE40"/>
          </p15:clr>
        </p15:guide>
        <p15:guide id="2" pos="2880">
          <p15:clr>
            <a:srgbClr val="FBAE40"/>
          </p15:clr>
        </p15:guide>
        <p15:guide id="3" pos="21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506107" y="2061175"/>
            <a:ext cx="41613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rgbClr val="1200C5"/>
                </a:solidFill>
                <a:latin typeface="Syne"/>
                <a:ea typeface="Syne"/>
                <a:cs typeface="Syne"/>
                <a:sym typeface="Syne"/>
              </a:rPr>
              <a:t>Souveraineté numérique régionale</a:t>
            </a:r>
            <a:endParaRPr sz="2000" b="1" i="0" u="none" strike="noStrike" cap="none">
              <a:solidFill>
                <a:srgbClr val="1200C5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Kick-off</a:t>
            </a:r>
            <a:endParaRPr sz="18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9 juin 2026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25" y="320200"/>
            <a:ext cx="1782450" cy="8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0330" y="1198950"/>
            <a:ext cx="5120700" cy="2745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893125" y="516500"/>
            <a:ext cx="5384400" cy="24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Agenda</a:t>
            </a:r>
            <a:r>
              <a:rPr lang="en" sz="24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Contexte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Réstitution du Field-Study SOLVAY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yne"/>
              <a:buChar char="❖"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Lancement du Groupe de Travail 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2550" y="1597675"/>
            <a:ext cx="1259950" cy="21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947500" y="2205400"/>
            <a:ext cx="553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Contexte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521200" y="1002725"/>
            <a:ext cx="4372200" cy="3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 souveraineté numérique est devenue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un enjeu central pour les administrations publiques européennes.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Dépendance forte</a:t>
            </a:r>
            <a:r>
              <a:rPr lang="en" sz="1050">
                <a:solidFill>
                  <a:schemeClr val="dk1"/>
                </a:solidFill>
              </a:rPr>
              <a:t> : principaux fournisseurs de services numériques critiques (cloud, suites collaboratives, plateformes, cybersécurité, IA) majoritairement non européens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just" rtl="0"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 conceptions de la souveraineté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(USA : </a:t>
            </a:r>
            <a:r>
              <a:rPr lang="en" sz="1050">
                <a:solidFill>
                  <a:schemeClr val="dk1"/>
                </a:solidFill>
              </a:rPr>
              <a:t>vision extraterritoriale + protection des intérêts stratégiques /UE : vision territoriale + protection des droits individuels)</a:t>
            </a:r>
            <a:endParaRPr sz="1050">
              <a:solidFill>
                <a:schemeClr val="dk1"/>
              </a:solidFill>
            </a:endParaRPr>
          </a:p>
          <a:p>
            <a:pPr marL="457200" lvl="0" indent="-304800" algn="just" rtl="0">
              <a:lnSpc>
                <a:spcPct val="11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Redéfinition des équilibres mondiaux et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instabilité géopolitique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&gt;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vulnérabilité 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(en termes stratégiques, économiques, techniques, démocratiques…)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676" y="0"/>
            <a:ext cx="3316326" cy="221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27675" y="1852350"/>
            <a:ext cx="3316326" cy="158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675" y="3278074"/>
            <a:ext cx="3316326" cy="18654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384450" y="273625"/>
            <a:ext cx="531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Une prise de conscience récente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584100" y="273625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Un nouveau chantier pour les administrations régionales</a:t>
            </a:r>
            <a:endParaRPr sz="16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grpSp>
        <p:nvGrpSpPr>
          <p:cNvPr id="96" name="Google Shape;96;p20"/>
          <p:cNvGrpSpPr/>
          <p:nvPr/>
        </p:nvGrpSpPr>
        <p:grpSpPr>
          <a:xfrm>
            <a:off x="4572000" y="2060266"/>
            <a:ext cx="4320951" cy="1301017"/>
            <a:chOff x="681811" y="4037756"/>
            <a:chExt cx="7575300" cy="2662200"/>
          </a:xfrm>
        </p:grpSpPr>
        <p:sp>
          <p:nvSpPr>
            <p:cNvPr id="97" name="Google Shape;97;p20"/>
            <p:cNvSpPr/>
            <p:nvPr/>
          </p:nvSpPr>
          <p:spPr>
            <a:xfrm>
              <a:off x="681811" y="4037756"/>
              <a:ext cx="7575300" cy="26622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54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2150" tIns="52150" rIns="52150" bIns="52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99"/>
            </a:p>
          </p:txBody>
        </p:sp>
        <p:sp>
          <p:nvSpPr>
            <p:cNvPr id="98" name="Google Shape;98;p20"/>
            <p:cNvSpPr txBox="1"/>
            <p:nvPr/>
          </p:nvSpPr>
          <p:spPr>
            <a:xfrm>
              <a:off x="787000" y="4053333"/>
              <a:ext cx="7315200" cy="225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150" tIns="52150" rIns="52150" bIns="52150" anchor="t" anchorCtr="0">
              <a:noAutofit/>
            </a:bodyPr>
            <a:lstStyle/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142" b="1">
                  <a:solidFill>
                    <a:srgbClr val="00B050"/>
                  </a:solidFill>
                  <a:latin typeface="Syne"/>
                  <a:ea typeface="Syne"/>
                  <a:cs typeface="Syne"/>
                  <a:sym typeface="Syne"/>
                </a:rPr>
                <a:t>Chantier 3 : Souveraineté de la région</a:t>
              </a:r>
              <a:endParaRPr sz="1142" b="1">
                <a:solidFill>
                  <a:srgbClr val="00B050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rgbClr val="1F2937"/>
                  </a:solidFill>
                  <a:latin typeface="Syne"/>
                  <a:ea typeface="Syne"/>
                  <a:cs typeface="Syne"/>
                  <a:sym typeface="Syne"/>
                </a:rPr>
                <a:t>Délivrer une étude des risques liés à la dépendance technologique hors Europe et des scénarios alternatifs pour mitiger</a:t>
              </a:r>
              <a:endParaRPr sz="1042">
                <a:solidFill>
                  <a:srgbClr val="1F2937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chemeClr val="dk1"/>
                  </a:solidFill>
                  <a:latin typeface="Syne"/>
                  <a:ea typeface="Syne"/>
                  <a:cs typeface="Syne"/>
                  <a:sym typeface="Syne"/>
                </a:rPr>
                <a:t>Renforcement de la résilience face aux risques géopolitiques, cyber et contractuels.</a:t>
              </a:r>
              <a:endParaRPr sz="1042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10143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8"/>
                <a:buFont typeface="Arial"/>
                <a:buNone/>
              </a:pPr>
              <a:r>
                <a:rPr lang="en" sz="1042">
                  <a:solidFill>
                    <a:schemeClr val="dk1"/>
                  </a:solidFill>
                  <a:latin typeface="Syne"/>
                  <a:ea typeface="Syne"/>
                  <a:cs typeface="Syne"/>
                  <a:sym typeface="Syne"/>
                </a:rPr>
                <a:t>Capacité à prendre des décisions technologiques autonomes.</a:t>
              </a:r>
              <a:endParaRPr sz="1042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99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"/>
              </a:endParaRPr>
            </a:p>
            <a:p>
              <a:pPr marL="260819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99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"/>
              </a:endParaRPr>
            </a:p>
          </p:txBody>
        </p:sp>
      </p:grpSp>
      <p:sp>
        <p:nvSpPr>
          <p:cNvPr id="99" name="Google Shape;99;p20"/>
          <p:cNvSpPr txBox="1"/>
          <p:nvPr/>
        </p:nvSpPr>
        <p:spPr>
          <a:xfrm>
            <a:off x="568750" y="1192850"/>
            <a:ext cx="3408300" cy="30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Consciente des ces enjeux stratégiques, Paradigm a inscrit la souveraineté numérique parmi les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chantiers prioritaires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fait partie de l’axe stratégique 3 sur la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résilience numérique</a:t>
            </a:r>
            <a:endParaRPr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 département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DT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(Digital Transformation), </a:t>
            </a: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est en charge de cette question.</a:t>
            </a:r>
            <a:endParaRPr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88" y="1474200"/>
            <a:ext cx="3829175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888250"/>
            <a:ext cx="2886969" cy="40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694425"/>
            <a:ext cx="4320952" cy="115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947500" y="2205400"/>
            <a:ext cx="5536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Restitution du Field-Study SOLVAY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358400" y="352075"/>
            <a:ext cx="5126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Définir la souveraineté numérique</a:t>
            </a:r>
            <a:endParaRPr sz="1600" b="1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453275" y="969950"/>
            <a:ext cx="4766400" cy="3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 souveraineté numérique désigne la </a:t>
            </a:r>
            <a:r>
              <a:rPr lang="en" b="1">
                <a:solidFill>
                  <a:schemeClr val="accent2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décider, opérer et sécuriser</a:t>
            </a: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ses services numériques sans dépendance critique non maîtrisée ni ingérence externe.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Elle concerne 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l’ensemble des éléments 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qui rendent possible un service numérique :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Données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Infrastructures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Logiciels et services</a:t>
            </a:r>
            <a:endParaRPr>
              <a:solidFill>
                <a:schemeClr val="accent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-"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Compétences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Reconnaître le caractère aujourd’hui </a:t>
            </a:r>
            <a:r>
              <a:rPr lang="en" b="1">
                <a:solidFill>
                  <a:schemeClr val="accent2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vital et stratégique</a:t>
            </a:r>
            <a:r>
              <a:rPr lang="en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du numérique.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76590" y="0"/>
            <a:ext cx="34674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6877325" y="792600"/>
            <a:ext cx="1985700" cy="4112700"/>
          </a:xfrm>
          <a:prstGeom prst="roundRect">
            <a:avLst>
              <a:gd name="adj" fmla="val 3497"/>
            </a:avLst>
          </a:prstGeom>
          <a:solidFill>
            <a:srgbClr val="F3F3F3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6877325" y="347600"/>
            <a:ext cx="1985700" cy="3147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621775" y="3632100"/>
            <a:ext cx="5668500" cy="1273200"/>
          </a:xfrm>
          <a:prstGeom prst="roundRect">
            <a:avLst>
              <a:gd name="adj" fmla="val 8243"/>
            </a:avLst>
          </a:prstGeom>
          <a:solidFill>
            <a:srgbClr val="FFF2CC">
              <a:alpha val="10760"/>
            </a:srgbClr>
          </a:solidFill>
          <a:ln w="9525" cap="flat" cmpd="sng">
            <a:solidFill>
              <a:srgbClr val="F9CB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384450" y="273625"/>
            <a:ext cx="52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Les 3 piliers de la souveraineté numérique</a:t>
            </a:r>
            <a:endParaRPr sz="1600" b="1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1619425" y="842250"/>
            <a:ext cx="3797700" cy="9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Souveraineté opérationnelle</a:t>
            </a:r>
            <a:r>
              <a:rPr lang="en" sz="8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 </a:t>
            </a:r>
            <a:endParaRPr sz="800" i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exploiter et maintenir les systèmes critiques sans dépendance excessive à des tiers</a:t>
            </a:r>
            <a:endParaRPr sz="1000" i="1">
              <a:solidFill>
                <a:srgbClr val="38761D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Administration, maintenance et support maîtrisés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Accès direct aux systèmes en cas de crise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 Continuité de service 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1677868" y="3713528"/>
            <a:ext cx="4612500" cy="11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Souveraineté des données</a:t>
            </a:r>
            <a:endParaRPr sz="800" b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contrôler le cycle de vie des données </a:t>
            </a:r>
            <a:r>
              <a:rPr lang="en" sz="8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(collecte, traitement, stockage, accès)</a:t>
            </a:r>
            <a:r>
              <a:rPr lang="en" sz="7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.</a:t>
            </a:r>
            <a:endParaRPr sz="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Applications des règles territoriales européennes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Maîtrise des lieux d’hébergement et des conditions d’accès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Possibilité de transférer ou rapatrier les données sans contrainte excessive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688625" y="2257100"/>
            <a:ext cx="4875900" cy="1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Souverainté technique</a:t>
            </a:r>
            <a:r>
              <a:rPr lang="en" sz="800" i="1">
                <a:solidFill>
                  <a:srgbClr val="0E0E0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 </a:t>
            </a:r>
            <a:endParaRPr sz="800" b="1">
              <a:solidFill>
                <a:srgbClr val="0E0E0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à choisir, comprendre et faire évoluer les technologies utilisées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Technologies reposant sur des standards ouverts ou maîtrisés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Absence de dépendance irréversible à un fournisseur unique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⇻ Capacité à auditer, sécuriser et remplacer les composants critiques</a:t>
            </a:r>
            <a:endParaRPr sz="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E0E0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303" y="1109086"/>
            <a:ext cx="720576" cy="57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975" y="2508050"/>
            <a:ext cx="671726" cy="6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125" y="3933675"/>
            <a:ext cx="575425" cy="5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621775" y="792600"/>
            <a:ext cx="5668500" cy="1330200"/>
          </a:xfrm>
          <a:prstGeom prst="roundRect">
            <a:avLst>
              <a:gd name="adj" fmla="val 8243"/>
            </a:avLst>
          </a:prstGeom>
          <a:solidFill>
            <a:srgbClr val="053574">
              <a:alpha val="7590"/>
            </a:srgbClr>
          </a:solidFill>
          <a:ln w="9525" cap="flat" cmpd="sng">
            <a:solidFill>
              <a:srgbClr val="0535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621775" y="2254925"/>
            <a:ext cx="5668500" cy="1215300"/>
          </a:xfrm>
          <a:prstGeom prst="roundRect">
            <a:avLst>
              <a:gd name="adj" fmla="val 8243"/>
            </a:avLst>
          </a:prstGeom>
          <a:solidFill>
            <a:srgbClr val="EAD1DC">
              <a:alpha val="8230"/>
            </a:srgbClr>
          </a:solidFill>
          <a:ln w="9525" cap="flat" cmpd="sng">
            <a:solidFill>
              <a:srgbClr val="EAD1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6950032" y="1086000"/>
            <a:ext cx="18402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d’action et résilience</a:t>
            </a:r>
            <a:endParaRPr sz="1000"/>
          </a:p>
        </p:txBody>
      </p:sp>
      <p:sp>
        <p:nvSpPr>
          <p:cNvPr id="134" name="Google Shape;134;p23"/>
          <p:cNvSpPr txBox="1"/>
          <p:nvPr/>
        </p:nvSpPr>
        <p:spPr>
          <a:xfrm>
            <a:off x="6990275" y="308275"/>
            <a:ext cx="15741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666666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Enjeux</a:t>
            </a:r>
            <a:endParaRPr sz="1300" b="1">
              <a:solidFill>
                <a:srgbClr val="666666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6958232" y="2639738"/>
            <a:ext cx="18402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Liberté de choix à long terme</a:t>
            </a:r>
            <a:endParaRPr sz="1000"/>
          </a:p>
        </p:txBody>
      </p:sp>
      <p:sp>
        <p:nvSpPr>
          <p:cNvPr id="136" name="Google Shape;136;p23"/>
          <p:cNvSpPr txBox="1"/>
          <p:nvPr/>
        </p:nvSpPr>
        <p:spPr>
          <a:xfrm>
            <a:off x="6950032" y="3933675"/>
            <a:ext cx="1840200" cy="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Maîtrise juridique et stratégique des données</a:t>
            </a:r>
            <a:endParaRPr sz="10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466738" y="1320138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6455163" y="2785913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6466738" y="4191413"/>
            <a:ext cx="290700" cy="153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406147"/>
            <a:ext cx="1853515" cy="440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640175" y="129303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Souveraineté défaillante : quels risques ?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2113363" y="812181"/>
            <a:ext cx="49332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B5394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stratégiques </a:t>
            </a:r>
            <a:endParaRPr sz="1100" b="1">
              <a:solidFill>
                <a:srgbClr val="0B5394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Autonomie de décision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menacée par des pressions politiques ou  des sanctions commerciales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Sécurité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: protection des infrastructures  et activités critiques contre des menaces (cyberattaques)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Approvisionnement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ressources critiques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429968" y="1678825"/>
            <a:ext cx="41835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BF9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économiques </a:t>
            </a:r>
            <a:endParaRPr sz="1100" b="1">
              <a:solidFill>
                <a:srgbClr val="BF9000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Hausse imprévisible des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coûts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(cloud, licences, SaaS)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Verrouillage technologique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(vendor lock‑in)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Faible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capacité de renégociation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429968" y="2688325"/>
            <a:ext cx="45309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8761D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juridiques et institutionnels </a:t>
            </a:r>
            <a:endParaRPr sz="1100" b="1">
              <a:solidFill>
                <a:srgbClr val="38761D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Non protection des citoyens contre l’application de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cadres juridiques extra territoriaux </a:t>
            </a: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Perte de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maîtrise sur les données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sensibles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2306543" y="3517838"/>
            <a:ext cx="45309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741B47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de continuité de services publics essentiels</a:t>
            </a:r>
            <a:endParaRPr sz="1100" b="1">
              <a:solidFill>
                <a:srgbClr val="741B47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Dépendance à des fournisseurs 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critiques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Effets de cascade en cas d’incident, </a:t>
            </a:r>
            <a:r>
              <a:rPr lang="en" sz="8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difficulté à intervenir ou arbitrer</a:t>
            </a:r>
            <a:r>
              <a:rPr lang="en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situation de crise 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2841024" y="4529875"/>
            <a:ext cx="457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… Mais aussi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risques démocratiques</a:t>
            </a: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 culturels  et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politiques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Field study SOLVAY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300" y="2682800"/>
            <a:ext cx="3846700" cy="24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1051" y="219600"/>
            <a:ext cx="589500" cy="5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579625" y="1335625"/>
            <a:ext cx="3563700" cy="30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Open Sans Light"/>
                <a:ea typeface="Open Sans Light"/>
                <a:cs typeface="Open Sans Light"/>
                <a:sym typeface="Open Sans"/>
              </a:rPr>
              <a:t>5 étudiants de la Solvay Business School travaillent depuis mars 2026  sur la thématique de la souveraineté régionale.</a:t>
            </a: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Énoncé initial de la mission</a:t>
            </a:r>
            <a:endParaRPr sz="16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“Le datacenter régional comme levier stratégique de souveraineté numérique”</a:t>
            </a:r>
            <a:endParaRPr sz="1300" b="1" i="1">
              <a:solidFill>
                <a:srgbClr val="0B539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1">
              <a:solidFill>
                <a:srgbClr val="0B5394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7300" y="0"/>
            <a:ext cx="3846699" cy="268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Field study SOLVAY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50" y="1517289"/>
            <a:ext cx="1111200" cy="1176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4180" y="1466868"/>
            <a:ext cx="1189800" cy="121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1119" y="1489622"/>
            <a:ext cx="1189800" cy="1176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9859" y="1522934"/>
            <a:ext cx="1156800" cy="1144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9278" y="1466878"/>
            <a:ext cx="1217700" cy="121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618175" y="3064300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Marine LERAT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284175" y="3064300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Dorian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MARGJINI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3803675" y="3064325"/>
            <a:ext cx="13911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Rose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VAN DEN ENDE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544050" y="3104425"/>
            <a:ext cx="12699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Emilia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RASZKIEWICZ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7335975" y="3104425"/>
            <a:ext cx="10443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Nada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NASRAOUI </a:t>
            </a:r>
            <a:endParaRPr sz="12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3676" y="298800"/>
            <a:ext cx="589500" cy="5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947500" y="2205400"/>
            <a:ext cx="5536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Lancement du Groupe de Travail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On ne part pas de rien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607800" y="1370200"/>
            <a:ext cx="2647500" cy="22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Travail des étudiants Solvay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Bibliographie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Benchmark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Matrice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❖"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Rapport d’étude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1574" y="273600"/>
            <a:ext cx="782150" cy="7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5775" y="273600"/>
            <a:ext cx="1893901" cy="19924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7505" y="1658962"/>
            <a:ext cx="3120845" cy="18255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4148" y="1964600"/>
            <a:ext cx="2004500" cy="26630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0400" y="3629806"/>
            <a:ext cx="2737938" cy="143714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530400" y="378000"/>
            <a:ext cx="775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Un sujet exploré par le Numérique Responsable 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587350" y="1408250"/>
            <a:ext cx="3513300" cy="25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Souveraineté et résilience des infrastructures numériques </a:t>
            </a: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sont des thèmes explorés depuis plus d’un an par l’écosystème Numérique Responsable.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900" y="1160948"/>
            <a:ext cx="3374448" cy="359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234950" y="275375"/>
            <a:ext cx="413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Enjeux de résilience des infrastructures numériques</a:t>
            </a:r>
            <a:endParaRPr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4693125" y="2998600"/>
            <a:ext cx="3149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Tensions géopolitiques</a:t>
            </a:r>
            <a:endParaRPr sz="1300" b="1"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768850" y="992175"/>
            <a:ext cx="295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Changement climatique</a:t>
            </a:r>
            <a:endParaRPr sz="1300" b="1"/>
          </a:p>
        </p:txBody>
      </p:sp>
      <p:sp>
        <p:nvSpPr>
          <p:cNvPr id="208" name="Google Shape;208;p30"/>
          <p:cNvSpPr txBox="1"/>
          <p:nvPr/>
        </p:nvSpPr>
        <p:spPr>
          <a:xfrm>
            <a:off x="234950" y="992175"/>
            <a:ext cx="374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Accès aux ressources minières critiques</a:t>
            </a:r>
            <a:endParaRPr sz="1300" b="1"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127000" y="2998600"/>
            <a:ext cx="295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Open Sans ExtraBold"/>
                <a:ea typeface="Open Sans ExtraBold"/>
                <a:cs typeface="Open Sans ExtraBold"/>
                <a:sym typeface="Open Sans"/>
              </a:rPr>
              <a:t>Approvisionnement énergétique</a:t>
            </a:r>
            <a:endParaRPr sz="1300" b="1"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988" y="1423274"/>
            <a:ext cx="4237821" cy="134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000" y="3482975"/>
            <a:ext cx="4237802" cy="134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39150" y="1411899"/>
            <a:ext cx="4237799" cy="13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9150" y="3527805"/>
            <a:ext cx="4017124" cy="1410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4687175" y="298225"/>
            <a:ext cx="3540600" cy="44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242424"/>
                </a:solidFill>
                <a:highlight>
                  <a:schemeClr val="lt1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2026</a:t>
            </a:r>
            <a:endParaRPr sz="1350" b="1">
              <a:solidFill>
                <a:srgbClr val="242424"/>
              </a:solidFill>
              <a:highlight>
                <a:schemeClr val="lt1"/>
              </a:highlight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15 janvier</a:t>
            </a:r>
            <a:r>
              <a:rPr lang="en" sz="1350">
                <a:solidFill>
                  <a:srgbClr val="242424"/>
                </a:solidFill>
                <a:highlight>
                  <a:srgbClr val="CCCCCC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Mardi 10 mars</a:t>
            </a:r>
            <a:r>
              <a:rPr lang="en" sz="1350">
                <a:solidFill>
                  <a:schemeClr val="lt1"/>
                </a:solidFill>
                <a:highlight>
                  <a:srgbClr val="CCCCCC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 9h - 12h30 </a:t>
            </a:r>
            <a:endParaRPr sz="10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Mardi 24 mars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9 avril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CCCCCC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28 mai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25 juin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24 septembre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15 octobre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19 novembre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chemeClr val="lt1"/>
                </a:solidFill>
                <a:highlight>
                  <a:srgbClr val="1200C5"/>
                </a:highlight>
                <a:latin typeface="Open Sans ExtraBold"/>
                <a:ea typeface="Open Sans ExtraBold"/>
                <a:cs typeface="Open Sans ExtraBold"/>
                <a:sym typeface="Open Sans"/>
              </a:rPr>
              <a:t>Jeudi 17 decembre</a:t>
            </a:r>
            <a:r>
              <a:rPr lang="en" sz="1350">
                <a:solidFill>
                  <a:srgbClr val="242424"/>
                </a:solidFill>
                <a:highlight>
                  <a:schemeClr val="lt1"/>
                </a:highlight>
                <a:latin typeface="Open Sans Light"/>
                <a:ea typeface="Open Sans Light"/>
                <a:cs typeface="Open Sans Light"/>
                <a:sym typeface="Open Sans"/>
              </a:rPr>
              <a:t>, 9h - 12h30</a:t>
            </a:r>
            <a:endParaRPr sz="1350">
              <a:solidFill>
                <a:srgbClr val="242424"/>
              </a:solidFill>
              <a:highlight>
                <a:schemeClr val="lt1"/>
              </a:highlight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464275" y="342325"/>
            <a:ext cx="3687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Formation 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464275" y="1112675"/>
            <a:ext cx="30000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200C5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Introduction au Numérique Responsable </a:t>
            </a:r>
            <a:r>
              <a:rPr lang="en" sz="1200">
                <a:solidFill>
                  <a:srgbClr val="0B5394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(3h30)</a:t>
            </a:r>
            <a:endParaRPr sz="1200">
              <a:solidFill>
                <a:srgbClr val="0B5394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375" y="2119488"/>
            <a:ext cx="2894600" cy="26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/>
        </p:nvSpPr>
        <p:spPr>
          <a:xfrm>
            <a:off x="384450" y="273625"/>
            <a:ext cx="5251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Collaboration au GT souveraineté &amp; résilience de l’ISIT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698" y="0"/>
            <a:ext cx="3361299" cy="21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82700" y="1661949"/>
            <a:ext cx="3361300" cy="1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700" y="3313775"/>
            <a:ext cx="1598103" cy="18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7638" y="3323900"/>
            <a:ext cx="1766362" cy="18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 txBox="1"/>
          <p:nvPr/>
        </p:nvSpPr>
        <p:spPr>
          <a:xfrm>
            <a:off x="384450" y="1495775"/>
            <a:ext cx="44034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Initiative lancée par l’ISIT mi-2025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 workshops chez Paradigm (juillet et sep 2025)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9 organisations (Infrabel, Paradigm, ULB, Alpha Credit, Federale Assurance, i-City, Elia, Dimeritium, ISIT)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15 participants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/>
        </p:nvSpPr>
        <p:spPr>
          <a:xfrm>
            <a:off x="384450" y="273625"/>
            <a:ext cx="4254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Collaboration au 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GT Souveraineté de l’INR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500" y="215075"/>
            <a:ext cx="4134699" cy="230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500" y="2688350"/>
            <a:ext cx="4062799" cy="225587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475400" y="1301925"/>
            <a:ext cx="4403400" cy="2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Groupe de Travail lancé par l’Institut du Numérique Responsable en février 2026 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 pays: France, Belgique, Suisse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+50 organisations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73 participants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52" y="653375"/>
            <a:ext cx="3631677" cy="17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50" y="273628"/>
            <a:ext cx="3631676" cy="614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9500" y="1288066"/>
            <a:ext cx="3631677" cy="207475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384450" y="273625"/>
            <a:ext cx="425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Salons &amp; conférences</a:t>
            </a:r>
            <a:endParaRPr sz="1600" b="1">
              <a:solidFill>
                <a:srgbClr val="0A00BE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60125" y="1452950"/>
            <a:ext cx="26241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Les premiers salons et évènements sur la thématique de la souveraineté numérique commencent à émerger en 2026</a:t>
            </a:r>
            <a:endParaRPr sz="15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49" name="Google Shape;249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7350" y="2621775"/>
            <a:ext cx="3164422" cy="25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/>
        </p:nvSpPr>
        <p:spPr>
          <a:xfrm>
            <a:off x="384450" y="273625"/>
            <a:ext cx="7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Opportunités pour Paradigm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461900" y="849775"/>
            <a:ext cx="5100600" cy="3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La Région de Bruxelles-Capitale dispose de 3 leviers structurants pour renforcer sa maîtrise numérique.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un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datacenter régional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implanté sur le territoire et opéré par Paradigm, permettant d’héberger des services critiques sous gouvernance publique.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Irisnet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réseau régional sécurisé reliant les institutions bruxelloises et constituant l’infrastructure de connectivité stratégique de la Région.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yne"/>
              <a:buChar char="❖"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Paradigm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en tant qu’opérateur IT régional, joue un rôle central de coordination et d’alignement des choix numériques à l’échelle des administrations.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=&gt; Ces éléments constituent une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base concrète de souveraineté numérique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déjà existante. Ce sont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des atouts que Paradigm doit mettre en avant dans sa stratégie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30000" y="1314475"/>
            <a:ext cx="4523700" cy="22761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4900" y="4051575"/>
            <a:ext cx="1508842" cy="10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9875" y="4324150"/>
            <a:ext cx="963712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547750" y="334700"/>
            <a:ext cx="44712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Valorisation du DC régional</a:t>
            </a:r>
            <a:endParaRPr sz="16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5075" y="2965675"/>
            <a:ext cx="1046700" cy="105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/>
          <p:nvPr/>
        </p:nvSpPr>
        <p:spPr>
          <a:xfrm>
            <a:off x="547750" y="4277975"/>
            <a:ext cx="15888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Jean-Marc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De VRIESE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2807275" y="4277975"/>
            <a:ext cx="13623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Thierry </a:t>
            </a:r>
            <a:r>
              <a:rPr lang="en" sz="1100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DUPUIS</a:t>
            </a:r>
            <a:endParaRPr sz="1100"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9750" y="2539426"/>
            <a:ext cx="4172451" cy="260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1550" y="0"/>
            <a:ext cx="4172451" cy="277559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/>
        </p:nvSpPr>
        <p:spPr>
          <a:xfrm>
            <a:off x="571950" y="954175"/>
            <a:ext cx="3832200" cy="20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Depuis déc 2025, la cellule NR travaille avec l’équipe du DC pour organiser des visites du site de Sibelga. 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L’objectif est de faire connaître aux collaborateurs le DC et sa fonction clé pour Paradigm.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725" y="2965675"/>
            <a:ext cx="1046700" cy="1051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630077"/>
            <a:ext cx="4375749" cy="256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375749" cy="263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75750" y="2571750"/>
            <a:ext cx="4768249" cy="2623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75750" y="0"/>
            <a:ext cx="4768249" cy="2630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7"/>
          <p:cNvCxnSpPr/>
          <p:nvPr/>
        </p:nvCxnSpPr>
        <p:spPr>
          <a:xfrm>
            <a:off x="4384550" y="12150"/>
            <a:ext cx="0" cy="516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7"/>
          <p:cNvCxnSpPr/>
          <p:nvPr/>
        </p:nvCxnSpPr>
        <p:spPr>
          <a:xfrm>
            <a:off x="21475" y="2634100"/>
            <a:ext cx="9176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540812" y="266599"/>
            <a:ext cx="40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S’appuyer sur un réseau inter-administrations existant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86" name="Google Shape;286;p3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145550"/>
            <a:ext cx="3686052" cy="23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/>
        </p:nvSpPr>
        <p:spPr>
          <a:xfrm>
            <a:off x="540800" y="1068400"/>
            <a:ext cx="39120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Notre étude peut s’appuyer aussi sur une communauté existante et active: le réseau Numérique Responsable régional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2558775"/>
            <a:ext cx="1867752" cy="11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7900" y="3810000"/>
            <a:ext cx="1532550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6575" y="2517300"/>
            <a:ext cx="1693876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3810000"/>
            <a:ext cx="2011852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325" y="2310050"/>
            <a:ext cx="2570938" cy="20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0C5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/>
        </p:nvSpPr>
        <p:spPr>
          <a:xfrm>
            <a:off x="907975" y="2197500"/>
            <a:ext cx="553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Comment nous organiser ?</a:t>
            </a:r>
            <a:endParaRPr sz="2200" b="0" i="0" u="none" strike="noStrike" cap="none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98" name="Google Shape;298;p3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500" y="548750"/>
            <a:ext cx="1853149" cy="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6400" y="152400"/>
            <a:ext cx="198136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/>
          <p:nvPr/>
        </p:nvSpPr>
        <p:spPr>
          <a:xfrm>
            <a:off x="5239325" y="1689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511900" y="941450"/>
            <a:ext cx="4232100" cy="38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stratégies menées par d’autres entités publiques (EU, regions, métropoles…) 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07" name="Google Shape;307;p40"/>
          <p:cNvSpPr/>
          <p:nvPr/>
        </p:nvSpPr>
        <p:spPr>
          <a:xfrm>
            <a:off x="5869827" y="1221602"/>
            <a:ext cx="2684400" cy="26844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8" name="Google Shape;308;p40"/>
          <p:cNvSpPr txBox="1"/>
          <p:nvPr/>
        </p:nvSpPr>
        <p:spPr>
          <a:xfrm>
            <a:off x="6247625" y="1389925"/>
            <a:ext cx="1888200" cy="25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6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8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5</a:t>
            </a:r>
            <a:r>
              <a:rPr lang="en" sz="22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objectifs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/>
          <p:nvPr/>
        </p:nvSpPr>
        <p:spPr>
          <a:xfrm>
            <a:off x="393250" y="2349773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14" name="Google Shape;314;p41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16" name="Google Shape;316;p41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17" name="Google Shape;317;p41"/>
          <p:cNvSpPr txBox="1"/>
          <p:nvPr/>
        </p:nvSpPr>
        <p:spPr>
          <a:xfrm>
            <a:off x="5379150" y="735325"/>
            <a:ext cx="3538200" cy="3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Définir le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périmètre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de la souveraineté numérique à l’échelle régionale et ses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implications concrètes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Cartographier les principales dépendances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technologiques et évaluer leurs impacts.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Réaliser une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analyse de risques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à l’échelle de la Région et proposer un outil simple d’évaluation et de suivi.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/>
          <p:nvPr/>
        </p:nvSpPr>
        <p:spPr>
          <a:xfrm>
            <a:off x="393250" y="2773107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2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25" name="Google Shape;325;p42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26" name="Google Shape;326;p42"/>
          <p:cNvSpPr txBox="1"/>
          <p:nvPr/>
        </p:nvSpPr>
        <p:spPr>
          <a:xfrm>
            <a:off x="5436875" y="884375"/>
            <a:ext cx="35214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Réaliser un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benchmark des initiatives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comparables aux niveaux régional, fédéral et européen.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Établir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liens avec les groupes de travail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en cours.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Identifier les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opportunités de coopération,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de mutualisation et d’alignement stratégique.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/>
          <p:nvPr/>
        </p:nvSpPr>
        <p:spPr>
          <a:xfrm>
            <a:off x="393250" y="3206061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43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3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35" name="Google Shape;335;p43"/>
          <p:cNvSpPr txBox="1"/>
          <p:nvPr/>
        </p:nvSpPr>
        <p:spPr>
          <a:xfrm>
            <a:off x="5426225" y="1021650"/>
            <a:ext cx="3531000" cy="28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yne"/>
              <a:buChar char="❖"/>
            </a:pP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Cartographier les actifs et expertises existants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: infrastructures, compétences internes, dispositifs de gouvernance.</a:t>
            </a:r>
            <a:endParaRPr sz="1600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Les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valoriser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en interne et en externe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/>
          <p:nvPr/>
        </p:nvSpPr>
        <p:spPr>
          <a:xfrm>
            <a:off x="393250" y="3610152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43" name="Google Shape;343;p44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44" name="Google Shape;344;p44"/>
          <p:cNvSpPr txBox="1"/>
          <p:nvPr/>
        </p:nvSpPr>
        <p:spPr>
          <a:xfrm>
            <a:off x="5335325" y="807250"/>
            <a:ext cx="3574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Analyser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scénarios réalistes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(diversification des fournisseurs, relocalisation partielle, nouveaux choix technologiques…).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Évaluer leurs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impacts stratégiques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, opérationnels et financiers.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/>
          <p:nvPr/>
        </p:nvSpPr>
        <p:spPr>
          <a:xfrm>
            <a:off x="393250" y="4033486"/>
            <a:ext cx="4469400" cy="345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5239325" y="11300"/>
            <a:ext cx="3904800" cy="5143500"/>
          </a:xfrm>
          <a:prstGeom prst="rect">
            <a:avLst/>
          </a:prstGeom>
          <a:solidFill>
            <a:srgbClr val="134F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5"/>
          <p:cNvSpPr txBox="1"/>
          <p:nvPr/>
        </p:nvSpPr>
        <p:spPr>
          <a:xfrm>
            <a:off x="384450" y="273625"/>
            <a:ext cx="33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Objectifs</a:t>
            </a:r>
            <a:endParaRPr sz="1800" b="1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2" name="Google Shape;352;p45"/>
          <p:cNvSpPr txBox="1"/>
          <p:nvPr/>
        </p:nvSpPr>
        <p:spPr>
          <a:xfrm>
            <a:off x="511900" y="941450"/>
            <a:ext cx="4232100" cy="3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Ce chantier vise à doter la Région et Paradigm d’une vision stratégique structurée de la souveraineté numérique, ainsi que d’une feuille de route opérationnelle. Il s’articule autour de </a:t>
            </a: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cinq objectifs</a:t>
            </a:r>
            <a:r>
              <a:rPr lang="en" sz="12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intégrés :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just" rtl="0">
              <a:lnSpc>
                <a:spcPct val="11625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1. Établir un état des lieux structuré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2. Se positionner dans l’écosystème existant </a:t>
            </a:r>
            <a:endParaRPr sz="12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3. Identifier et valoriser les atouts régionaux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just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4. Explorer les scénarios et alternatives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171450" lvl="0" indent="0" algn="l" rtl="0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5. Proposer une trajectoire pragmatique</a:t>
            </a:r>
            <a:endParaRPr sz="1200" b="1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200"/>
              </a:spcAft>
              <a:buNone/>
            </a:pPr>
            <a:endParaRPr sz="1200"/>
          </a:p>
        </p:txBody>
      </p:sp>
      <p:sp>
        <p:nvSpPr>
          <p:cNvPr id="353" name="Google Shape;353;p45"/>
          <p:cNvSpPr txBox="1"/>
          <p:nvPr/>
        </p:nvSpPr>
        <p:spPr>
          <a:xfrm>
            <a:off x="5418725" y="735325"/>
            <a:ext cx="3546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Prioriser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actions concrètes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à court et moyen terme.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Identifier des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initiatives pilotes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 ou expérimentations.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Définir une f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euille de route progressive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yne"/>
              <a:buChar char="❖"/>
            </a:pP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Proposer un </a:t>
            </a:r>
            <a:r>
              <a:rPr lang="en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positionnement stratégique de Paradigm </a:t>
            </a:r>
            <a: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sur la souveraineté numérique.</a:t>
            </a:r>
            <a:endParaRPr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br>
              <a:rPr lang="en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/>
        </p:nvSpPr>
        <p:spPr>
          <a:xfrm>
            <a:off x="540812" y="266599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Les attentes du Pilier 1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9" name="Google Shape;359;p46"/>
          <p:cNvSpPr txBox="1"/>
          <p:nvPr/>
        </p:nvSpPr>
        <p:spPr>
          <a:xfrm>
            <a:off x="826900" y="1361450"/>
            <a:ext cx="44034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Le chantier 1 du Pilier 1 à aussi le sujet de la souveraineté en responsabilité: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Ils sont au courant de notre groupe, ils attendent des lignes directrices claires sur comment la souveraineté impact les principes d’architecture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765237" y="1798524"/>
            <a:ext cx="4044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24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Retour d’expérience des GTs Numérique Responsable</a:t>
            </a:r>
            <a:endParaRPr sz="24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365" name="Google Shape;365;p47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145550"/>
            <a:ext cx="3686052" cy="23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2558775"/>
            <a:ext cx="1867752" cy="11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7900" y="3810000"/>
            <a:ext cx="1532550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6575" y="2517300"/>
            <a:ext cx="1693876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7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0650" y="3810000"/>
            <a:ext cx="2011852" cy="120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407912" y="333024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La communauté NR de RBC</a:t>
            </a:r>
            <a:endParaRPr sz="1600" b="1" i="0" u="none" strike="noStrike" cap="none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75" name="Google Shape;375;p4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8602" y="145550"/>
            <a:ext cx="5238098" cy="23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8"/>
          <p:cNvSpPr txBox="1"/>
          <p:nvPr/>
        </p:nvSpPr>
        <p:spPr>
          <a:xfrm>
            <a:off x="407900" y="1326350"/>
            <a:ext cx="3159000" cy="3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Lancement en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octobre 2021</a:t>
            </a:r>
            <a:endParaRPr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5 groupes de travail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transdisciplinaires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en mode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agile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 et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collaboratif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.</a:t>
            </a: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15 administrations</a:t>
            </a:r>
            <a:endParaRPr b="1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Volonté de se positionner sur des </a:t>
            </a:r>
            <a:r>
              <a:rPr lang="en" b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réalisations concrètes</a:t>
            </a:r>
            <a:r>
              <a:rPr lang="en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"/>
              </a:rPr>
              <a:t>, venant du terrain, testées et qui ont un impact réel.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</p:txBody>
      </p:sp>
      <p:pic>
        <p:nvPicPr>
          <p:cNvPr id="377" name="Google Shape;377;p4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600" y="3810000"/>
            <a:ext cx="1867751" cy="120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8600" y="2513950"/>
            <a:ext cx="1867752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6275" y="2517300"/>
            <a:ext cx="1310027" cy="12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26225" y="2517300"/>
            <a:ext cx="1804224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8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6275" y="3810000"/>
            <a:ext cx="1654424" cy="12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0625" y="3811800"/>
            <a:ext cx="1459823" cy="120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49"/>
          <p:cNvGrpSpPr/>
          <p:nvPr/>
        </p:nvGrpSpPr>
        <p:grpSpPr>
          <a:xfrm>
            <a:off x="1748958" y="1727944"/>
            <a:ext cx="1661568" cy="1707760"/>
            <a:chOff x="5050213" y="1134350"/>
            <a:chExt cx="2576474" cy="2648100"/>
          </a:xfrm>
        </p:grpSpPr>
        <p:pic>
          <p:nvPicPr>
            <p:cNvPr id="388" name="Google Shape;388;p49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050213" y="1134350"/>
              <a:ext cx="2576474" cy="26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49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17575" y="2286150"/>
              <a:ext cx="641750" cy="344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0" name="Google Shape;390;p4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9549" y="883171"/>
            <a:ext cx="881490" cy="34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6504" y="3411704"/>
            <a:ext cx="1042248" cy="636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33" y="1896170"/>
            <a:ext cx="805897" cy="348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2953" y="4113829"/>
            <a:ext cx="631462" cy="34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00" y="1355875"/>
            <a:ext cx="750044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8313" y="2228438"/>
            <a:ext cx="103130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9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838" y="2889375"/>
            <a:ext cx="1031300" cy="51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9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2112" y="1138298"/>
            <a:ext cx="1760301" cy="33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9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401" y="2363437"/>
            <a:ext cx="925755" cy="5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82" y="3453022"/>
            <a:ext cx="1150868" cy="2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9"/>
          <p:cNvSpPr txBox="1"/>
          <p:nvPr/>
        </p:nvSpPr>
        <p:spPr>
          <a:xfrm>
            <a:off x="407912" y="256824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ora"/>
                <a:ea typeface="Sora"/>
                <a:cs typeface="Sora"/>
                <a:sym typeface="Sora"/>
              </a:rPr>
              <a:t>La communauté NR aujourd’hui</a:t>
            </a:r>
            <a:endParaRPr sz="1600" b="1" i="0" u="none" strike="noStrike" cap="none">
              <a:solidFill>
                <a:srgbClr val="0A00BE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01" name="Google Shape;401;p49"/>
          <p:cNvPicPr preferRelativeResize="0"/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9508" y="0"/>
            <a:ext cx="37844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9"/>
          <p:cNvSpPr txBox="1"/>
          <p:nvPr/>
        </p:nvSpPr>
        <p:spPr>
          <a:xfrm>
            <a:off x="6154150" y="1721350"/>
            <a:ext cx="2636700" cy="1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15 administrations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80 participants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5 groupes de travail</a:t>
            </a: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600" b="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"/>
            </a:endParaRPr>
          </a:p>
        </p:txBody>
      </p:sp>
      <p:pic>
        <p:nvPicPr>
          <p:cNvPr id="403" name="Google Shape;403;p49"/>
          <p:cNvPicPr preferRelativeResize="0"/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8837" y="720062"/>
            <a:ext cx="805900" cy="38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9"/>
          <p:cNvPicPr preferRelativeResize="0"/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5814" y="1594550"/>
            <a:ext cx="1031275" cy="51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9"/>
          <p:cNvPicPr preferRelativeResize="0"/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75" y="3088771"/>
            <a:ext cx="925751" cy="15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9"/>
          <p:cNvPicPr preferRelativeResize="0"/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2426" y="4010476"/>
            <a:ext cx="1150875" cy="32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9"/>
          <p:cNvPicPr preferRelativeResize="0"/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9547" y="3931875"/>
            <a:ext cx="390174" cy="5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/>
        </p:nvSpPr>
        <p:spPr>
          <a:xfrm>
            <a:off x="369550" y="298225"/>
            <a:ext cx="429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Niveau d’implication des participants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3" name="Google Shape;413;p5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675" y="682925"/>
            <a:ext cx="7841827" cy="42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/>
          <p:nvPr/>
        </p:nvSpPr>
        <p:spPr>
          <a:xfrm>
            <a:off x="369550" y="298225"/>
            <a:ext cx="44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Le rôle des ambassadeurs du GT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19" name="Google Shape;419;p51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6525" y="1016725"/>
            <a:ext cx="4912950" cy="35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1"/>
          <p:cNvSpPr txBox="1"/>
          <p:nvPr/>
        </p:nvSpPr>
        <p:spPr>
          <a:xfrm>
            <a:off x="445400" y="940950"/>
            <a:ext cx="3231000" cy="31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Light"/>
                <a:ea typeface="Open Sans Light"/>
                <a:cs typeface="Open Sans Light"/>
                <a:sym typeface="Open Sans"/>
              </a:rPr>
              <a:t>Chaque GT est animé par 2 ambassadeurs qui ont 3 missions principales.</a:t>
            </a: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Light"/>
                <a:ea typeface="Open Sans Light"/>
                <a:cs typeface="Open Sans Light"/>
                <a:sym typeface="Open Sans"/>
              </a:rPr>
              <a:t>Ce rôle peut être tournant.</a:t>
            </a: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Open Sans Light"/>
              <a:ea typeface="Open Sans Light"/>
              <a:cs typeface="Open Sans Light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/>
        </p:nvSpPr>
        <p:spPr>
          <a:xfrm>
            <a:off x="369550" y="298225"/>
            <a:ext cx="44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200C5"/>
                </a:solidFill>
                <a:latin typeface="Sora"/>
                <a:ea typeface="Sora"/>
                <a:cs typeface="Sora"/>
                <a:sym typeface="Sora"/>
              </a:rPr>
              <a:t>Les projets</a:t>
            </a:r>
            <a:endParaRPr sz="1600" b="1" i="0" u="none" strike="noStrike" cap="none">
              <a:solidFill>
                <a:srgbClr val="1200C5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26" name="Google Shape;426;p5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0100" y="1005487"/>
            <a:ext cx="2695700" cy="31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2"/>
          <p:cNvSpPr txBox="1"/>
          <p:nvPr/>
        </p:nvSpPr>
        <p:spPr>
          <a:xfrm>
            <a:off x="460200" y="963200"/>
            <a:ext cx="4569900" cy="26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Au sein de chaque GT, il existe différents groupes projets qui font avancer concrètement les sujets NR. 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Chaque groupe est coordonné par un chef de projet et mène le projet sur une durée courte (4 à 8 mois) pour aboutir à un livrable identifié.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00F0D"/>
                </a:solidFill>
                <a:latin typeface="Open Sans Light"/>
                <a:ea typeface="Open Sans Light"/>
                <a:cs typeface="Open Sans Light"/>
                <a:sym typeface="Open Sans"/>
              </a:rPr>
              <a:t>Le groupe s’organise selon les modalités et le rythme choisis par les participants.</a:t>
            </a:r>
            <a:endParaRPr sz="1500">
              <a:solidFill>
                <a:srgbClr val="100F0D"/>
              </a:solidFill>
              <a:latin typeface="Open Sans Light"/>
              <a:ea typeface="Open Sans Light"/>
              <a:cs typeface="Open Sans Light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/>
        </p:nvSpPr>
        <p:spPr>
          <a:xfrm>
            <a:off x="540812" y="266599"/>
            <a:ext cx="4044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Retour d’expérience des GTs Numérique Responsable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826900" y="1361450"/>
            <a:ext cx="32220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Etre transparent sur le niveau d’implication de chacun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Seul les petits groupes projet de 3 ou 4 personnes peuvent vraiment délivrer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Importance de réunion régulière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Organiser des évènements pour souder les équipes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Accepter que les livrables avancent lentement</a:t>
            </a: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1218826"/>
            <a:ext cx="4276699" cy="28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4"/>
          <p:cNvSpPr txBox="1"/>
          <p:nvPr/>
        </p:nvSpPr>
        <p:spPr>
          <a:xfrm>
            <a:off x="540812" y="266599"/>
            <a:ext cx="40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0A00BE"/>
                </a:solidFill>
                <a:latin typeface="Syne"/>
                <a:ea typeface="Syne"/>
                <a:cs typeface="Syne"/>
                <a:sym typeface="Syne"/>
              </a:rPr>
              <a:t>Prochaines étapes</a:t>
            </a:r>
            <a:endParaRPr sz="1600" b="1" i="0" u="none" strike="noStrike" cap="none">
              <a:solidFill>
                <a:srgbClr val="0A00BE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844450" y="1080625"/>
            <a:ext cx="6246900" cy="24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Sondage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Visite du DC régional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Formation NR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Participation au GT INR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yne"/>
              <a:buChar char="❖"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Workshop =&gt; identifier les sous-groupes et les livrables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=&gt; Formation des groupes projets</a:t>
            </a:r>
            <a:endParaRPr sz="17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highlight>
                <a:schemeClr val="accent6"/>
              </a:highlight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6EE758CFC1842B285249C0620D97E" ma:contentTypeVersion="9" ma:contentTypeDescription="Crée un document." ma:contentTypeScope="" ma:versionID="783b8f647a89e533978f3623734ab9ff">
  <xsd:schema xmlns:xsd="http://www.w3.org/2001/XMLSchema" xmlns:xs="http://www.w3.org/2001/XMLSchema" xmlns:p="http://schemas.microsoft.com/office/2006/metadata/properties" xmlns:ns2="d3f9facc-bd55-4de7-8e1c-c048fbc10aa8" targetNamespace="http://schemas.microsoft.com/office/2006/metadata/properties" ma:root="true" ma:fieldsID="28ff319030c9cb84c8eec0cf4013ad28" ns2:_="">
    <xsd:import namespace="d3f9facc-bd55-4de7-8e1c-c048fbc10a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f9facc-bd55-4de7-8e1c-c048fbc10a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be116bf-fdc6-407a-af0d-5730e4d114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f9facc-bd55-4de7-8e1c-c048fbc10aa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579974-7E8F-46B0-9E34-20AD4332577B}"/>
</file>

<file path=customXml/itemProps2.xml><?xml version="1.0" encoding="utf-8"?>
<ds:datastoreItem xmlns:ds="http://schemas.openxmlformats.org/officeDocument/2006/customXml" ds:itemID="{743B9B02-2DA1-4876-8DFB-F8CDEE1574F7}"/>
</file>

<file path=customXml/itemProps3.xml><?xml version="1.0" encoding="utf-8"?>
<ds:datastoreItem xmlns:ds="http://schemas.openxmlformats.org/officeDocument/2006/customXml" ds:itemID="{C7D50D86-90D1-4B55-9C24-CB3C11DA6C7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</Words>
  <Application>Microsoft Macintosh PowerPoint</Application>
  <PresentationFormat>Affichage à l'écran (16:9)</PresentationFormat>
  <Paragraphs>344</Paragraphs>
  <Slides>39</Slides>
  <Notes>39</Notes>
  <HiddenSlides>3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8" baseType="lpstr">
      <vt:lpstr>Sora</vt:lpstr>
      <vt:lpstr>Open Sans</vt:lpstr>
      <vt:lpstr>Syne Medium</vt:lpstr>
      <vt:lpstr>Calibri</vt:lpstr>
      <vt:lpstr>Montserrat</vt:lpstr>
      <vt:lpstr>Arial</vt:lpstr>
      <vt:lpstr>Syne</vt:lpstr>
      <vt:lpstr>Open Sans Light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CHAPPE Thierry</cp:lastModifiedBy>
  <cp:revision>1</cp:revision>
  <dcterms:modified xsi:type="dcterms:W3CDTF">2026-09-09T15:55:57Z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0x010100D186EE758CFC1842B285249C0620D97E</vt:lpwstr>
  </property>
</Properties>
</file>