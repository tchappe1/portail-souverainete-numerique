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Open Sans" pitchFamily="2" charset="0"/>
      <p:regular r:id="rId16"/>
      <p:bold r:id="rId17"/>
      <p:italic r:id="rId18"/>
      <p:boldItalic r:id="rId19"/>
    </p:embeddedFont>
    <p:embeddedFont>
      <p:font typeface="Syne" pitchFamily="2" charset="77"/>
      <p:regular r:id="rId20"/>
      <p:bold r:id="rId21"/>
    </p:embeddedFont>
    <p:embeddedFont>
      <p:font typeface="Syne Medium" pitchFamily="2" charset="77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4" d="100"/>
          <a:sy n="154" d="100"/>
        </p:scale>
        <p:origin x="888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e778bb2c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291" y="685838"/>
            <a:ext cx="66756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g3ee778bb2cf_0_5:notes"/>
          <p:cNvSpPr txBox="1">
            <a:spLocks noGrp="1"/>
          </p:cNvSpPr>
          <p:nvPr>
            <p:ph type="body" idx="1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f0c78870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f0c78870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f0c788702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f0c788702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f0c788702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f0c788702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0c788702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f0c788702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e778bb2c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e778bb2c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e778bb2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e778bb2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005e780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005e7801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f8aaf2b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f8aaf2b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005e7801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005e7801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f8aaf2b4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f8aaf2b4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32378da4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32378da4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32378da4a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32378da4a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76200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 rot="-5400000">
            <a:off x="7856120" y="118875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 rot="-5400000">
            <a:off x="7882820" y="2990910"/>
            <a:ext cx="1775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>
            <a:spLocks noGrp="1"/>
          </p:cNvSpPr>
          <p:nvPr>
            <p:ph type="sldNum" idx="12"/>
          </p:nvPr>
        </p:nvSpPr>
        <p:spPr>
          <a:xfrm>
            <a:off x="8531788" y="4236720"/>
            <a:ext cx="548700" cy="29730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-master">
  <p:cSld name="DEFAULT-mast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 1">
  <p:cSld name="2_Diapositive de titre 2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sldNum" idx="12"/>
          </p:nvPr>
        </p:nvSpPr>
        <p:spPr>
          <a:xfrm>
            <a:off x="457200" y="4767263"/>
            <a:ext cx="680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59" name="Google Shape;59;p15"/>
          <p:cNvSpPr>
            <a:spLocks noGrp="1"/>
          </p:cNvSpPr>
          <p:nvPr>
            <p:ph type="pic" idx="2"/>
          </p:nvPr>
        </p:nvSpPr>
        <p:spPr>
          <a:xfrm>
            <a:off x="0" y="1338738"/>
            <a:ext cx="4507200" cy="2690400"/>
          </a:xfrm>
          <a:prstGeom prst="rect">
            <a:avLst/>
          </a:prstGeom>
          <a:gradFill>
            <a:gsLst>
              <a:gs pos="0">
                <a:schemeClr val="accent1"/>
              </a:gs>
              <a:gs pos="77600">
                <a:srgbClr val="C8C6F0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4843463" y="1299320"/>
            <a:ext cx="3976800" cy="20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 sz="1800"/>
            </a:lvl1pPr>
            <a:lvl2pPr marL="91440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marL="1371600" lvl="2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/>
            </a:lvl3pPr>
            <a:lvl4pPr marL="1828800" lvl="3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/>
            </a:lvl5pPr>
            <a:lvl6pPr marL="2743200" lvl="5" indent="-323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447625" y="566006"/>
            <a:ext cx="7972800" cy="6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0BE"/>
              </a:buClr>
              <a:buSzPts val="3300"/>
              <a:buFont typeface="Syne"/>
              <a:buNone/>
              <a:defRPr sz="3300">
                <a:solidFill>
                  <a:srgbClr val="0A00BE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4">
          <p15:clr>
            <a:srgbClr val="FBAE40"/>
          </p15:clr>
        </p15:guide>
        <p15:guide id="2" pos="2880">
          <p15:clr>
            <a:srgbClr val="FBAE40"/>
          </p15:clr>
        </p15:guide>
        <p15:guide id="3" pos="216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C5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/>
        </p:nvSpPr>
        <p:spPr>
          <a:xfrm>
            <a:off x="947500" y="2091500"/>
            <a:ext cx="5536500" cy="14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Souveraineté </a:t>
            </a:r>
            <a:r>
              <a:rPr lang="en" sz="2200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(chantier 12 BMC)</a:t>
            </a:r>
            <a:endParaRPr sz="2200" i="1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Restitution des 2 workshops</a:t>
            </a:r>
            <a:endParaRPr sz="2200" i="0" u="none" strike="noStrike" cap="non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pic>
        <p:nvPicPr>
          <p:cNvPr id="67" name="Google Shape;67;p16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7500" y="548750"/>
            <a:ext cx="1853149" cy="75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6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36400" y="152400"/>
            <a:ext cx="198136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/>
        </p:nvSpPr>
        <p:spPr>
          <a:xfrm>
            <a:off x="584100" y="273625"/>
            <a:ext cx="79758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0BE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1- Les enjeux</a:t>
            </a:r>
            <a:endParaRPr sz="1800" b="1">
              <a:solidFill>
                <a:srgbClr val="0A00BE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A00BE"/>
                </a:solidFill>
                <a:latin typeface="Open Sans Light"/>
                <a:ea typeface="Open Sans Light"/>
                <a:cs typeface="Open Sans Light"/>
                <a:sym typeface="Open Sans"/>
              </a:rPr>
              <a:t>Votre regard sur les enjeux du chantier (20 mn)</a:t>
            </a:r>
            <a:endParaRPr sz="1600">
              <a:solidFill>
                <a:srgbClr val="0A00BE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sp>
        <p:nvSpPr>
          <p:cNvPr id="74" name="Google Shape;74;p17"/>
          <p:cNvSpPr txBox="1"/>
          <p:nvPr/>
        </p:nvSpPr>
        <p:spPr>
          <a:xfrm>
            <a:off x="649499" y="1299794"/>
            <a:ext cx="4088100" cy="30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Quels sont selon vous les </a:t>
            </a:r>
            <a:r>
              <a:rPr lang="en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enjeux</a:t>
            </a: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prioritaires du chantier ?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❖"/>
            </a:pPr>
            <a:r>
              <a:rPr lang="en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En quoi</a:t>
            </a: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cette réflexion me semble-t-elle importante pour la Région ?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Au-delà de la direction de Paradigm, quels sont </a:t>
            </a:r>
            <a:r>
              <a:rPr lang="en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les destinataires </a:t>
            </a: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de notre travail ?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❖"/>
            </a:pPr>
            <a:r>
              <a:rPr lang="en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Quel impact </a:t>
            </a: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viser à travers les livrables que nous allons produire ?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(3 mn de réflexion perso + partage collectif)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75" name="Google Shape;75;p17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05875" y="1387000"/>
            <a:ext cx="2965300" cy="296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/>
        </p:nvSpPr>
        <p:spPr>
          <a:xfrm>
            <a:off x="584100" y="273625"/>
            <a:ext cx="7975800" cy="10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0BE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1- Les enjeux </a:t>
            </a:r>
            <a:endParaRPr sz="1800" b="1">
              <a:solidFill>
                <a:srgbClr val="0A00BE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A00BE"/>
                </a:solidFill>
                <a:latin typeface="Open Sans Light"/>
                <a:ea typeface="Open Sans Light"/>
                <a:cs typeface="Open Sans Light"/>
                <a:sym typeface="Open Sans"/>
              </a:rPr>
              <a:t>En quoi cette réflexion est-elle importante pour la Région ?</a:t>
            </a:r>
            <a:endParaRPr sz="1800">
              <a:solidFill>
                <a:srgbClr val="0A00BE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A00BE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pic>
        <p:nvPicPr>
          <p:cNvPr id="81" name="Google Shape;81;p18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700" b="8708"/>
          <a:stretch/>
        </p:blipFill>
        <p:spPr>
          <a:xfrm>
            <a:off x="1402575" y="1341925"/>
            <a:ext cx="4580326" cy="340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/>
        </p:nvSpPr>
        <p:spPr>
          <a:xfrm>
            <a:off x="584100" y="273625"/>
            <a:ext cx="7975800" cy="10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0BE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1- Les enjeux </a:t>
            </a:r>
            <a:endParaRPr sz="1800" b="1">
              <a:solidFill>
                <a:srgbClr val="0A00BE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A00BE"/>
                </a:solidFill>
                <a:latin typeface="Open Sans Light"/>
                <a:ea typeface="Open Sans Light"/>
                <a:cs typeface="Open Sans Light"/>
                <a:sym typeface="Open Sans"/>
              </a:rPr>
              <a:t>Quels sont les destinataires de notre travail ?</a:t>
            </a:r>
            <a:endParaRPr sz="1800">
              <a:solidFill>
                <a:srgbClr val="0A00BE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A00BE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pic>
        <p:nvPicPr>
          <p:cNvPr id="87" name="Google Shape;87;p19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015" r="12342"/>
          <a:stretch/>
        </p:blipFill>
        <p:spPr>
          <a:xfrm>
            <a:off x="717950" y="1115650"/>
            <a:ext cx="4957375" cy="387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/>
        </p:nvSpPr>
        <p:spPr>
          <a:xfrm>
            <a:off x="584100" y="273625"/>
            <a:ext cx="7975800" cy="10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0BE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1- Les enjeux </a:t>
            </a:r>
            <a:endParaRPr sz="1800" b="1">
              <a:solidFill>
                <a:srgbClr val="0A00BE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A00BE"/>
                </a:solidFill>
                <a:latin typeface="Open Sans Light"/>
                <a:ea typeface="Open Sans Light"/>
                <a:cs typeface="Open Sans Light"/>
                <a:sym typeface="Open Sans"/>
              </a:rPr>
              <a:t>Quel impact viser à travers les livrables ?</a:t>
            </a:r>
            <a:endParaRPr sz="1800">
              <a:solidFill>
                <a:srgbClr val="0A00BE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A00BE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pic>
        <p:nvPicPr>
          <p:cNvPr id="93" name="Google Shape;93;p20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112" b="4868"/>
          <a:stretch/>
        </p:blipFill>
        <p:spPr>
          <a:xfrm>
            <a:off x="737800" y="1428750"/>
            <a:ext cx="5935925" cy="342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/>
          <p:nvPr/>
        </p:nvSpPr>
        <p:spPr>
          <a:xfrm>
            <a:off x="5025575" y="2376850"/>
            <a:ext cx="3452400" cy="1388400"/>
          </a:xfrm>
          <a:prstGeom prst="roundRect">
            <a:avLst>
              <a:gd name="adj" fmla="val 3921"/>
            </a:avLst>
          </a:prstGeom>
          <a:solidFill>
            <a:srgbClr val="F6F7FF"/>
          </a:solidFill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1"/>
          <p:cNvSpPr/>
          <p:nvPr/>
        </p:nvSpPr>
        <p:spPr>
          <a:xfrm>
            <a:off x="5025450" y="752700"/>
            <a:ext cx="3452400" cy="1142100"/>
          </a:xfrm>
          <a:prstGeom prst="roundRect">
            <a:avLst>
              <a:gd name="adj" fmla="val 3921"/>
            </a:avLst>
          </a:prstGeom>
          <a:solidFill>
            <a:srgbClr val="F6F7FF"/>
          </a:solidFill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1"/>
          <p:cNvSpPr/>
          <p:nvPr/>
        </p:nvSpPr>
        <p:spPr>
          <a:xfrm>
            <a:off x="468325" y="2997775"/>
            <a:ext cx="3694800" cy="1710300"/>
          </a:xfrm>
          <a:prstGeom prst="roundRect">
            <a:avLst>
              <a:gd name="adj" fmla="val 3921"/>
            </a:avLst>
          </a:prstGeom>
          <a:solidFill>
            <a:srgbClr val="F6F7FF"/>
          </a:solidFill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1"/>
          <p:cNvSpPr/>
          <p:nvPr/>
        </p:nvSpPr>
        <p:spPr>
          <a:xfrm>
            <a:off x="468325" y="752700"/>
            <a:ext cx="3694800" cy="1954800"/>
          </a:xfrm>
          <a:prstGeom prst="roundRect">
            <a:avLst>
              <a:gd name="adj" fmla="val 3921"/>
            </a:avLst>
          </a:prstGeom>
          <a:solidFill>
            <a:srgbClr val="F6F7FF"/>
          </a:solidFill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1"/>
          <p:cNvSpPr txBox="1"/>
          <p:nvPr/>
        </p:nvSpPr>
        <p:spPr>
          <a:xfrm>
            <a:off x="536550" y="231050"/>
            <a:ext cx="448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A00BE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Revue des objectifs du chantier</a:t>
            </a:r>
            <a:endParaRPr b="1">
              <a:solidFill>
                <a:srgbClr val="0A00BE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103" name="Google Shape;103;p21"/>
          <p:cNvSpPr txBox="1"/>
          <p:nvPr/>
        </p:nvSpPr>
        <p:spPr>
          <a:xfrm>
            <a:off x="671700" y="820650"/>
            <a:ext cx="3138900" cy="40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Objectif 1  -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Réaliser état des lieux : étude, rapport d’analyse, livre blanc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yne"/>
              <a:buChar char="●"/>
            </a:pPr>
            <a:r>
              <a:rPr lang="en" sz="1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Rapport du chantier de +/- 20 pages + executive summary + slide deck</a:t>
            </a: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yne"/>
              <a:buChar char="●"/>
            </a:pPr>
            <a:r>
              <a:rPr lang="en" sz="1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Décliner selon les cibles </a:t>
            </a: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yne"/>
              <a:buChar char="●"/>
            </a:pPr>
            <a:r>
              <a:rPr lang="en" sz="1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Réfléchir à la communication autour de sa diffusion</a:t>
            </a: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Objectif 2  -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Sensibiliser et communiquer sur le sujet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marR="0" lvl="0" indent="-2921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yne"/>
              <a:buChar char="●"/>
            </a:pPr>
            <a:r>
              <a:rPr lang="en" sz="1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Les collaborateurs Paradigm en priorité</a:t>
            </a: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marR="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yne"/>
              <a:buChar char="●"/>
            </a:pPr>
            <a:r>
              <a:rPr lang="en" sz="1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Les autres admin éventuellement</a:t>
            </a: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marR="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yne"/>
              <a:buChar char="●"/>
            </a:pPr>
            <a:r>
              <a:rPr lang="en" sz="1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Formats : conférences, formations, newsletter, visite du DC…</a:t>
            </a: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104" name="Google Shape;104;p21"/>
          <p:cNvSpPr txBox="1"/>
          <p:nvPr/>
        </p:nvSpPr>
        <p:spPr>
          <a:xfrm>
            <a:off x="5350450" y="82065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Objectif 3  -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Participer à des groupes de travail sur le sujet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INR, ISIT, EU…</a:t>
            </a: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Objectif 4  -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Mener des projets concrets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yne"/>
              <a:buChar char="●"/>
            </a:pPr>
            <a:r>
              <a:rPr lang="en" sz="1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E.g. Tester une IA souveraine et locale </a:t>
            </a: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yne"/>
              <a:buChar char="●"/>
            </a:pPr>
            <a:r>
              <a:rPr lang="en" sz="1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Tester un server DB sur une appli</a:t>
            </a: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yne"/>
              <a:buChar char="●"/>
            </a:pPr>
            <a:r>
              <a:rPr lang="en" sz="1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…</a:t>
            </a: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/>
        </p:nvSpPr>
        <p:spPr>
          <a:xfrm>
            <a:off x="536675" y="131400"/>
            <a:ext cx="448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A00BE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Objectif 1: Etat des lieux (1/2)</a:t>
            </a:r>
            <a:endParaRPr b="1">
              <a:solidFill>
                <a:srgbClr val="0A00BE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110" name="Google Shape;110;p22"/>
          <p:cNvSpPr txBox="1"/>
          <p:nvPr/>
        </p:nvSpPr>
        <p:spPr>
          <a:xfrm>
            <a:off x="584100" y="524400"/>
            <a:ext cx="4781400" cy="40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Quoi ?</a:t>
            </a:r>
            <a:endParaRPr sz="15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yne"/>
              <a:buChar char="●"/>
            </a:pPr>
            <a:r>
              <a:rPr lang="en" sz="13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Définir la souveraineté et illustrer les dépendances en pratique</a:t>
            </a:r>
            <a:endParaRPr sz="13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yne"/>
              <a:buChar char="●"/>
            </a:pPr>
            <a:r>
              <a:rPr lang="en" sz="13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Partir des 4 domaines (Field study) / ajouter Risques + Compétences</a:t>
            </a:r>
            <a:endParaRPr sz="13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yne"/>
              <a:buChar char="●"/>
            </a:pPr>
            <a:r>
              <a:rPr lang="en" sz="13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Cartographie des dépendances &gt; lien avec NIS2 (déja documenté)</a:t>
            </a:r>
            <a:endParaRPr sz="13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yne"/>
              <a:buChar char="●"/>
            </a:pPr>
            <a:r>
              <a:rPr lang="en" sz="13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Analyser les impacts en termes de coûts </a:t>
            </a:r>
            <a:endParaRPr sz="13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yne"/>
              <a:buChar char="●"/>
            </a:pPr>
            <a:r>
              <a:rPr lang="en" sz="13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Benchmark, et focus sur la situation européenne</a:t>
            </a:r>
            <a:endParaRPr sz="13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yne"/>
              <a:buChar char="●"/>
            </a:pPr>
            <a:r>
              <a:rPr lang="en" sz="13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Montrer qu’on va dans le sens d’une dégradation de la souveraineté depuis quelques années </a:t>
            </a:r>
            <a:endParaRPr sz="13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yne"/>
              <a:buChar char="●"/>
            </a:pPr>
            <a:r>
              <a:rPr lang="en" sz="13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Documenter et illustrer concrètement les risques et leur évolution (avant / aujourd’hui / dans le futur)</a:t>
            </a:r>
            <a:endParaRPr sz="13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yne"/>
              <a:buChar char="●"/>
            </a:pPr>
            <a:r>
              <a:rPr lang="en" sz="13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Souligner les atouts de la région</a:t>
            </a:r>
            <a:endParaRPr sz="13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yne"/>
              <a:buChar char="●"/>
            </a:pPr>
            <a:r>
              <a:rPr lang="en" sz="13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Explorer les offres de services autour de la souveraineté pour les clients (e.g. serveur de DB)</a:t>
            </a:r>
            <a:endParaRPr sz="13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yne"/>
              <a:buChar char="●"/>
            </a:pPr>
            <a:endParaRPr sz="13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111" name="Google Shape;111;p22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25716" y="3"/>
            <a:ext cx="358210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/>
        </p:nvSpPr>
        <p:spPr>
          <a:xfrm>
            <a:off x="536675" y="131400"/>
            <a:ext cx="448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A00BE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Objectif 1: Etat des lieux (2/2)</a:t>
            </a:r>
            <a:endParaRPr b="1">
              <a:solidFill>
                <a:srgbClr val="0A00BE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117" name="Google Shape;117;p23"/>
          <p:cNvSpPr txBox="1"/>
          <p:nvPr/>
        </p:nvSpPr>
        <p:spPr>
          <a:xfrm>
            <a:off x="584100" y="524400"/>
            <a:ext cx="4781400" cy="40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Comment ?</a:t>
            </a:r>
            <a:endParaRPr sz="16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●"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Communication  interne dans le cadre du BMC (points d’avancement)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●"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News interne (après les workshops)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●"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Présentation du sujet aux collaborateurs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●"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Com externe (post LinkedIn) si autorisé ???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●"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Newsletter Paradigm OIP + PL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●"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Formation interne 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●"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Présentation à une réunion IT cells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●"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Interroger partenaires institutionnels (recueillir leurs perception / attentes via  enquêtes et interviews…)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Quand ?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●"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Pilier 1 : axes + quelques pistes présentés dans un rapport intermédiaire =&gt; début sept 26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●"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Document complet (+/- 20 pages) + executive summary + slide deck =&gt; fin décembre 26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118" name="Google Shape;118;p23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25716" y="3"/>
            <a:ext cx="358210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/>
        </p:nvSpPr>
        <p:spPr>
          <a:xfrm>
            <a:off x="536675" y="131400"/>
            <a:ext cx="448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A00BE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Objectif 2 : Sensibiliser (1/3)</a:t>
            </a:r>
            <a:endParaRPr b="1">
              <a:solidFill>
                <a:srgbClr val="0A00BE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124" name="Google Shape;124;p24"/>
          <p:cNvSpPr txBox="1"/>
          <p:nvPr/>
        </p:nvSpPr>
        <p:spPr>
          <a:xfrm>
            <a:off x="584100" y="524400"/>
            <a:ext cx="4236600" cy="40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Pourquoi ?</a:t>
            </a:r>
            <a:endParaRPr sz="13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Préparer le terrain avant les futurs projets de transformation</a:t>
            </a:r>
            <a:endParaRPr sz="12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Développer une culture commune autour de la souveraineté numérique.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Sensibiliser progressivement les différents publics aux enjeux et aux dépendances actuelles.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Positionner Paradigm comme acteur de référence sur le sujet.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Aller au-delà de la sensibilisation pour déclencher des actions concrètes.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pic>
        <p:nvPicPr>
          <p:cNvPr id="125" name="Google Shape;125;p24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52175" y="0"/>
            <a:ext cx="383277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/>
        </p:nvSpPr>
        <p:spPr>
          <a:xfrm>
            <a:off x="536675" y="131400"/>
            <a:ext cx="448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A00BE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Objectif 2 : Sensibiliser (2/3)</a:t>
            </a:r>
            <a:endParaRPr b="1">
              <a:solidFill>
                <a:srgbClr val="0A00BE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584100" y="524400"/>
            <a:ext cx="4236600" cy="40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Qui ?</a:t>
            </a:r>
            <a:endParaRPr sz="18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Collaborateurs Paradigm</a:t>
            </a:r>
            <a:endParaRPr sz="12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Équipes IT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IRIS Tower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Réseau Numérique Responsable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Communautés ISIT / INR (instituts NR en Belgique et en Europe)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Administrations régionales</a:t>
            </a:r>
            <a:endParaRPr sz="12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Administrations déjà sensibilisées (Bruxelles Environnement, communes…)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Administrations à mobiliser (Innoviris, hub.brussels, Bruxelles Formation…)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Acteurs encore peu sensibilisés (ex. Bruxelles Fiscalité, Actiris…)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52175" y="0"/>
            <a:ext cx="383277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/>
        </p:nvSpPr>
        <p:spPr>
          <a:xfrm>
            <a:off x="536675" y="131400"/>
            <a:ext cx="448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A00BE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Objectif 2 : Sensibiliser (3/3)</a:t>
            </a:r>
            <a:endParaRPr b="1">
              <a:solidFill>
                <a:srgbClr val="0A00BE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138" name="Google Shape;138;p26"/>
          <p:cNvSpPr txBox="1"/>
          <p:nvPr/>
        </p:nvSpPr>
        <p:spPr>
          <a:xfrm>
            <a:off x="4899125" y="806300"/>
            <a:ext cx="4092600" cy="22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Comment ? </a:t>
            </a:r>
            <a:endParaRPr sz="15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Formats proposés</a:t>
            </a:r>
            <a:endParaRPr sz="11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Formations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Conférences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Newsletter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Actualités internes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Capsules vidéo ou podcasts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Visites du Data Center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Événements et démonstrations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Publication régulière d'un état des lieux de la dépendance numérique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sp>
        <p:nvSpPr>
          <p:cNvPr id="139" name="Google Shape;139;p26"/>
          <p:cNvSpPr txBox="1"/>
          <p:nvPr/>
        </p:nvSpPr>
        <p:spPr>
          <a:xfrm>
            <a:off x="593825" y="565700"/>
            <a:ext cx="3730500" cy="22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Qui ? (suite)</a:t>
            </a:r>
            <a:endParaRPr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Décideurs politiques</a:t>
            </a:r>
            <a:endParaRPr sz="11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Présenter les enjeux géopolitiques, économiques et stratégiques.</a:t>
            </a:r>
            <a:endParaRPr sz="11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Illustrer concrètement les conséquences d'une dépendance technologique excessive.</a:t>
            </a:r>
            <a:endParaRPr sz="11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Citoyens</a:t>
            </a:r>
            <a:endParaRPr sz="11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Événements ouverts au public.</a:t>
            </a:r>
            <a:endParaRPr sz="11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Mini-expositions ou démonstrations illustrant les dépendances numériques.</a:t>
            </a:r>
            <a:endParaRPr sz="11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lang="en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Sensibilisation via les enjeux d'inclusion numérique et de souveraineté.</a:t>
            </a:r>
            <a:endParaRPr sz="11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7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474" y="742575"/>
            <a:ext cx="5966500" cy="426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7"/>
          <p:cNvSpPr txBox="1"/>
          <p:nvPr/>
        </p:nvSpPr>
        <p:spPr>
          <a:xfrm>
            <a:off x="536675" y="131400"/>
            <a:ext cx="448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A00BE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Workshop 1</a:t>
            </a:r>
            <a:endParaRPr b="1">
              <a:solidFill>
                <a:srgbClr val="0A00BE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/>
        </p:nvSpPr>
        <p:spPr>
          <a:xfrm>
            <a:off x="536675" y="131400"/>
            <a:ext cx="448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A00BE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Workshop 2</a:t>
            </a:r>
            <a:endParaRPr b="1">
              <a:solidFill>
                <a:srgbClr val="0A00BE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pic>
        <p:nvPicPr>
          <p:cNvPr id="151" name="Google Shape;151;p28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684000"/>
            <a:ext cx="7918259" cy="430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86EE758CFC1842B285249C0620D97E" ma:contentTypeVersion="9" ma:contentTypeDescription="Crée un document." ma:contentTypeScope="" ma:versionID="783b8f647a89e533978f3623734ab9ff">
  <xsd:schema xmlns:xsd="http://www.w3.org/2001/XMLSchema" xmlns:xs="http://www.w3.org/2001/XMLSchema" xmlns:p="http://schemas.microsoft.com/office/2006/metadata/properties" xmlns:ns2="d3f9facc-bd55-4de7-8e1c-c048fbc10aa8" targetNamespace="http://schemas.microsoft.com/office/2006/metadata/properties" ma:root="true" ma:fieldsID="28ff319030c9cb84c8eec0cf4013ad28" ns2:_="">
    <xsd:import namespace="d3f9facc-bd55-4de7-8e1c-c048fbc10a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f9facc-bd55-4de7-8e1c-c048fbc10a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6be116bf-fdc6-407a-af0d-5730e4d114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3f9facc-bd55-4de7-8e1c-c048fbc10aa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094E9C1-3DBA-4FD2-ACB9-D2DED5CD2EA2}"/>
</file>

<file path=customXml/itemProps2.xml><?xml version="1.0" encoding="utf-8"?>
<ds:datastoreItem xmlns:ds="http://schemas.openxmlformats.org/officeDocument/2006/customXml" ds:itemID="{78788B95-C905-4746-A6F8-8C60BF38B40E}"/>
</file>

<file path=customXml/itemProps3.xml><?xml version="1.0" encoding="utf-8"?>
<ds:datastoreItem xmlns:ds="http://schemas.openxmlformats.org/officeDocument/2006/customXml" ds:itemID="{C452D44D-A553-4A4F-8638-BE67012E476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</Words>
  <Application>Microsoft Macintosh PowerPoint</Application>
  <PresentationFormat>Affichage à l'écran (16:9)</PresentationFormat>
  <Paragraphs>120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Open Sans</vt:lpstr>
      <vt:lpstr>Syne Medium</vt:lpstr>
      <vt:lpstr>Calibri</vt:lpstr>
      <vt:lpstr>Arial</vt:lpstr>
      <vt:lpstr>Syne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CHAPPE Thierry</cp:lastModifiedBy>
  <cp:revision>1</cp:revision>
  <dcterms:modified xsi:type="dcterms:W3CDTF">2026-09-09T15:54:20Z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0x010100D186EE758CFC1842B285249C0620D97E</vt:lpwstr>
  </property>
</Properties>
</file>