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Slides/notesSlide8.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3.xml" ContentType="application/vnd.openxmlformats-officedocument.presentationml.slideLayout+xml"/>
  <Override PartName="/ppt/notesSlides/notesSlide13.xml" ContentType="application/vnd.openxmlformats-officedocument.presentationml.notesSlide+xml"/>
  <Override PartName="/ppt/slideLayouts/slideLayout2.xml" ContentType="application/vnd.openxmlformats-officedocument.presentationml.slideLayou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Open Sans" pitchFamily="2" charset="0"/>
      <p:regular r:id="rId32"/>
      <p:bold r:id="rId33"/>
      <p:italic r:id="rId34"/>
      <p:boldItalic r:id="rId35"/>
    </p:embeddedFont>
    <p:embeddedFont>
      <p:font typeface="Open Sans ExtraBold" pitchFamily="2" charset="0"/>
      <p:bold r:id="rId36"/>
      <p:italic r:id="rId37"/>
      <p:boldItalic r:id="rId38"/>
    </p:embeddedFont>
    <p:embeddedFont>
      <p:font typeface="Open Sans Light" pitchFamily="2" charset="0"/>
      <p:regular r:id="rId39"/>
      <p:bold r:id="rId40"/>
      <p:italic r:id="rId41"/>
      <p:boldItalic r:id="rId42"/>
    </p:embeddedFont>
    <p:embeddedFont>
      <p:font typeface="Sora" pitchFamily="2" charset="0"/>
      <p:regular r:id="rId43"/>
      <p:bold r:id="rId44"/>
    </p:embeddedFont>
    <p:embeddedFont>
      <p:font typeface="Syne" pitchFamily="2" charset="77"/>
      <p:regular r:id="rId45"/>
      <p:bold r:id="rId46"/>
    </p:embeddedFont>
    <p:embeddedFont>
      <p:font typeface="Syne Medium" pitchFamily="2" charset="77"/>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4" d="100"/>
          <a:sy n="154" d="100"/>
        </p:scale>
        <p:origin x="88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c9cbc8e97_0_0: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g3cc9cbc8e97_0_0: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d0f140831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cd0f14083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ee41e4087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ee41e408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e73758d5ee_0_125: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e73758d5ee_0_125: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73758d5ee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73758d5ee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600"/>
              </a:spcBef>
              <a:spcAft>
                <a:spcPts val="0"/>
              </a:spcAft>
              <a:buClr>
                <a:schemeClr val="dk1"/>
              </a:buClr>
              <a:buSzPts val="1300"/>
              <a:buFont typeface="Open Sans"/>
              <a:buChar char="-"/>
            </a:pPr>
            <a:r>
              <a:rPr lang="en" sz="1300" b="1">
                <a:solidFill>
                  <a:schemeClr val="dk1"/>
                </a:solidFill>
                <a:latin typeface="Open Sans ExtraBold"/>
                <a:ea typeface="Open Sans ExtraBold"/>
                <a:cs typeface="Open Sans ExtraBold"/>
                <a:sym typeface="Open Sans"/>
              </a:rPr>
              <a:t>Hardware: </a:t>
            </a:r>
            <a:r>
              <a:rPr lang="en" sz="1300">
                <a:solidFill>
                  <a:schemeClr val="dk1"/>
                </a:solidFill>
                <a:latin typeface="Open Sans Light"/>
                <a:ea typeface="Open Sans Light"/>
                <a:cs typeface="Open Sans Light"/>
                <a:sym typeface="Open Sans"/>
              </a:rPr>
              <a:t>serveurs, équipements réseau, postes</a:t>
            </a:r>
            <a:endParaRPr sz="1300">
              <a:solidFill>
                <a:schemeClr val="dk1"/>
              </a:solidFill>
              <a:latin typeface="Open Sans Light"/>
              <a:ea typeface="Open Sans Light"/>
              <a:cs typeface="Open Sans Light"/>
              <a:sym typeface="Open Sans"/>
            </a:endParaRPr>
          </a:p>
          <a:p>
            <a:pPr marL="457200" lvl="0" indent="-311150" algn="l" rtl="0">
              <a:spcBef>
                <a:spcPts val="0"/>
              </a:spcBef>
              <a:spcAft>
                <a:spcPts val="0"/>
              </a:spcAft>
              <a:buClr>
                <a:schemeClr val="dk1"/>
              </a:buClr>
              <a:buSzPts val="1300"/>
              <a:buFont typeface="Open Sans"/>
              <a:buChar char="-"/>
            </a:pPr>
            <a:r>
              <a:rPr lang="en" sz="1300" b="1">
                <a:solidFill>
                  <a:schemeClr val="dk1"/>
                </a:solidFill>
                <a:latin typeface="Open Sans ExtraBold"/>
                <a:ea typeface="Open Sans ExtraBold"/>
                <a:cs typeface="Open Sans ExtraBold"/>
                <a:sym typeface="Open Sans"/>
              </a:rPr>
              <a:t>Software: </a:t>
            </a:r>
            <a:r>
              <a:rPr lang="en" sz="1300">
                <a:solidFill>
                  <a:schemeClr val="dk1"/>
                </a:solidFill>
                <a:latin typeface="Open Sans Light"/>
                <a:ea typeface="Open Sans Light"/>
                <a:cs typeface="Open Sans Light"/>
                <a:sym typeface="Open Sans"/>
              </a:rPr>
              <a:t>OS, bases de données, applications</a:t>
            </a:r>
            <a:endParaRPr sz="1300">
              <a:solidFill>
                <a:schemeClr val="dk1"/>
              </a:solidFill>
              <a:latin typeface="Open Sans Light"/>
              <a:ea typeface="Open Sans Light"/>
              <a:cs typeface="Open Sans Light"/>
              <a:sym typeface="Open Sans"/>
            </a:endParaRPr>
          </a:p>
          <a:p>
            <a:pPr marL="457200" lvl="0" indent="-311150" algn="l" rtl="0">
              <a:spcBef>
                <a:spcPts val="0"/>
              </a:spcBef>
              <a:spcAft>
                <a:spcPts val="0"/>
              </a:spcAft>
              <a:buClr>
                <a:schemeClr val="dk1"/>
              </a:buClr>
              <a:buSzPts val="1300"/>
              <a:buFont typeface="Open Sans"/>
              <a:buChar char="-"/>
            </a:pPr>
            <a:r>
              <a:rPr lang="en" sz="1300" b="1">
                <a:solidFill>
                  <a:schemeClr val="dk1"/>
                </a:solidFill>
                <a:latin typeface="Open Sans ExtraBold"/>
                <a:ea typeface="Open Sans ExtraBold"/>
                <a:cs typeface="Open Sans ExtraBold"/>
                <a:sym typeface="Open Sans"/>
              </a:rPr>
              <a:t>Données</a:t>
            </a:r>
            <a:endParaRPr sz="1300">
              <a:solidFill>
                <a:schemeClr val="dk1"/>
              </a:solidFill>
              <a:latin typeface="Open Sans Light"/>
              <a:ea typeface="Open Sans Light"/>
              <a:cs typeface="Open Sans Light"/>
              <a:sym typeface="Open Sans"/>
            </a:endParaRPr>
          </a:p>
          <a:p>
            <a:pPr marL="457200" lvl="0" indent="-311150" algn="l" rtl="0">
              <a:spcBef>
                <a:spcPts val="0"/>
              </a:spcBef>
              <a:spcAft>
                <a:spcPts val="0"/>
              </a:spcAft>
              <a:buClr>
                <a:schemeClr val="dk1"/>
              </a:buClr>
              <a:buSzPts val="1300"/>
              <a:buFont typeface="Open Sans"/>
              <a:buChar char="-"/>
            </a:pPr>
            <a:r>
              <a:rPr lang="en" sz="1300" b="1">
                <a:solidFill>
                  <a:schemeClr val="dk1"/>
                </a:solidFill>
                <a:latin typeface="Open Sans ExtraBold"/>
                <a:ea typeface="Open Sans ExtraBold"/>
                <a:cs typeface="Open Sans ExtraBold"/>
                <a:sym typeface="Open Sans"/>
              </a:rPr>
              <a:t>Services numériques : </a:t>
            </a:r>
            <a:r>
              <a:rPr lang="en" sz="1300">
                <a:solidFill>
                  <a:schemeClr val="dk1"/>
                </a:solidFill>
                <a:latin typeface="Open Sans Light"/>
                <a:ea typeface="Open Sans Light"/>
                <a:cs typeface="Open Sans Light"/>
                <a:sym typeface="Open Sans"/>
              </a:rPr>
              <a:t>cloud, SaaS, plateformes</a:t>
            </a:r>
            <a:endParaRPr sz="1300">
              <a:solidFill>
                <a:schemeClr val="dk1"/>
              </a:solidFill>
              <a:latin typeface="Open Sans Light"/>
              <a:ea typeface="Open Sans Light"/>
              <a:cs typeface="Open Sans Light"/>
              <a:sym typeface="Open Sans"/>
            </a:endParaRPr>
          </a:p>
          <a:p>
            <a:pPr marL="457200" lvl="0" indent="-311150" algn="l" rtl="0">
              <a:spcBef>
                <a:spcPts val="0"/>
              </a:spcBef>
              <a:spcAft>
                <a:spcPts val="0"/>
              </a:spcAft>
              <a:buClr>
                <a:schemeClr val="dk1"/>
              </a:buClr>
              <a:buSzPts val="1300"/>
              <a:buFont typeface="Open Sans"/>
              <a:buChar char="-"/>
            </a:pPr>
            <a:r>
              <a:rPr lang="en" sz="1300" b="1">
                <a:solidFill>
                  <a:schemeClr val="dk1"/>
                </a:solidFill>
                <a:latin typeface="Open Sans ExtraBold"/>
                <a:ea typeface="Open Sans ExtraBold"/>
                <a:cs typeface="Open Sans ExtraBold"/>
                <a:sym typeface="Open Sans"/>
              </a:rPr>
              <a:t>Compétences humaines</a:t>
            </a:r>
            <a:endParaRPr sz="1300" b="1">
              <a:solidFill>
                <a:srgbClr val="595959"/>
              </a:solidFill>
              <a:latin typeface="Open Sans ExtraBold"/>
              <a:ea typeface="Open Sans ExtraBold"/>
              <a:cs typeface="Open Sans ExtraBold"/>
              <a:sym typeface="Open Sans"/>
            </a:endParaRPr>
          </a:p>
          <a:p>
            <a:pPr marL="0" lvl="0" indent="0" algn="l" rtl="0">
              <a:lnSpc>
                <a:spcPct val="142857"/>
              </a:lnSpc>
              <a:spcBef>
                <a:spcPts val="400"/>
              </a:spcBef>
              <a:spcAft>
                <a:spcPts val="0"/>
              </a:spcAft>
              <a:buClr>
                <a:schemeClr val="dk1"/>
              </a:buClr>
              <a:buSzPts val="1100"/>
              <a:buFont typeface="Arial"/>
              <a:buNone/>
            </a:pPr>
            <a:endParaRPr sz="1050">
              <a:solidFill>
                <a:schemeClr val="dk1"/>
              </a:solidFill>
            </a:endParaRPr>
          </a:p>
          <a:p>
            <a:pPr marL="0" lvl="0" indent="0" algn="l" rtl="0">
              <a:spcBef>
                <a:spcPts val="0"/>
              </a:spcBef>
              <a:spcAft>
                <a:spcPts val="0"/>
              </a:spcAft>
              <a:buNone/>
            </a:pPr>
            <a:endParaRPr sz="1200">
              <a:solidFill>
                <a:srgbClr val="595959"/>
              </a:solidFill>
              <a:latin typeface="Open Sans Light"/>
              <a:ea typeface="Open Sans Light"/>
              <a:cs typeface="Open Sans Light"/>
              <a:sym typeface="Open Sans"/>
            </a:endParaRPr>
          </a:p>
          <a:p>
            <a:pPr marL="0" lvl="0" indent="0" algn="l" rtl="0">
              <a:spcBef>
                <a:spcPts val="0"/>
              </a:spcBef>
              <a:spcAft>
                <a:spcPts val="0"/>
              </a:spcAft>
              <a:buNone/>
            </a:pPr>
            <a:endParaRPr sz="900">
              <a:solidFill>
                <a:srgbClr val="595959"/>
              </a:solidFill>
              <a:latin typeface="Open Sans Light"/>
              <a:ea typeface="Open Sans Light"/>
              <a:cs typeface="Open Sans Light"/>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e5c346e52_0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ee5c346e52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ee5c346e52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ee5c346e52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e5c346e52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ee5c346e52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e5c346e52_0_3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ee5c346e52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19573923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f1957392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73758d5ee_0_208: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e73758d5ee_0_208: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f19573923f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f19573923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f19573923f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f19573923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ee5c346e52_0_408: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3ee5c346e52_0_408: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ee5c346e5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ee5c346e5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ee5c346e52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ee5c346e52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ee5c346e52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ee5c346e52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ee5c346e52_0_3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ee5c346e52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032316fa7_0_3: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f032316fa7_0_3: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ee5c346e52_0_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ee5c346e52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ee5c346e52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ee5c346e52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ee5c346e52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ee5c346e52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e5c346e52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ee5c346e52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ee5c346e52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ee5c346e52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ee5c346e52_0_3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ee5c346e52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ee5c346e52_0_421: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g3ee5c346e52_0_421: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ee2b09eb3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ee2b09eb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ee5c346e52_0_4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ee5c346e52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32301972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f3230197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7620000" cy="8574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Clr>
                <a:schemeClr val="dk2"/>
              </a:buClr>
              <a:buSzPts val="1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0"/>
            <a:ext cx="7620000" cy="3600600"/>
          </a:xfrm>
          <a:prstGeom prst="rect">
            <a:avLst/>
          </a:prstGeom>
          <a:noFill/>
          <a:ln>
            <a:noFill/>
          </a:ln>
        </p:spPr>
        <p:txBody>
          <a:bodyPr spcFirstLastPara="1" wrap="square" lIns="91425" tIns="45700" rIns="91425" bIns="45700" anchor="t" anchorCtr="0">
            <a:normAutofit/>
          </a:bodyPr>
          <a:lstStyle>
            <a:lvl1pPr marL="457200" lvl="0" indent="-342900" algn="l" rtl="0">
              <a:lnSpc>
                <a:spcPct val="115000"/>
              </a:lnSpc>
              <a:spcBef>
                <a:spcPts val="360"/>
              </a:spcBef>
              <a:spcAft>
                <a:spcPts val="0"/>
              </a:spcAft>
              <a:buSzPts val="1800"/>
              <a:buChar char="●"/>
              <a:defRPr/>
            </a:lvl1pPr>
            <a:lvl2pPr marL="914400" lvl="1" indent="-342900" algn="l" rtl="0">
              <a:lnSpc>
                <a:spcPct val="115000"/>
              </a:lnSpc>
              <a:spcBef>
                <a:spcPts val="1600"/>
              </a:spcBef>
              <a:spcAft>
                <a:spcPts val="0"/>
              </a:spcAft>
              <a:buSzPts val="1800"/>
              <a:buChar char="○"/>
              <a:defRPr/>
            </a:lvl2pPr>
            <a:lvl3pPr marL="1371600" lvl="2" indent="-342900" algn="l" rtl="0">
              <a:lnSpc>
                <a:spcPct val="115000"/>
              </a:lnSpc>
              <a:spcBef>
                <a:spcPts val="1600"/>
              </a:spcBef>
              <a:spcAft>
                <a:spcPts val="0"/>
              </a:spcAft>
              <a:buSzPts val="1800"/>
              <a:buChar char="■"/>
              <a:defRPr/>
            </a:lvl3pPr>
            <a:lvl4pPr marL="1828800" lvl="3" indent="-342900" algn="l" rtl="0">
              <a:lnSpc>
                <a:spcPct val="115000"/>
              </a:lnSpc>
              <a:spcBef>
                <a:spcPts val="1600"/>
              </a:spcBef>
              <a:spcAft>
                <a:spcPts val="0"/>
              </a:spcAft>
              <a:buSzPts val="1800"/>
              <a:buChar char="●"/>
              <a:defRPr/>
            </a:lvl4pPr>
            <a:lvl5pPr marL="2286000" lvl="4" indent="-342900" algn="l" rtl="0">
              <a:lnSpc>
                <a:spcPct val="115000"/>
              </a:lnSpc>
              <a:spcBef>
                <a:spcPts val="1600"/>
              </a:spcBef>
              <a:spcAft>
                <a:spcPts val="0"/>
              </a:spcAft>
              <a:buSzPts val="1800"/>
              <a:buChar char="○"/>
              <a:defRPr/>
            </a:lvl5pPr>
            <a:lvl6pPr marL="2743200" lvl="5" indent="-342900" algn="l" rtl="0">
              <a:lnSpc>
                <a:spcPct val="115000"/>
              </a:lnSpc>
              <a:spcBef>
                <a:spcPts val="1600"/>
              </a:spcBef>
              <a:spcAft>
                <a:spcPts val="0"/>
              </a:spcAft>
              <a:buSzPts val="1800"/>
              <a:buChar char="■"/>
              <a:defRPr/>
            </a:lvl6pPr>
            <a:lvl7pPr marL="3200400" lvl="6" indent="-342900" algn="l" rtl="0">
              <a:lnSpc>
                <a:spcPct val="115000"/>
              </a:lnSpc>
              <a:spcBef>
                <a:spcPts val="1600"/>
              </a:spcBef>
              <a:spcAft>
                <a:spcPts val="0"/>
              </a:spcAft>
              <a:buSzPts val="1800"/>
              <a:buChar char="●"/>
              <a:defRPr/>
            </a:lvl7pPr>
            <a:lvl8pPr marL="3657600" lvl="7" indent="-342900" algn="l" rtl="0">
              <a:lnSpc>
                <a:spcPct val="115000"/>
              </a:lnSpc>
              <a:spcBef>
                <a:spcPts val="1600"/>
              </a:spcBef>
              <a:spcAft>
                <a:spcPts val="0"/>
              </a:spcAft>
              <a:buSzPts val="1800"/>
              <a:buChar char="○"/>
              <a:defRPr/>
            </a:lvl8pPr>
            <a:lvl9pPr marL="4114800" lvl="8" indent="-342900" algn="l" rtl="0">
              <a:lnSpc>
                <a:spcPct val="115000"/>
              </a:lnSpc>
              <a:spcBef>
                <a:spcPts val="1600"/>
              </a:spcBef>
              <a:spcAft>
                <a:spcPts val="1600"/>
              </a:spcAft>
              <a:buSzPts val="1800"/>
              <a:buChar char="■"/>
              <a:defRPr/>
            </a:lvl9pPr>
          </a:lstStyle>
          <a:p>
            <a:endParaRPr/>
          </a:p>
        </p:txBody>
      </p:sp>
      <p:sp>
        <p:nvSpPr>
          <p:cNvPr id="53" name="Google Shape;53;p13"/>
          <p:cNvSpPr txBox="1">
            <a:spLocks noGrp="1"/>
          </p:cNvSpPr>
          <p:nvPr>
            <p:ph type="dt" idx="10"/>
          </p:nvPr>
        </p:nvSpPr>
        <p:spPr>
          <a:xfrm rot="-5400000">
            <a:off x="7856120" y="1188750"/>
            <a:ext cx="1828800" cy="365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rot="-5400000">
            <a:off x="7882820" y="2990910"/>
            <a:ext cx="1775400" cy="365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13"/>
          <p:cNvSpPr>
            <a:spLocks noGrp="1"/>
          </p:cNvSpPr>
          <p:nvPr>
            <p:ph type="sldNum" idx="12"/>
          </p:nvPr>
        </p:nvSpPr>
        <p:spPr>
          <a:xfrm>
            <a:off x="8531788" y="4236720"/>
            <a:ext cx="548700" cy="297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rmAutofit/>
          </a:bodyPr>
          <a:lstStyle>
            <a:lvl1pPr marL="0" marR="0" lvl="0"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master">
  <p:cSld name="DEFAULT-master">
    <p:spTree>
      <p:nvGrpSpPr>
        <p:cNvPr id="1"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e de titre 1">
  <p:cSld name="2_Diapositive de titre 2">
    <p:spTree>
      <p:nvGrpSpPr>
        <p:cNvPr id="1" name="Shape 57"/>
        <p:cNvGrpSpPr/>
        <p:nvPr/>
      </p:nvGrpSpPr>
      <p:grpSpPr>
        <a:xfrm>
          <a:off x="0" y="0"/>
          <a:ext cx="0" cy="0"/>
          <a:chOff x="0" y="0"/>
          <a:chExt cx="0" cy="0"/>
        </a:xfrm>
      </p:grpSpPr>
      <p:sp>
        <p:nvSpPr>
          <p:cNvPr id="58" name="Google Shape;58;p15"/>
          <p:cNvSpPr txBox="1">
            <a:spLocks noGrp="1"/>
          </p:cNvSpPr>
          <p:nvPr>
            <p:ph type="sldNum" idx="12"/>
          </p:nvPr>
        </p:nvSpPr>
        <p:spPr>
          <a:xfrm>
            <a:off x="457200" y="4767263"/>
            <a:ext cx="680700" cy="273900"/>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‹N°›</a:t>
            </a:fld>
            <a:endParaRPr/>
          </a:p>
        </p:txBody>
      </p:sp>
      <p:sp>
        <p:nvSpPr>
          <p:cNvPr id="59" name="Google Shape;59;p15"/>
          <p:cNvSpPr>
            <a:spLocks noGrp="1"/>
          </p:cNvSpPr>
          <p:nvPr>
            <p:ph type="pic" idx="2"/>
          </p:nvPr>
        </p:nvSpPr>
        <p:spPr>
          <a:xfrm>
            <a:off x="0" y="1338738"/>
            <a:ext cx="4507200" cy="2690400"/>
          </a:xfrm>
          <a:prstGeom prst="rect">
            <a:avLst/>
          </a:prstGeom>
          <a:gradFill>
            <a:gsLst>
              <a:gs pos="0">
                <a:schemeClr val="accent1"/>
              </a:gs>
              <a:gs pos="77600">
                <a:srgbClr val="C8C6F0"/>
              </a:gs>
              <a:gs pos="100000">
                <a:schemeClr val="lt1"/>
              </a:gs>
            </a:gsLst>
            <a:lin ang="5400012" scaled="0"/>
          </a:gradFill>
          <a:ln>
            <a:noFill/>
          </a:ln>
        </p:spPr>
      </p:sp>
      <p:sp>
        <p:nvSpPr>
          <p:cNvPr id="60" name="Google Shape;60;p15"/>
          <p:cNvSpPr txBox="1">
            <a:spLocks noGrp="1"/>
          </p:cNvSpPr>
          <p:nvPr>
            <p:ph type="body" idx="1"/>
          </p:nvPr>
        </p:nvSpPr>
        <p:spPr>
          <a:xfrm>
            <a:off x="4843463" y="1299320"/>
            <a:ext cx="3976800" cy="2077500"/>
          </a:xfrm>
          <a:prstGeom prst="rect">
            <a:avLst/>
          </a:prstGeom>
          <a:noFill/>
          <a:ln>
            <a:noFill/>
          </a:ln>
        </p:spPr>
        <p:txBody>
          <a:bodyPr spcFirstLastPara="1" wrap="square" lIns="68575" tIns="34275" rIns="68575" bIns="34275" anchor="t" anchorCtr="0">
            <a:spAutoFit/>
          </a:bodyPr>
          <a:lstStyle>
            <a:lvl1pPr marL="457200" lvl="0" indent="-228600" algn="l" rtl="0">
              <a:lnSpc>
                <a:spcPct val="100000"/>
              </a:lnSpc>
              <a:spcBef>
                <a:spcPts val="500"/>
              </a:spcBef>
              <a:spcAft>
                <a:spcPts val="0"/>
              </a:spcAft>
              <a:buSzPts val="2400"/>
              <a:buNone/>
              <a:defRPr sz="1800"/>
            </a:lvl1pPr>
            <a:lvl2pPr marL="914400" lvl="1" indent="-228600" algn="l" rtl="0">
              <a:lnSpc>
                <a:spcPct val="100000"/>
              </a:lnSpc>
              <a:spcBef>
                <a:spcPts val="900"/>
              </a:spcBef>
              <a:spcAft>
                <a:spcPts val="0"/>
              </a:spcAft>
              <a:buSzPts val="2100"/>
              <a:buNone/>
              <a:defRPr sz="2100">
                <a:solidFill>
                  <a:schemeClr val="accent1"/>
                </a:solidFill>
              </a:defRPr>
            </a:lvl2pPr>
            <a:lvl3pPr marL="1371600" lvl="2" indent="-342900" algn="l" rtl="0">
              <a:lnSpc>
                <a:spcPct val="100000"/>
              </a:lnSpc>
              <a:spcBef>
                <a:spcPts val="900"/>
              </a:spcBef>
              <a:spcAft>
                <a:spcPts val="0"/>
              </a:spcAft>
              <a:buClr>
                <a:schemeClr val="accent1"/>
              </a:buClr>
              <a:buSzPts val="1800"/>
              <a:buChar char="■"/>
              <a:defRPr sz="1800"/>
            </a:lvl3pPr>
            <a:lvl4pPr marL="1828800" lvl="3" indent="-228600" algn="l" rtl="0">
              <a:lnSpc>
                <a:spcPct val="100000"/>
              </a:lnSpc>
              <a:spcBef>
                <a:spcPts val="900"/>
              </a:spcBef>
              <a:spcAft>
                <a:spcPts val="0"/>
              </a:spcAft>
              <a:buSzPts val="1500"/>
              <a:buNone/>
              <a:defRPr sz="1500">
                <a:solidFill>
                  <a:schemeClr val="accent1"/>
                </a:solidFill>
              </a:defRPr>
            </a:lvl4pPr>
            <a:lvl5pPr marL="2286000" lvl="4" indent="-228600" algn="l" rtl="0">
              <a:lnSpc>
                <a:spcPct val="100000"/>
              </a:lnSpc>
              <a:spcBef>
                <a:spcPts val="500"/>
              </a:spcBef>
              <a:spcAft>
                <a:spcPts val="0"/>
              </a:spcAft>
              <a:buSzPts val="1500"/>
              <a:buNone/>
              <a:defRPr/>
            </a:lvl5pPr>
            <a:lvl6pPr marL="2743200" lvl="5" indent="-323850" algn="l" rtl="0">
              <a:lnSpc>
                <a:spcPct val="100000"/>
              </a:lnSpc>
              <a:spcBef>
                <a:spcPts val="500"/>
              </a:spcBef>
              <a:spcAft>
                <a:spcPts val="0"/>
              </a:spcAft>
              <a:buSzPts val="1500"/>
              <a:buChar char="■"/>
              <a:defRPr/>
            </a:lvl6pPr>
            <a:lvl7pPr marL="3200400" lvl="6" indent="-323850" algn="l" rtl="0">
              <a:lnSpc>
                <a:spcPct val="100000"/>
              </a:lnSpc>
              <a:spcBef>
                <a:spcPts val="300"/>
              </a:spcBef>
              <a:spcAft>
                <a:spcPts val="0"/>
              </a:spcAft>
              <a:buSzPts val="1500"/>
              <a:buChar char="●"/>
              <a:defRPr/>
            </a:lvl7pPr>
            <a:lvl8pPr marL="3657600" lvl="7" indent="-323850" algn="l" rtl="0">
              <a:lnSpc>
                <a:spcPct val="100000"/>
              </a:lnSpc>
              <a:spcBef>
                <a:spcPts val="300"/>
              </a:spcBef>
              <a:spcAft>
                <a:spcPts val="0"/>
              </a:spcAft>
              <a:buSzPts val="1500"/>
              <a:buChar char="○"/>
              <a:defRPr/>
            </a:lvl8pPr>
            <a:lvl9pPr marL="4114800" lvl="8" indent="-323850" algn="l" rtl="0">
              <a:lnSpc>
                <a:spcPct val="100000"/>
              </a:lnSpc>
              <a:spcBef>
                <a:spcPts val="300"/>
              </a:spcBef>
              <a:spcAft>
                <a:spcPts val="0"/>
              </a:spcAft>
              <a:buSzPts val="1500"/>
              <a:buChar char="■"/>
              <a:defRPr/>
            </a:lvl9pPr>
          </a:lstStyle>
          <a:p>
            <a:endParaRPr/>
          </a:p>
        </p:txBody>
      </p:sp>
      <p:sp>
        <p:nvSpPr>
          <p:cNvPr id="61" name="Google Shape;61;p15"/>
          <p:cNvSpPr txBox="1">
            <a:spLocks noGrp="1"/>
          </p:cNvSpPr>
          <p:nvPr>
            <p:ph type="ctrTitle"/>
          </p:nvPr>
        </p:nvSpPr>
        <p:spPr>
          <a:xfrm>
            <a:off x="447625" y="566006"/>
            <a:ext cx="7972800" cy="611700"/>
          </a:xfrm>
          <a:prstGeom prst="rect">
            <a:avLst/>
          </a:prstGeom>
          <a:noFill/>
          <a:ln>
            <a:noFill/>
          </a:ln>
        </p:spPr>
        <p:txBody>
          <a:bodyPr spcFirstLastPara="1" wrap="square" lIns="68575" tIns="34275" rIns="68575" bIns="34275" anchor="t" anchorCtr="0">
            <a:normAutofit/>
          </a:bodyPr>
          <a:lstStyle>
            <a:lvl1pPr lvl="0" algn="l" rtl="0">
              <a:lnSpc>
                <a:spcPct val="100000"/>
              </a:lnSpc>
              <a:spcBef>
                <a:spcPts val="0"/>
              </a:spcBef>
              <a:spcAft>
                <a:spcPts val="0"/>
              </a:spcAft>
              <a:buClr>
                <a:srgbClr val="0A00BE"/>
              </a:buClr>
              <a:buSzPts val="3300"/>
              <a:buFont typeface="Syne"/>
              <a:buNone/>
              <a:defRPr sz="3300">
                <a:solidFill>
                  <a:srgbClr val="0A00BE"/>
                </a:solidFill>
                <a:latin typeface="Syne Medium"/>
                <a:ea typeface="Syne Medium"/>
                <a:cs typeface="Syne Medium"/>
                <a:sym typeface="Syne Medium"/>
              </a:defRPr>
            </a:lvl1pPr>
            <a:lvl2pPr lvl="1" algn="l" rtl="0">
              <a:lnSpc>
                <a:spcPct val="100000"/>
              </a:lnSpc>
              <a:spcBef>
                <a:spcPts val="0"/>
              </a:spcBef>
              <a:spcAft>
                <a:spcPts val="0"/>
              </a:spcAft>
              <a:buSzPts val="1100"/>
              <a:buFont typeface="Syne"/>
              <a:buNone/>
              <a:defRPr>
                <a:latin typeface="Syne Medium"/>
                <a:ea typeface="Syne Medium"/>
                <a:cs typeface="Syne Medium"/>
                <a:sym typeface="Syne Medium"/>
              </a:defRPr>
            </a:lvl2pPr>
            <a:lvl3pPr lvl="2" algn="l" rtl="0">
              <a:lnSpc>
                <a:spcPct val="100000"/>
              </a:lnSpc>
              <a:spcBef>
                <a:spcPts val="0"/>
              </a:spcBef>
              <a:spcAft>
                <a:spcPts val="0"/>
              </a:spcAft>
              <a:buSzPts val="1100"/>
              <a:buFont typeface="Syne"/>
              <a:buNone/>
              <a:defRPr>
                <a:latin typeface="Syne Medium"/>
                <a:ea typeface="Syne Medium"/>
                <a:cs typeface="Syne Medium"/>
                <a:sym typeface="Syne Medium"/>
              </a:defRPr>
            </a:lvl3pPr>
            <a:lvl4pPr lvl="3" algn="l" rtl="0">
              <a:lnSpc>
                <a:spcPct val="100000"/>
              </a:lnSpc>
              <a:spcBef>
                <a:spcPts val="0"/>
              </a:spcBef>
              <a:spcAft>
                <a:spcPts val="0"/>
              </a:spcAft>
              <a:buSzPts val="1100"/>
              <a:buFont typeface="Syne"/>
              <a:buNone/>
              <a:defRPr>
                <a:latin typeface="Syne Medium"/>
                <a:ea typeface="Syne Medium"/>
                <a:cs typeface="Syne Medium"/>
                <a:sym typeface="Syne Medium"/>
              </a:defRPr>
            </a:lvl4pPr>
            <a:lvl5pPr lvl="4" algn="l" rtl="0">
              <a:lnSpc>
                <a:spcPct val="100000"/>
              </a:lnSpc>
              <a:spcBef>
                <a:spcPts val="0"/>
              </a:spcBef>
              <a:spcAft>
                <a:spcPts val="0"/>
              </a:spcAft>
              <a:buSzPts val="1100"/>
              <a:buFont typeface="Syne"/>
              <a:buNone/>
              <a:defRPr>
                <a:latin typeface="Syne Medium"/>
                <a:ea typeface="Syne Medium"/>
                <a:cs typeface="Syne Medium"/>
                <a:sym typeface="Syne Medium"/>
              </a:defRPr>
            </a:lvl5pPr>
            <a:lvl6pPr lvl="5" algn="l" rtl="0">
              <a:lnSpc>
                <a:spcPct val="100000"/>
              </a:lnSpc>
              <a:spcBef>
                <a:spcPts val="0"/>
              </a:spcBef>
              <a:spcAft>
                <a:spcPts val="0"/>
              </a:spcAft>
              <a:buSzPts val="1100"/>
              <a:buFont typeface="Syne"/>
              <a:buNone/>
              <a:defRPr>
                <a:latin typeface="Syne Medium"/>
                <a:ea typeface="Syne Medium"/>
                <a:cs typeface="Syne Medium"/>
                <a:sym typeface="Syne Medium"/>
              </a:defRPr>
            </a:lvl6pPr>
            <a:lvl7pPr lvl="6" algn="l" rtl="0">
              <a:lnSpc>
                <a:spcPct val="100000"/>
              </a:lnSpc>
              <a:spcBef>
                <a:spcPts val="0"/>
              </a:spcBef>
              <a:spcAft>
                <a:spcPts val="0"/>
              </a:spcAft>
              <a:buSzPts val="1100"/>
              <a:buFont typeface="Syne"/>
              <a:buNone/>
              <a:defRPr>
                <a:latin typeface="Syne Medium"/>
                <a:ea typeface="Syne Medium"/>
                <a:cs typeface="Syne Medium"/>
                <a:sym typeface="Syne Medium"/>
              </a:defRPr>
            </a:lvl7pPr>
            <a:lvl8pPr lvl="7" algn="l" rtl="0">
              <a:lnSpc>
                <a:spcPct val="100000"/>
              </a:lnSpc>
              <a:spcBef>
                <a:spcPts val="0"/>
              </a:spcBef>
              <a:spcAft>
                <a:spcPts val="0"/>
              </a:spcAft>
              <a:buSzPts val="1100"/>
              <a:buFont typeface="Syne"/>
              <a:buNone/>
              <a:defRPr>
                <a:latin typeface="Syne Medium"/>
                <a:ea typeface="Syne Medium"/>
                <a:cs typeface="Syne Medium"/>
                <a:sym typeface="Syne Medium"/>
              </a:defRPr>
            </a:lvl8pPr>
            <a:lvl9pPr lvl="8" algn="l" rtl="0">
              <a:lnSpc>
                <a:spcPct val="100000"/>
              </a:lnSpc>
              <a:spcBef>
                <a:spcPts val="0"/>
              </a:spcBef>
              <a:spcAft>
                <a:spcPts val="0"/>
              </a:spcAft>
              <a:buSzPts val="1100"/>
              <a:buFont typeface="Syne"/>
              <a:buNone/>
              <a:defRPr>
                <a:latin typeface="Syne Medium"/>
                <a:ea typeface="Syne Medium"/>
                <a:cs typeface="Syne Medium"/>
                <a:sym typeface="Syne Medium"/>
              </a:defRPr>
            </a:lvl9pPr>
          </a:lstStyle>
          <a:p>
            <a:endParaRPr/>
          </a:p>
        </p:txBody>
      </p:sp>
    </p:spTree>
  </p:cSld>
  <p:clrMapOvr>
    <a:masterClrMapping/>
  </p:clrMapOvr>
  <p:extLst>
    <p:ext uri="{DCECCB84-F9BA-43D5-87BE-67443E8EF086}">
      <p15:sldGuideLst xmlns:p15="http://schemas.microsoft.com/office/powerpoint/2012/main">
        <p15:guide id="1" orient="horz" pos="344">
          <p15:clr>
            <a:srgbClr val="FBAE40"/>
          </p15:clr>
        </p15:guide>
        <p15:guide id="2" pos="2880">
          <p15:clr>
            <a:srgbClr val="FBAE40"/>
          </p15:clr>
        </p15:guide>
        <p15:guide id="3" pos="216">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hyperlink" Target="https://teams.microsoft.com/l/channel/19%3Awdxj2SnQd6cFPzxXhNLouLwEA8sWaYNLvThq9gkUQGg1%40thread.tacv2/SOUVERAINETE%20-%20BMC%20CH12?groupId=747d3c32-d74b-4a25-8542-2e331b4337bf&amp;tenantId=991e74ec-bce4-4509-99e0-80a17b0f56ea&amp;ngc=true" TargetMode="External"/><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45.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6"/>
          <p:cNvSpPr txBox="1"/>
          <p:nvPr/>
        </p:nvSpPr>
        <p:spPr>
          <a:xfrm>
            <a:off x="490050" y="1674750"/>
            <a:ext cx="4173000" cy="2077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en" sz="1700">
                <a:solidFill>
                  <a:schemeClr val="dk1"/>
                </a:solidFill>
                <a:latin typeface="Open Sans Light"/>
                <a:ea typeface="Open Sans Light"/>
                <a:cs typeface="Open Sans Light"/>
                <a:sym typeface="Open Sans"/>
              </a:rPr>
              <a:t>Chantier 12</a:t>
            </a:r>
            <a:endParaRPr sz="17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Clr>
                <a:srgbClr val="000000"/>
              </a:buClr>
              <a:buSzPts val="2000"/>
              <a:buFont typeface="Arial"/>
              <a:buNone/>
            </a:pPr>
            <a:r>
              <a:rPr lang="en" sz="2000" b="1">
                <a:solidFill>
                  <a:srgbClr val="1200C5"/>
                </a:solidFill>
                <a:latin typeface="Open Sans ExtraBold"/>
                <a:ea typeface="Open Sans ExtraBold"/>
                <a:cs typeface="Open Sans ExtraBold"/>
                <a:sym typeface="Open Sans"/>
              </a:rPr>
              <a:t>Souveraineté numérique de la région de Bruxelles-Capitale</a:t>
            </a:r>
            <a:endParaRPr sz="2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Clr>
                <a:srgbClr val="000000"/>
              </a:buClr>
              <a:buSzPts val="2000"/>
              <a:buFont typeface="Arial"/>
              <a:buNone/>
            </a:pPr>
            <a:endParaRPr sz="2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Clr>
                <a:srgbClr val="000000"/>
              </a:buClr>
              <a:buSzPts val="2000"/>
              <a:buFont typeface="Arial"/>
              <a:buNone/>
            </a:pPr>
            <a:r>
              <a:rPr lang="en" sz="1600">
                <a:solidFill>
                  <a:srgbClr val="595959"/>
                </a:solidFill>
                <a:latin typeface="Open Sans Light"/>
                <a:ea typeface="Open Sans Light"/>
                <a:cs typeface="Open Sans Light"/>
                <a:sym typeface="Open Sans Light"/>
              </a:rPr>
              <a:t>Workshop #1 - 23 juin 26</a:t>
            </a:r>
            <a:endParaRPr sz="1600">
              <a:solidFill>
                <a:srgbClr val="595959"/>
              </a:solidFill>
              <a:latin typeface="Open Sans Light"/>
              <a:ea typeface="Open Sans Light"/>
              <a:cs typeface="Open Sans Light"/>
              <a:sym typeface="Open Sans Light"/>
            </a:endParaRPr>
          </a:p>
          <a:p>
            <a:pPr marL="0" lvl="0" indent="0" algn="l" rtl="0">
              <a:lnSpc>
                <a:spcPct val="115000"/>
              </a:lnSpc>
              <a:spcBef>
                <a:spcPts val="0"/>
              </a:spcBef>
              <a:spcAft>
                <a:spcPts val="0"/>
              </a:spcAft>
              <a:buClr>
                <a:schemeClr val="dk1"/>
              </a:buClr>
              <a:buSzPts val="2000"/>
              <a:buFont typeface="Arial"/>
              <a:buNone/>
            </a:pPr>
            <a:r>
              <a:rPr lang="en" sz="1600">
                <a:solidFill>
                  <a:schemeClr val="dk2"/>
                </a:solidFill>
                <a:latin typeface="Open Sans Light"/>
                <a:ea typeface="Open Sans Light"/>
                <a:cs typeface="Open Sans Light"/>
                <a:sym typeface="Open Sans Light"/>
              </a:rPr>
              <a:t>Workshop #2 - 24 juin 26</a:t>
            </a:r>
            <a:endParaRPr sz="1600">
              <a:solidFill>
                <a:srgbClr val="595959"/>
              </a:solidFill>
              <a:latin typeface="Open Sans Light"/>
              <a:ea typeface="Open Sans Light"/>
              <a:cs typeface="Open Sans Light"/>
              <a:sym typeface="Open Sans Light"/>
            </a:endParaRPr>
          </a:p>
        </p:txBody>
      </p:sp>
      <p:pic>
        <p:nvPicPr>
          <p:cNvPr id="67" name="Google Shape;67;p1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44225" y="320200"/>
            <a:ext cx="978200" cy="468650"/>
          </a:xfrm>
          <a:prstGeom prst="rect">
            <a:avLst/>
          </a:prstGeom>
          <a:noFill/>
          <a:ln>
            <a:noFill/>
          </a:ln>
        </p:spPr>
      </p:pic>
      <p:pic>
        <p:nvPicPr>
          <p:cNvPr id="68" name="Google Shape;68;p1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799625" y="3619150"/>
            <a:ext cx="1495375" cy="607924"/>
          </a:xfrm>
          <a:prstGeom prst="rect">
            <a:avLst/>
          </a:prstGeom>
          <a:noFill/>
          <a:ln>
            <a:noFill/>
          </a:ln>
        </p:spPr>
      </p:pic>
      <p:pic>
        <p:nvPicPr>
          <p:cNvPr id="69" name="Google Shape;69;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80330" y="1198950"/>
            <a:ext cx="5120700" cy="2745600"/>
          </a:xfrm>
          <a:prstGeom prst="roundRect">
            <a:avLst>
              <a:gd name="adj" fmla="val 50000"/>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7"/>
          <p:cNvSpPr txBox="1"/>
          <p:nvPr/>
        </p:nvSpPr>
        <p:spPr>
          <a:xfrm>
            <a:off x="584100" y="273625"/>
            <a:ext cx="7975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Tour de table (15 mn)</a:t>
            </a:r>
            <a:endParaRPr sz="1600" b="1">
              <a:solidFill>
                <a:srgbClr val="0A00BE"/>
              </a:solidFill>
              <a:latin typeface="Open Sans ExtraBold"/>
              <a:ea typeface="Open Sans ExtraBold"/>
              <a:cs typeface="Open Sans ExtraBold"/>
              <a:sym typeface="Open Sans"/>
            </a:endParaRPr>
          </a:p>
        </p:txBody>
      </p:sp>
      <p:sp>
        <p:nvSpPr>
          <p:cNvPr id="75" name="Google Shape;75;p17"/>
          <p:cNvSpPr txBox="1"/>
          <p:nvPr/>
        </p:nvSpPr>
        <p:spPr>
          <a:xfrm>
            <a:off x="743425" y="1273175"/>
            <a:ext cx="3510300" cy="17469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Syne"/>
              <a:buChar char="❖"/>
            </a:pPr>
            <a:r>
              <a:rPr lang="en" sz="1600">
                <a:solidFill>
                  <a:schemeClr val="dk1"/>
                </a:solidFill>
                <a:latin typeface="Syne"/>
                <a:ea typeface="Syne"/>
                <a:cs typeface="Syne"/>
                <a:sym typeface="Syne"/>
              </a:rPr>
              <a:t>Votre nom, votre fonction actuelle </a:t>
            </a:r>
            <a:endParaRPr sz="1600">
              <a:solidFill>
                <a:schemeClr val="dk1"/>
              </a:solidFill>
              <a:latin typeface="Syne"/>
              <a:ea typeface="Syne"/>
              <a:cs typeface="Syne"/>
              <a:sym typeface="Syne"/>
            </a:endParaRPr>
          </a:p>
          <a:p>
            <a:pPr marL="457200" lvl="0" indent="0" algn="l" rtl="0">
              <a:spcBef>
                <a:spcPts val="0"/>
              </a:spcBef>
              <a:spcAft>
                <a:spcPts val="0"/>
              </a:spcAft>
              <a:buNone/>
            </a:pPr>
            <a:endParaRPr sz="1600">
              <a:solidFill>
                <a:schemeClr val="dk1"/>
              </a:solidFill>
              <a:latin typeface="Syne"/>
              <a:ea typeface="Syne"/>
              <a:cs typeface="Syne"/>
              <a:sym typeface="Syne"/>
            </a:endParaRPr>
          </a:p>
          <a:p>
            <a:pPr marL="457200" lvl="0" indent="-330200" algn="l" rtl="0">
              <a:spcBef>
                <a:spcPts val="0"/>
              </a:spcBef>
              <a:spcAft>
                <a:spcPts val="0"/>
              </a:spcAft>
              <a:buClr>
                <a:schemeClr val="dk1"/>
              </a:buClr>
              <a:buSzPts val="1600"/>
              <a:buFont typeface="Syne"/>
              <a:buChar char="❖"/>
            </a:pPr>
            <a:r>
              <a:rPr lang="en" sz="1600">
                <a:solidFill>
                  <a:schemeClr val="dk1"/>
                </a:solidFill>
                <a:latin typeface="Syne"/>
                <a:ea typeface="Syne"/>
                <a:cs typeface="Syne"/>
                <a:sym typeface="Syne"/>
              </a:rPr>
              <a:t>Votre motivation par rapport au sujet </a:t>
            </a:r>
            <a:endParaRPr sz="1600">
              <a:solidFill>
                <a:schemeClr val="dk1"/>
              </a:solidFill>
              <a:latin typeface="Syne"/>
              <a:ea typeface="Syne"/>
              <a:cs typeface="Syne"/>
              <a:sym typeface="Syne"/>
            </a:endParaRPr>
          </a:p>
          <a:p>
            <a:pPr marL="457200" lvl="0" indent="0" algn="l" rtl="0">
              <a:spcBef>
                <a:spcPts val="0"/>
              </a:spcBef>
              <a:spcAft>
                <a:spcPts val="0"/>
              </a:spcAft>
              <a:buNone/>
            </a:pPr>
            <a:endParaRPr sz="1600">
              <a:solidFill>
                <a:schemeClr val="dk1"/>
              </a:solidFill>
              <a:latin typeface="Syne"/>
              <a:ea typeface="Syne"/>
              <a:cs typeface="Syne"/>
              <a:sym typeface="Syne"/>
            </a:endParaRPr>
          </a:p>
          <a:p>
            <a:pPr marL="457200" lvl="0" indent="-330200" algn="l" rtl="0">
              <a:spcBef>
                <a:spcPts val="0"/>
              </a:spcBef>
              <a:spcAft>
                <a:spcPts val="0"/>
              </a:spcAft>
              <a:buClr>
                <a:schemeClr val="dk1"/>
              </a:buClr>
              <a:buSzPts val="1600"/>
              <a:buFont typeface="Syne"/>
              <a:buChar char="❖"/>
            </a:pPr>
            <a:r>
              <a:rPr lang="en" sz="1600">
                <a:solidFill>
                  <a:schemeClr val="dk1"/>
                </a:solidFill>
                <a:latin typeface="Syne"/>
                <a:ea typeface="Syne"/>
                <a:cs typeface="Syne"/>
                <a:sym typeface="Syne"/>
              </a:rPr>
              <a:t>Vos attentes : qu’est-ce qui vous fera dire que ce workshop a été productif /constructif ?</a:t>
            </a:r>
            <a:endParaRPr sz="1600">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b="1">
              <a:solidFill>
                <a:schemeClr val="dk1"/>
              </a:solidFill>
              <a:latin typeface="Syne"/>
              <a:ea typeface="Syne"/>
              <a:cs typeface="Syne"/>
              <a:sym typeface="Syne"/>
            </a:endParaRPr>
          </a:p>
        </p:txBody>
      </p:sp>
      <p:pic>
        <p:nvPicPr>
          <p:cNvPr id="76" name="Google Shape;76;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38800" y="1665412"/>
            <a:ext cx="4316126" cy="1888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p:nvPr/>
        </p:nvSpPr>
        <p:spPr>
          <a:xfrm>
            <a:off x="584100" y="273625"/>
            <a:ext cx="7975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Intentions du workshop</a:t>
            </a:r>
            <a:endParaRPr sz="1600" b="1">
              <a:solidFill>
                <a:srgbClr val="0A00BE"/>
              </a:solidFill>
              <a:latin typeface="Open Sans ExtraBold"/>
              <a:ea typeface="Open Sans ExtraBold"/>
              <a:cs typeface="Open Sans ExtraBold"/>
              <a:sym typeface="Open Sans"/>
            </a:endParaRPr>
          </a:p>
        </p:txBody>
      </p:sp>
      <p:sp>
        <p:nvSpPr>
          <p:cNvPr id="82" name="Google Shape;82;p18"/>
          <p:cNvSpPr txBox="1"/>
          <p:nvPr/>
        </p:nvSpPr>
        <p:spPr>
          <a:xfrm>
            <a:off x="743425" y="1273175"/>
            <a:ext cx="5072400" cy="17469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Syne"/>
              <a:buChar char="❖"/>
            </a:pPr>
            <a:r>
              <a:rPr lang="en" sz="1600">
                <a:solidFill>
                  <a:schemeClr val="dk1"/>
                </a:solidFill>
                <a:latin typeface="Syne"/>
                <a:ea typeface="Syne"/>
                <a:cs typeface="Syne"/>
                <a:sym typeface="Syne"/>
              </a:rPr>
              <a:t>Revoir les </a:t>
            </a:r>
            <a:r>
              <a:rPr lang="en" sz="1600" b="1">
                <a:solidFill>
                  <a:schemeClr val="dk1"/>
                </a:solidFill>
                <a:latin typeface="Syne"/>
                <a:ea typeface="Syne"/>
                <a:cs typeface="Syne"/>
                <a:sym typeface="Syne"/>
              </a:rPr>
              <a:t>enjeux</a:t>
            </a:r>
            <a:r>
              <a:rPr lang="en" sz="1600">
                <a:solidFill>
                  <a:schemeClr val="dk1"/>
                </a:solidFill>
                <a:latin typeface="Syne"/>
                <a:ea typeface="Syne"/>
                <a:cs typeface="Syne"/>
                <a:sym typeface="Syne"/>
              </a:rPr>
              <a:t> du chantier 12</a:t>
            </a:r>
            <a:endParaRPr sz="1600">
              <a:solidFill>
                <a:schemeClr val="dk1"/>
              </a:solidFill>
              <a:latin typeface="Syne"/>
              <a:ea typeface="Syne"/>
              <a:cs typeface="Syne"/>
              <a:sym typeface="Syne"/>
            </a:endParaRPr>
          </a:p>
          <a:p>
            <a:pPr marL="457200" lvl="0" indent="-330200" algn="l" rtl="0">
              <a:spcBef>
                <a:spcPts val="800"/>
              </a:spcBef>
              <a:spcAft>
                <a:spcPts val="0"/>
              </a:spcAft>
              <a:buClr>
                <a:schemeClr val="dk1"/>
              </a:buClr>
              <a:buSzPts val="1600"/>
              <a:buFont typeface="Syne"/>
              <a:buChar char="❖"/>
            </a:pPr>
            <a:r>
              <a:rPr lang="en" sz="1600">
                <a:solidFill>
                  <a:schemeClr val="dk1"/>
                </a:solidFill>
                <a:latin typeface="Syne"/>
                <a:ea typeface="Syne"/>
                <a:cs typeface="Syne"/>
                <a:sym typeface="Syne"/>
              </a:rPr>
              <a:t>Challenger les </a:t>
            </a:r>
            <a:r>
              <a:rPr lang="en" sz="1600" b="1">
                <a:solidFill>
                  <a:schemeClr val="dk1"/>
                </a:solidFill>
                <a:latin typeface="Syne"/>
                <a:ea typeface="Syne"/>
                <a:cs typeface="Syne"/>
                <a:sym typeface="Syne"/>
              </a:rPr>
              <a:t>objectifs</a:t>
            </a:r>
            <a:endParaRPr sz="1600" b="1">
              <a:solidFill>
                <a:schemeClr val="dk1"/>
              </a:solidFill>
              <a:latin typeface="Syne"/>
              <a:ea typeface="Syne"/>
              <a:cs typeface="Syne"/>
              <a:sym typeface="Syne"/>
            </a:endParaRPr>
          </a:p>
          <a:p>
            <a:pPr marL="457200" lvl="0" indent="-330200" algn="l" rtl="0">
              <a:spcBef>
                <a:spcPts val="800"/>
              </a:spcBef>
              <a:spcAft>
                <a:spcPts val="0"/>
              </a:spcAft>
              <a:buClr>
                <a:schemeClr val="dk1"/>
              </a:buClr>
              <a:buSzPts val="1600"/>
              <a:buFont typeface="Syne"/>
              <a:buChar char="❖"/>
            </a:pPr>
            <a:r>
              <a:rPr lang="en" sz="1600">
                <a:solidFill>
                  <a:schemeClr val="dk1"/>
                </a:solidFill>
                <a:latin typeface="Syne"/>
                <a:ea typeface="Syne"/>
                <a:cs typeface="Syne"/>
                <a:sym typeface="Syne"/>
              </a:rPr>
              <a:t>Définir les </a:t>
            </a:r>
            <a:r>
              <a:rPr lang="en" sz="1600" b="1">
                <a:solidFill>
                  <a:schemeClr val="dk1"/>
                </a:solidFill>
                <a:latin typeface="Syne"/>
                <a:ea typeface="Syne"/>
                <a:cs typeface="Syne"/>
                <a:sym typeface="Syne"/>
              </a:rPr>
              <a:t>livrables</a:t>
            </a:r>
            <a:endParaRPr sz="1600" b="1">
              <a:solidFill>
                <a:schemeClr val="dk1"/>
              </a:solidFill>
              <a:latin typeface="Syne"/>
              <a:ea typeface="Syne"/>
              <a:cs typeface="Syne"/>
              <a:sym typeface="Syne"/>
            </a:endParaRPr>
          </a:p>
          <a:p>
            <a:pPr marL="457200" lvl="0" indent="-330200" algn="l" rtl="0">
              <a:spcBef>
                <a:spcPts val="800"/>
              </a:spcBef>
              <a:spcAft>
                <a:spcPts val="0"/>
              </a:spcAft>
              <a:buClr>
                <a:schemeClr val="dk1"/>
              </a:buClr>
              <a:buSzPts val="1600"/>
              <a:buFont typeface="Syne"/>
              <a:buChar char="❖"/>
            </a:pPr>
            <a:r>
              <a:rPr lang="en" sz="1600">
                <a:solidFill>
                  <a:schemeClr val="dk1"/>
                </a:solidFill>
                <a:latin typeface="Syne"/>
                <a:ea typeface="Syne"/>
                <a:cs typeface="Syne"/>
                <a:sym typeface="Syne"/>
              </a:rPr>
              <a:t>Identifier les </a:t>
            </a:r>
            <a:r>
              <a:rPr lang="en" sz="1600" b="1">
                <a:solidFill>
                  <a:schemeClr val="dk1"/>
                </a:solidFill>
                <a:latin typeface="Syne"/>
                <a:ea typeface="Syne"/>
                <a:cs typeface="Syne"/>
                <a:sym typeface="Syne"/>
              </a:rPr>
              <a:t>compétences</a:t>
            </a:r>
            <a:r>
              <a:rPr lang="en" sz="1600">
                <a:solidFill>
                  <a:schemeClr val="dk1"/>
                </a:solidFill>
                <a:latin typeface="Syne"/>
                <a:ea typeface="Syne"/>
                <a:cs typeface="Syne"/>
                <a:sym typeface="Syne"/>
              </a:rPr>
              <a:t> du Groupe de Travail</a:t>
            </a:r>
            <a:endParaRPr sz="1600">
              <a:solidFill>
                <a:schemeClr val="dk1"/>
              </a:solidFill>
              <a:latin typeface="Syne"/>
              <a:ea typeface="Syne"/>
              <a:cs typeface="Syne"/>
              <a:sym typeface="Syne"/>
            </a:endParaRPr>
          </a:p>
          <a:p>
            <a:pPr marL="457200" lvl="0" indent="-330200" algn="l" rtl="0">
              <a:spcBef>
                <a:spcPts val="800"/>
              </a:spcBef>
              <a:spcAft>
                <a:spcPts val="0"/>
              </a:spcAft>
              <a:buClr>
                <a:schemeClr val="dk1"/>
              </a:buClr>
              <a:buSzPts val="1600"/>
              <a:buFont typeface="Syne"/>
              <a:buChar char="❖"/>
            </a:pPr>
            <a:r>
              <a:rPr lang="en" sz="1600" b="1">
                <a:solidFill>
                  <a:schemeClr val="dk1"/>
                </a:solidFill>
                <a:latin typeface="Syne"/>
                <a:ea typeface="Syne"/>
                <a:cs typeface="Syne"/>
                <a:sym typeface="Syne"/>
              </a:rPr>
              <a:t>Tisser des liens</a:t>
            </a:r>
            <a:r>
              <a:rPr lang="en" sz="1600">
                <a:solidFill>
                  <a:schemeClr val="dk1"/>
                </a:solidFill>
                <a:latin typeface="Syne"/>
                <a:ea typeface="Syne"/>
                <a:cs typeface="Syne"/>
                <a:sym typeface="Syne"/>
              </a:rPr>
              <a:t> entre nous par un événement en présentiel</a:t>
            </a:r>
            <a:endParaRPr sz="1600">
              <a:solidFill>
                <a:schemeClr val="dk1"/>
              </a:solidFill>
              <a:latin typeface="Syne"/>
              <a:ea typeface="Syne"/>
              <a:cs typeface="Syne"/>
              <a:sym typeface="Syne"/>
            </a:endParaRPr>
          </a:p>
          <a:p>
            <a:pPr marL="0" lvl="0" indent="0" algn="l" rtl="0">
              <a:spcBef>
                <a:spcPts val="80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b="1">
              <a:solidFill>
                <a:schemeClr val="dk1"/>
              </a:solidFill>
              <a:latin typeface="Syne"/>
              <a:ea typeface="Syne"/>
              <a:cs typeface="Syne"/>
              <a:sym typeface="Syne"/>
            </a:endParaRPr>
          </a:p>
        </p:txBody>
      </p:sp>
      <p:pic>
        <p:nvPicPr>
          <p:cNvPr id="83" name="Google Shape;83;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968225" y="857125"/>
            <a:ext cx="3023375" cy="302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00C5"/>
        </a:solidFill>
        <a:effectLst/>
      </p:bgPr>
    </p:bg>
    <p:spTree>
      <p:nvGrpSpPr>
        <p:cNvPr id="1" name="Shape 87"/>
        <p:cNvGrpSpPr/>
        <p:nvPr/>
      </p:nvGrpSpPr>
      <p:grpSpPr>
        <a:xfrm>
          <a:off x="0" y="0"/>
          <a:ext cx="0" cy="0"/>
          <a:chOff x="0" y="0"/>
          <a:chExt cx="0" cy="0"/>
        </a:xfrm>
      </p:grpSpPr>
      <p:sp>
        <p:nvSpPr>
          <p:cNvPr id="88" name="Google Shape;88;p19"/>
          <p:cNvSpPr txBox="1"/>
          <p:nvPr/>
        </p:nvSpPr>
        <p:spPr>
          <a:xfrm>
            <a:off x="947500" y="2091500"/>
            <a:ext cx="55365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400" b="1">
                <a:solidFill>
                  <a:schemeClr val="lt1"/>
                </a:solidFill>
                <a:latin typeface="Open Sans ExtraBold"/>
                <a:ea typeface="Open Sans ExtraBold"/>
                <a:cs typeface="Open Sans ExtraBold"/>
                <a:sym typeface="Open Sans"/>
              </a:rPr>
              <a:t>Contexte</a:t>
            </a:r>
            <a:endParaRPr sz="2200" i="0" u="none" strike="noStrike" cap="none">
              <a:solidFill>
                <a:schemeClr val="lt1"/>
              </a:solidFill>
              <a:latin typeface="Open Sans Light"/>
              <a:ea typeface="Open Sans Light"/>
              <a:cs typeface="Open Sans Light"/>
              <a:sym typeface="Open Sans"/>
            </a:endParaRPr>
          </a:p>
        </p:txBody>
      </p:sp>
      <p:pic>
        <p:nvPicPr>
          <p:cNvPr id="89" name="Google Shape;89;p1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7500" y="548750"/>
            <a:ext cx="1853149" cy="753375"/>
          </a:xfrm>
          <a:prstGeom prst="rect">
            <a:avLst/>
          </a:prstGeom>
          <a:noFill/>
          <a:ln>
            <a:noFill/>
          </a:ln>
        </p:spPr>
      </p:pic>
      <p:pic>
        <p:nvPicPr>
          <p:cNvPr id="90" name="Google Shape;90;p1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36400" y="152400"/>
            <a:ext cx="1981365" cy="48387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p:nvPr/>
        </p:nvSpPr>
        <p:spPr>
          <a:xfrm>
            <a:off x="358400" y="352075"/>
            <a:ext cx="5126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0A00BE"/>
                </a:solidFill>
                <a:latin typeface="Open Sans ExtraBold"/>
                <a:ea typeface="Open Sans ExtraBold"/>
                <a:cs typeface="Open Sans ExtraBold"/>
                <a:sym typeface="Open Sans"/>
              </a:rPr>
              <a:t>Qu’est-ce que la souveraineté numérique ?</a:t>
            </a:r>
            <a:endParaRPr sz="1600" b="1">
              <a:solidFill>
                <a:srgbClr val="0A00BE"/>
              </a:solidFill>
              <a:latin typeface="Open Sans ExtraBold"/>
              <a:ea typeface="Open Sans ExtraBold"/>
              <a:cs typeface="Open Sans ExtraBold"/>
              <a:sym typeface="Open Sans"/>
            </a:endParaRPr>
          </a:p>
        </p:txBody>
      </p:sp>
      <p:sp>
        <p:nvSpPr>
          <p:cNvPr id="96" name="Google Shape;96;p20"/>
          <p:cNvSpPr txBox="1"/>
          <p:nvPr/>
        </p:nvSpPr>
        <p:spPr>
          <a:xfrm>
            <a:off x="453275" y="969950"/>
            <a:ext cx="4766400" cy="332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Open Sans Light"/>
                <a:ea typeface="Open Sans Light"/>
                <a:cs typeface="Open Sans Light"/>
                <a:sym typeface="Open Sans"/>
              </a:rPr>
              <a:t>La souveraineté numérique désigne la </a:t>
            </a:r>
            <a:r>
              <a:rPr lang="en" b="1">
                <a:solidFill>
                  <a:schemeClr val="accent2"/>
                </a:solidFill>
                <a:latin typeface="Open Sans ExtraBold"/>
                <a:ea typeface="Open Sans ExtraBold"/>
                <a:cs typeface="Open Sans ExtraBold"/>
                <a:sym typeface="Open Sans"/>
              </a:rPr>
              <a:t>capacité à décider, opérer et sécuriser</a:t>
            </a:r>
            <a:r>
              <a:rPr lang="en">
                <a:solidFill>
                  <a:schemeClr val="accent2"/>
                </a:solidFill>
                <a:latin typeface="Open Sans Light"/>
                <a:ea typeface="Open Sans Light"/>
                <a:cs typeface="Open Sans Light"/>
                <a:sym typeface="Open Sans"/>
              </a:rPr>
              <a:t> ses services numériques sans dépendance critique non maîtrisée ni ingérence externe.</a:t>
            </a:r>
            <a:endParaRPr>
              <a:solidFill>
                <a:schemeClr val="accent2"/>
              </a:solidFill>
              <a:latin typeface="Open Sans Light"/>
              <a:ea typeface="Open Sans Light"/>
              <a:cs typeface="Open Sans Light"/>
              <a:sym typeface="Open Sans"/>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a:rPr>
              <a:t>Elle concerne  </a:t>
            </a:r>
            <a:r>
              <a:rPr lang="en" b="1">
                <a:solidFill>
                  <a:schemeClr val="dk1"/>
                </a:solidFill>
                <a:latin typeface="Open Sans ExtraBold"/>
                <a:ea typeface="Open Sans ExtraBold"/>
                <a:cs typeface="Open Sans ExtraBold"/>
                <a:sym typeface="Open Sans"/>
              </a:rPr>
              <a:t>l’ensemble des éléments </a:t>
            </a:r>
            <a:r>
              <a:rPr lang="en">
                <a:solidFill>
                  <a:schemeClr val="dk1"/>
                </a:solidFill>
                <a:latin typeface="Open Sans Light"/>
                <a:ea typeface="Open Sans Light"/>
                <a:cs typeface="Open Sans Light"/>
                <a:sym typeface="Open Sans"/>
              </a:rPr>
              <a:t>qui rendent possible un service numérique :</a:t>
            </a:r>
            <a:endParaRPr>
              <a:solidFill>
                <a:schemeClr val="dk1"/>
              </a:solidFill>
              <a:latin typeface="Open Sans Light"/>
              <a:ea typeface="Open Sans Light"/>
              <a:cs typeface="Open Sans Light"/>
              <a:sym typeface="Open Sans"/>
            </a:endParaRPr>
          </a:p>
          <a:p>
            <a:pPr marL="457200" lvl="0" indent="-317500" algn="l" rtl="0">
              <a:lnSpc>
                <a:spcPct val="115000"/>
              </a:lnSpc>
              <a:spcBef>
                <a:spcPts val="1200"/>
              </a:spcBef>
              <a:spcAft>
                <a:spcPts val="0"/>
              </a:spcAft>
              <a:buClr>
                <a:schemeClr val="dk1"/>
              </a:buClr>
              <a:buSzPts val="1400"/>
              <a:buFont typeface="Open Sans"/>
              <a:buChar char="-"/>
            </a:pPr>
            <a:r>
              <a:rPr lang="en">
                <a:solidFill>
                  <a:schemeClr val="accent2"/>
                </a:solidFill>
                <a:latin typeface="Open Sans Light"/>
                <a:ea typeface="Open Sans Light"/>
                <a:cs typeface="Open Sans Light"/>
                <a:sym typeface="Open Sans"/>
              </a:rPr>
              <a:t>Données</a:t>
            </a:r>
            <a:endParaRPr>
              <a:solidFill>
                <a:schemeClr val="accent2"/>
              </a:solidFill>
              <a:latin typeface="Open Sans Light"/>
              <a:ea typeface="Open Sans Light"/>
              <a:cs typeface="Open Sans Light"/>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
                <a:solidFill>
                  <a:schemeClr val="accent2"/>
                </a:solidFill>
                <a:latin typeface="Open Sans Light"/>
                <a:ea typeface="Open Sans Light"/>
                <a:cs typeface="Open Sans Light"/>
                <a:sym typeface="Open Sans"/>
              </a:rPr>
              <a:t>Infrastructures</a:t>
            </a:r>
            <a:endParaRPr>
              <a:solidFill>
                <a:schemeClr val="accent2"/>
              </a:solidFill>
              <a:latin typeface="Open Sans Light"/>
              <a:ea typeface="Open Sans Light"/>
              <a:cs typeface="Open Sans Light"/>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
                <a:solidFill>
                  <a:schemeClr val="accent2"/>
                </a:solidFill>
                <a:latin typeface="Open Sans Light"/>
                <a:ea typeface="Open Sans Light"/>
                <a:cs typeface="Open Sans Light"/>
                <a:sym typeface="Open Sans"/>
              </a:rPr>
              <a:t>Logiciels et services</a:t>
            </a:r>
            <a:endParaRPr>
              <a:solidFill>
                <a:schemeClr val="accent2"/>
              </a:solidFill>
              <a:latin typeface="Open Sans Light"/>
              <a:ea typeface="Open Sans Light"/>
              <a:cs typeface="Open Sans Light"/>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
                <a:solidFill>
                  <a:schemeClr val="accent2"/>
                </a:solidFill>
                <a:latin typeface="Open Sans Light"/>
                <a:ea typeface="Open Sans Light"/>
                <a:cs typeface="Open Sans Light"/>
                <a:sym typeface="Open Sans"/>
              </a:rPr>
              <a:t>Compétences</a:t>
            </a:r>
            <a:endParaRPr>
              <a:solidFill>
                <a:schemeClr val="dk1"/>
              </a:solidFill>
              <a:latin typeface="Open Sans Light"/>
              <a:ea typeface="Open Sans Light"/>
              <a:cs typeface="Open Sans Light"/>
              <a:sym typeface="Open Sans"/>
            </a:endParaRPr>
          </a:p>
          <a:p>
            <a:pPr marL="0" lvl="0" indent="0" algn="l" rtl="0">
              <a:spcBef>
                <a:spcPts val="1200"/>
              </a:spcBef>
              <a:spcAft>
                <a:spcPts val="0"/>
              </a:spcAft>
              <a:buNone/>
            </a:pPr>
            <a:endParaRPr>
              <a:solidFill>
                <a:schemeClr val="dk2"/>
              </a:solidFill>
              <a:latin typeface="Open Sans Light"/>
              <a:ea typeface="Open Sans Light"/>
              <a:cs typeface="Open Sans Light"/>
              <a:sym typeface="Open Sans"/>
            </a:endParaRPr>
          </a:p>
          <a:p>
            <a:pPr marL="0" lvl="0" indent="0" algn="l" rtl="0">
              <a:spcBef>
                <a:spcPts val="0"/>
              </a:spcBef>
              <a:spcAft>
                <a:spcPts val="0"/>
              </a:spcAft>
              <a:buNone/>
            </a:pPr>
            <a:r>
              <a:rPr lang="en">
                <a:solidFill>
                  <a:schemeClr val="accent2"/>
                </a:solidFill>
                <a:latin typeface="Open Sans Light"/>
                <a:ea typeface="Open Sans Light"/>
                <a:cs typeface="Open Sans Light"/>
                <a:sym typeface="Open Sans"/>
              </a:rPr>
              <a:t>Reconnaître le caractère aujourd’hui </a:t>
            </a:r>
            <a:r>
              <a:rPr lang="en" b="1">
                <a:solidFill>
                  <a:schemeClr val="accent2"/>
                </a:solidFill>
                <a:latin typeface="Open Sans ExtraBold"/>
                <a:ea typeface="Open Sans ExtraBold"/>
                <a:cs typeface="Open Sans ExtraBold"/>
                <a:sym typeface="Open Sans"/>
              </a:rPr>
              <a:t>vital et stratégique</a:t>
            </a:r>
            <a:r>
              <a:rPr lang="en">
                <a:solidFill>
                  <a:schemeClr val="accent2"/>
                </a:solidFill>
                <a:latin typeface="Open Sans Light"/>
                <a:ea typeface="Open Sans Light"/>
                <a:cs typeface="Open Sans Light"/>
                <a:sym typeface="Open Sans"/>
              </a:rPr>
              <a:t> du numérique.</a:t>
            </a:r>
            <a:endParaRPr>
              <a:solidFill>
                <a:schemeClr val="dk1"/>
              </a:solidFill>
              <a:latin typeface="Open Sans Light"/>
              <a:ea typeface="Open Sans Light"/>
              <a:cs typeface="Open Sans Light"/>
              <a:sym typeface="Open Sans"/>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a:endParaRPr>
          </a:p>
          <a:p>
            <a:pPr marL="0" lvl="0" indent="0" algn="l" rtl="0">
              <a:spcBef>
                <a:spcPts val="0"/>
              </a:spcBef>
              <a:spcAft>
                <a:spcPts val="0"/>
              </a:spcAft>
              <a:buNone/>
            </a:pPr>
            <a:endParaRPr sz="1300">
              <a:solidFill>
                <a:schemeClr val="dk2"/>
              </a:solidFill>
              <a:latin typeface="Open Sans Light"/>
              <a:ea typeface="Open Sans Light"/>
              <a:cs typeface="Open Sans Light"/>
              <a:sym typeface="Open Sans"/>
            </a:endParaRPr>
          </a:p>
          <a:p>
            <a:pPr marL="0" lvl="0" indent="0" algn="l" rtl="0">
              <a:spcBef>
                <a:spcPts val="0"/>
              </a:spcBef>
              <a:spcAft>
                <a:spcPts val="0"/>
              </a:spcAft>
              <a:buNone/>
            </a:pPr>
            <a:endParaRPr sz="1300">
              <a:solidFill>
                <a:schemeClr val="dk2"/>
              </a:solidFill>
              <a:latin typeface="Open Sans Light"/>
              <a:ea typeface="Open Sans Light"/>
              <a:cs typeface="Open Sans Light"/>
              <a:sym typeface="Open Sans"/>
            </a:endParaRPr>
          </a:p>
          <a:p>
            <a:pPr marL="0" lvl="0" indent="0" algn="l" rtl="0">
              <a:spcBef>
                <a:spcPts val="0"/>
              </a:spcBef>
              <a:spcAft>
                <a:spcPts val="0"/>
              </a:spcAft>
              <a:buNone/>
            </a:pPr>
            <a:endParaRPr sz="1300">
              <a:solidFill>
                <a:schemeClr val="dk2"/>
              </a:solidFill>
              <a:latin typeface="Open Sans Light"/>
              <a:ea typeface="Open Sans Light"/>
              <a:cs typeface="Open Sans Light"/>
              <a:sym typeface="Open Sans"/>
            </a:endParaRPr>
          </a:p>
          <a:p>
            <a:pPr marL="0" lvl="0" indent="0" algn="l" rtl="0">
              <a:spcBef>
                <a:spcPts val="0"/>
              </a:spcBef>
              <a:spcAft>
                <a:spcPts val="0"/>
              </a:spcAft>
              <a:buNone/>
            </a:pPr>
            <a:endParaRPr sz="1300">
              <a:solidFill>
                <a:schemeClr val="dk2"/>
              </a:solidFill>
              <a:latin typeface="Open Sans Light"/>
              <a:ea typeface="Open Sans Light"/>
              <a:cs typeface="Open Sans Light"/>
              <a:sym typeface="Open Sans"/>
            </a:endParaRPr>
          </a:p>
          <a:p>
            <a:pPr marL="0" lvl="0" indent="0" algn="l" rtl="0">
              <a:spcBef>
                <a:spcPts val="0"/>
              </a:spcBef>
              <a:spcAft>
                <a:spcPts val="0"/>
              </a:spcAft>
              <a:buNone/>
            </a:pPr>
            <a:endParaRPr sz="1300">
              <a:solidFill>
                <a:schemeClr val="dk2"/>
              </a:solidFill>
              <a:latin typeface="Open Sans Light"/>
              <a:ea typeface="Open Sans Light"/>
              <a:cs typeface="Open Sans Light"/>
              <a:sym typeface="Open Sans"/>
            </a:endParaRPr>
          </a:p>
        </p:txBody>
      </p:sp>
      <p:pic>
        <p:nvPicPr>
          <p:cNvPr id="97" name="Google Shape;97;p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676590" y="0"/>
            <a:ext cx="3467409"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p:nvPr/>
        </p:nvSpPr>
        <p:spPr>
          <a:xfrm>
            <a:off x="584100" y="273625"/>
            <a:ext cx="3822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Chantier 12 du BMC</a:t>
            </a:r>
            <a:endParaRPr sz="1600" b="1">
              <a:solidFill>
                <a:srgbClr val="0A00BE"/>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r>
              <a:rPr lang="en">
                <a:solidFill>
                  <a:srgbClr val="0A00BE"/>
                </a:solidFill>
                <a:latin typeface="Open Sans Light"/>
                <a:ea typeface="Open Sans Light"/>
                <a:cs typeface="Open Sans Light"/>
                <a:sym typeface="Open Sans"/>
              </a:rPr>
              <a:t>La Souveraineté Numérique de la région</a:t>
            </a:r>
            <a:endParaRPr>
              <a:solidFill>
                <a:srgbClr val="0A00BE"/>
              </a:solidFill>
              <a:latin typeface="Open Sans Light"/>
              <a:ea typeface="Open Sans Light"/>
              <a:cs typeface="Open Sans Light"/>
              <a:sym typeface="Open Sans"/>
            </a:endParaRPr>
          </a:p>
        </p:txBody>
      </p:sp>
      <p:grpSp>
        <p:nvGrpSpPr>
          <p:cNvPr id="103" name="Google Shape;103;p21"/>
          <p:cNvGrpSpPr/>
          <p:nvPr/>
        </p:nvGrpSpPr>
        <p:grpSpPr>
          <a:xfrm>
            <a:off x="4572000" y="1395325"/>
            <a:ext cx="4320951" cy="3526446"/>
            <a:chOff x="681811" y="3946965"/>
            <a:chExt cx="7575300" cy="2753100"/>
          </a:xfrm>
        </p:grpSpPr>
        <p:sp>
          <p:nvSpPr>
            <p:cNvPr id="104" name="Google Shape;104;p21"/>
            <p:cNvSpPr/>
            <p:nvPr/>
          </p:nvSpPr>
          <p:spPr>
            <a:xfrm>
              <a:off x="681811" y="3946965"/>
              <a:ext cx="7575300" cy="2753100"/>
            </a:xfrm>
            <a:prstGeom prst="roundRect">
              <a:avLst>
                <a:gd name="adj" fmla="val 5803"/>
              </a:avLst>
            </a:prstGeom>
            <a:solidFill>
              <a:schemeClr val="lt2"/>
            </a:solidFill>
            <a:ln w="5450" cap="flat" cmpd="sng">
              <a:solidFill>
                <a:schemeClr val="dk2"/>
              </a:solidFill>
              <a:prstDash val="solid"/>
              <a:round/>
              <a:headEnd type="none" w="sm" len="sm"/>
              <a:tailEnd type="none" w="sm" len="sm"/>
            </a:ln>
          </p:spPr>
          <p:txBody>
            <a:bodyPr spcFirstLastPara="1" wrap="square" lIns="52150" tIns="52150" rIns="52150" bIns="52150" anchor="ctr" anchorCtr="0">
              <a:noAutofit/>
            </a:bodyPr>
            <a:lstStyle/>
            <a:p>
              <a:pPr marL="0" lvl="0" indent="0" algn="ctr" rtl="0">
                <a:spcBef>
                  <a:spcPts val="0"/>
                </a:spcBef>
                <a:spcAft>
                  <a:spcPts val="0"/>
                </a:spcAft>
                <a:buNone/>
              </a:pPr>
              <a:endParaRPr sz="799"/>
            </a:p>
          </p:txBody>
        </p:sp>
        <p:sp>
          <p:nvSpPr>
            <p:cNvPr id="105" name="Google Shape;105;p21"/>
            <p:cNvSpPr txBox="1"/>
            <p:nvPr/>
          </p:nvSpPr>
          <p:spPr>
            <a:xfrm>
              <a:off x="1001586" y="4053316"/>
              <a:ext cx="7100700" cy="2542500"/>
            </a:xfrm>
            <a:prstGeom prst="rect">
              <a:avLst/>
            </a:prstGeom>
            <a:noFill/>
            <a:ln>
              <a:noFill/>
            </a:ln>
          </p:spPr>
          <p:txBody>
            <a:bodyPr spcFirstLastPara="1" wrap="square" lIns="52150" tIns="52150" rIns="52150" bIns="52150" anchor="t" anchorCtr="0">
              <a:noAutofit/>
            </a:bodyPr>
            <a:lstStyle/>
            <a:p>
              <a:pPr marL="101430" lvl="0" indent="0" algn="l" rtl="0">
                <a:lnSpc>
                  <a:spcPct val="115000"/>
                </a:lnSpc>
                <a:spcBef>
                  <a:spcPts val="0"/>
                </a:spcBef>
                <a:spcAft>
                  <a:spcPts val="0"/>
                </a:spcAft>
                <a:buClr>
                  <a:schemeClr val="dk1"/>
                </a:buClr>
                <a:buSzPts val="628"/>
                <a:buFont typeface="Arial"/>
                <a:buNone/>
              </a:pPr>
              <a:r>
                <a:rPr lang="en" sz="1742" b="1">
                  <a:solidFill>
                    <a:srgbClr val="00B050"/>
                  </a:solidFill>
                  <a:latin typeface="Syne"/>
                  <a:ea typeface="Syne"/>
                  <a:cs typeface="Syne"/>
                  <a:sym typeface="Syne"/>
                </a:rPr>
                <a:t>Chantier 3 : Souveraineté Numérique de la région</a:t>
              </a:r>
              <a:endParaRPr sz="1742" b="1">
                <a:solidFill>
                  <a:srgbClr val="00B050"/>
                </a:solidFill>
                <a:latin typeface="Syne"/>
                <a:ea typeface="Syne"/>
                <a:cs typeface="Syne"/>
                <a:sym typeface="Syne"/>
              </a:endParaRPr>
            </a:p>
            <a:p>
              <a:pPr marL="101430" lvl="0" indent="0" algn="l" rtl="0">
                <a:lnSpc>
                  <a:spcPct val="115000"/>
                </a:lnSpc>
                <a:spcBef>
                  <a:spcPts val="0"/>
                </a:spcBef>
                <a:spcAft>
                  <a:spcPts val="0"/>
                </a:spcAft>
                <a:buClr>
                  <a:schemeClr val="dk1"/>
                </a:buClr>
                <a:buSzPts val="628"/>
                <a:buFont typeface="Arial"/>
                <a:buNone/>
              </a:pPr>
              <a:endParaRPr sz="1142" b="1">
                <a:solidFill>
                  <a:srgbClr val="00B050"/>
                </a:solidFill>
                <a:latin typeface="Syne"/>
                <a:ea typeface="Syne"/>
                <a:cs typeface="Syne"/>
                <a:sym typeface="Syne"/>
              </a:endParaRPr>
            </a:p>
            <a:p>
              <a:pPr marL="457200" lvl="0" indent="-313792" algn="l" rtl="0">
                <a:lnSpc>
                  <a:spcPct val="115000"/>
                </a:lnSpc>
                <a:spcBef>
                  <a:spcPts val="0"/>
                </a:spcBef>
                <a:spcAft>
                  <a:spcPts val="0"/>
                </a:spcAft>
                <a:buClr>
                  <a:srgbClr val="1F2937"/>
                </a:buClr>
                <a:buSzPts val="1342"/>
                <a:buFont typeface="Syne"/>
                <a:buChar char="❖"/>
              </a:pPr>
              <a:r>
                <a:rPr lang="en" sz="1342">
                  <a:solidFill>
                    <a:srgbClr val="1F2937"/>
                  </a:solidFill>
                  <a:latin typeface="Syne"/>
                  <a:ea typeface="Syne"/>
                  <a:cs typeface="Syne"/>
                  <a:sym typeface="Syne"/>
                </a:rPr>
                <a:t>Délivrer </a:t>
              </a:r>
              <a:r>
                <a:rPr lang="en" sz="1342" b="1">
                  <a:solidFill>
                    <a:srgbClr val="1F2937"/>
                  </a:solidFill>
                  <a:latin typeface="Syne"/>
                  <a:ea typeface="Syne"/>
                  <a:cs typeface="Syne"/>
                  <a:sym typeface="Syne"/>
                </a:rPr>
                <a:t>une étude des risques</a:t>
              </a:r>
              <a:r>
                <a:rPr lang="en" sz="1342">
                  <a:solidFill>
                    <a:srgbClr val="1F2937"/>
                  </a:solidFill>
                  <a:latin typeface="Syne"/>
                  <a:ea typeface="Syne"/>
                  <a:cs typeface="Syne"/>
                  <a:sym typeface="Syne"/>
                </a:rPr>
                <a:t> liés à la dépendance technologique hors Europe et des scénarios alternatifs pour mitiger</a:t>
              </a:r>
              <a:endParaRPr sz="1342">
                <a:solidFill>
                  <a:srgbClr val="1F2937"/>
                </a:solidFill>
                <a:latin typeface="Syne"/>
                <a:ea typeface="Syne"/>
                <a:cs typeface="Syne"/>
                <a:sym typeface="Syne"/>
              </a:endParaRPr>
            </a:p>
            <a:p>
              <a:pPr marL="457200" lvl="0" indent="0" algn="l" rtl="0">
                <a:lnSpc>
                  <a:spcPct val="115000"/>
                </a:lnSpc>
                <a:spcBef>
                  <a:spcPts val="0"/>
                </a:spcBef>
                <a:spcAft>
                  <a:spcPts val="0"/>
                </a:spcAft>
                <a:buNone/>
              </a:pPr>
              <a:endParaRPr sz="1342">
                <a:solidFill>
                  <a:srgbClr val="1F2937"/>
                </a:solidFill>
                <a:latin typeface="Syne"/>
                <a:ea typeface="Syne"/>
                <a:cs typeface="Syne"/>
                <a:sym typeface="Syne"/>
              </a:endParaRPr>
            </a:p>
            <a:p>
              <a:pPr marL="457200" lvl="0" indent="-313792" algn="l" rtl="0">
                <a:lnSpc>
                  <a:spcPct val="115000"/>
                </a:lnSpc>
                <a:spcBef>
                  <a:spcPts val="0"/>
                </a:spcBef>
                <a:spcAft>
                  <a:spcPts val="0"/>
                </a:spcAft>
                <a:buClr>
                  <a:schemeClr val="dk1"/>
                </a:buClr>
                <a:buSzPts val="1342"/>
                <a:buFont typeface="Syne"/>
                <a:buChar char="❖"/>
              </a:pPr>
              <a:r>
                <a:rPr lang="en" sz="1342" b="1">
                  <a:solidFill>
                    <a:schemeClr val="dk1"/>
                  </a:solidFill>
                  <a:latin typeface="Syne"/>
                  <a:ea typeface="Syne"/>
                  <a:cs typeface="Syne"/>
                  <a:sym typeface="Syne"/>
                </a:rPr>
                <a:t>Renforcement de la résilience</a:t>
              </a:r>
              <a:r>
                <a:rPr lang="en" sz="1342">
                  <a:solidFill>
                    <a:schemeClr val="dk1"/>
                  </a:solidFill>
                  <a:latin typeface="Syne"/>
                  <a:ea typeface="Syne"/>
                  <a:cs typeface="Syne"/>
                  <a:sym typeface="Syne"/>
                </a:rPr>
                <a:t> face aux risques géopolitiques, cyber et contractuels.</a:t>
              </a:r>
              <a:endParaRPr sz="1342">
                <a:solidFill>
                  <a:schemeClr val="dk1"/>
                </a:solidFill>
                <a:latin typeface="Syne"/>
                <a:ea typeface="Syne"/>
                <a:cs typeface="Syne"/>
                <a:sym typeface="Syne"/>
              </a:endParaRPr>
            </a:p>
            <a:p>
              <a:pPr marL="457200" lvl="0" indent="0" algn="l" rtl="0">
                <a:lnSpc>
                  <a:spcPct val="115000"/>
                </a:lnSpc>
                <a:spcBef>
                  <a:spcPts val="0"/>
                </a:spcBef>
                <a:spcAft>
                  <a:spcPts val="0"/>
                </a:spcAft>
                <a:buNone/>
              </a:pPr>
              <a:endParaRPr sz="1342">
                <a:solidFill>
                  <a:schemeClr val="dk1"/>
                </a:solidFill>
                <a:latin typeface="Syne"/>
                <a:ea typeface="Syne"/>
                <a:cs typeface="Syne"/>
                <a:sym typeface="Syne"/>
              </a:endParaRPr>
            </a:p>
            <a:p>
              <a:pPr marL="457200" lvl="0" indent="-313792" algn="l" rtl="0">
                <a:lnSpc>
                  <a:spcPct val="115000"/>
                </a:lnSpc>
                <a:spcBef>
                  <a:spcPts val="0"/>
                </a:spcBef>
                <a:spcAft>
                  <a:spcPts val="0"/>
                </a:spcAft>
                <a:buClr>
                  <a:schemeClr val="dk1"/>
                </a:buClr>
                <a:buSzPts val="1342"/>
                <a:buFont typeface="Syne"/>
                <a:buChar char="❖"/>
              </a:pPr>
              <a:r>
                <a:rPr lang="en" sz="1342">
                  <a:solidFill>
                    <a:schemeClr val="dk1"/>
                  </a:solidFill>
                  <a:latin typeface="Syne"/>
                  <a:ea typeface="Syne"/>
                  <a:cs typeface="Syne"/>
                  <a:sym typeface="Syne"/>
                </a:rPr>
                <a:t>Capacité à </a:t>
              </a:r>
              <a:r>
                <a:rPr lang="en" sz="1342" b="1">
                  <a:solidFill>
                    <a:schemeClr val="dk1"/>
                  </a:solidFill>
                  <a:latin typeface="Syne"/>
                  <a:ea typeface="Syne"/>
                  <a:cs typeface="Syne"/>
                  <a:sym typeface="Syne"/>
                </a:rPr>
                <a:t>prendre des décisions technologiques autonomes</a:t>
              </a:r>
              <a:r>
                <a:rPr lang="en" sz="1342">
                  <a:solidFill>
                    <a:schemeClr val="dk1"/>
                  </a:solidFill>
                  <a:latin typeface="Syne"/>
                  <a:ea typeface="Syne"/>
                  <a:cs typeface="Syne"/>
                  <a:sym typeface="Syne"/>
                </a:rPr>
                <a:t>.</a:t>
              </a:r>
              <a:endParaRPr sz="1342">
                <a:solidFill>
                  <a:schemeClr val="dk1"/>
                </a:solidFill>
                <a:latin typeface="Syne"/>
                <a:ea typeface="Syne"/>
                <a:cs typeface="Syne"/>
                <a:sym typeface="Syne"/>
              </a:endParaRPr>
            </a:p>
            <a:p>
              <a:pPr marL="0" lvl="0" indent="0" algn="l" rtl="0">
                <a:spcBef>
                  <a:spcPts val="0"/>
                </a:spcBef>
                <a:spcAft>
                  <a:spcPts val="0"/>
                </a:spcAft>
                <a:buNone/>
              </a:pPr>
              <a:endParaRPr sz="1199">
                <a:solidFill>
                  <a:schemeClr val="dk2"/>
                </a:solidFill>
                <a:latin typeface="Open Sans Light"/>
                <a:ea typeface="Open Sans Light"/>
                <a:cs typeface="Open Sans Light"/>
                <a:sym typeface="Open Sans"/>
              </a:endParaRPr>
            </a:p>
            <a:p>
              <a:pPr marL="260819" lvl="0" indent="0" algn="l" rtl="0">
                <a:spcBef>
                  <a:spcPts val="0"/>
                </a:spcBef>
                <a:spcAft>
                  <a:spcPts val="0"/>
                </a:spcAft>
                <a:buNone/>
              </a:pPr>
              <a:endParaRPr sz="1199">
                <a:solidFill>
                  <a:schemeClr val="dk2"/>
                </a:solidFill>
                <a:latin typeface="Open Sans Light"/>
                <a:ea typeface="Open Sans Light"/>
                <a:cs typeface="Open Sans Light"/>
                <a:sym typeface="Open Sans"/>
              </a:endParaRPr>
            </a:p>
          </p:txBody>
        </p:sp>
      </p:grpSp>
      <p:pic>
        <p:nvPicPr>
          <p:cNvPr id="106" name="Google Shape;106;p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799375" y="867775"/>
            <a:ext cx="3379275" cy="355150"/>
          </a:xfrm>
          <a:prstGeom prst="rect">
            <a:avLst/>
          </a:prstGeom>
          <a:noFill/>
          <a:ln>
            <a:noFill/>
          </a:ln>
        </p:spPr>
      </p:pic>
      <p:pic>
        <p:nvPicPr>
          <p:cNvPr id="107" name="Google Shape;107;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99375" y="292950"/>
            <a:ext cx="2886969" cy="402425"/>
          </a:xfrm>
          <a:prstGeom prst="rect">
            <a:avLst/>
          </a:prstGeom>
          <a:noFill/>
          <a:ln>
            <a:noFill/>
          </a:ln>
        </p:spPr>
      </p:pic>
      <p:sp>
        <p:nvSpPr>
          <p:cNvPr id="108" name="Google Shape;108;p21"/>
          <p:cNvSpPr txBox="1"/>
          <p:nvPr/>
        </p:nvSpPr>
        <p:spPr>
          <a:xfrm>
            <a:off x="630350" y="1395325"/>
            <a:ext cx="3313800" cy="26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Syne"/>
                <a:ea typeface="Syne"/>
                <a:cs typeface="Syne"/>
                <a:sym typeface="Syne"/>
              </a:rPr>
              <a:t>La souveraineté régionale a été identifiée comme </a:t>
            </a:r>
            <a:r>
              <a:rPr lang="en" b="1">
                <a:solidFill>
                  <a:schemeClr val="dk1"/>
                </a:solidFill>
                <a:latin typeface="Syne"/>
                <a:ea typeface="Syne"/>
                <a:cs typeface="Syne"/>
                <a:sym typeface="Syne"/>
              </a:rPr>
              <a:t>un des chantier du BMC</a:t>
            </a:r>
            <a:endParaRPr b="1">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r>
              <a:rPr lang="en">
                <a:solidFill>
                  <a:schemeClr val="dk1"/>
                </a:solidFill>
                <a:latin typeface="Syne"/>
                <a:ea typeface="Syne"/>
                <a:cs typeface="Syne"/>
                <a:sym typeface="Syne"/>
              </a:rPr>
              <a:t>La  souveraineté est aussi </a:t>
            </a:r>
            <a:r>
              <a:rPr lang="en" b="1">
                <a:solidFill>
                  <a:schemeClr val="dk1"/>
                </a:solidFill>
                <a:latin typeface="Syne"/>
                <a:ea typeface="Syne"/>
                <a:cs typeface="Syne"/>
                <a:sym typeface="Syne"/>
              </a:rPr>
              <a:t>un des sujets du chantier 1 du Pilier 1.</a:t>
            </a:r>
            <a:r>
              <a:rPr lang="en">
                <a:solidFill>
                  <a:schemeClr val="dk1"/>
                </a:solidFill>
                <a:latin typeface="Syne"/>
                <a:ea typeface="Syne"/>
                <a:cs typeface="Syne"/>
                <a:sym typeface="Syne"/>
              </a:rPr>
              <a:t> La production du chantier 12 Paradigm servira  de base aux recommandations</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r>
              <a:rPr lang="en">
                <a:solidFill>
                  <a:schemeClr val="dk1"/>
                </a:solidFill>
                <a:latin typeface="Syne"/>
                <a:ea typeface="Syne"/>
                <a:cs typeface="Syne"/>
                <a:sym typeface="Syne"/>
              </a:rPr>
              <a:t>=&gt; attente d’un </a:t>
            </a:r>
            <a:r>
              <a:rPr lang="en" b="1">
                <a:solidFill>
                  <a:schemeClr val="dk1"/>
                </a:solidFill>
                <a:latin typeface="Syne"/>
                <a:ea typeface="Syne"/>
                <a:cs typeface="Syne"/>
                <a:sym typeface="Syne"/>
              </a:rPr>
              <a:t>premier livrable fin août /début septembre</a:t>
            </a:r>
            <a:endParaRPr b="1">
              <a:solidFill>
                <a:schemeClr val="dk1"/>
              </a:solidFill>
              <a:latin typeface="Syne"/>
              <a:ea typeface="Syne"/>
              <a:cs typeface="Syne"/>
              <a:sym typeface="Syne"/>
            </a:endParaRPr>
          </a:p>
          <a:p>
            <a:pPr marL="0" lvl="0" indent="0" algn="l" rtl="0">
              <a:spcBef>
                <a:spcPts val="0"/>
              </a:spcBef>
              <a:spcAft>
                <a:spcPts val="0"/>
              </a:spcAft>
              <a:buNone/>
            </a:pPr>
            <a:endParaRPr b="1">
              <a:solidFill>
                <a:schemeClr val="dk1"/>
              </a:solidFill>
              <a:latin typeface="Syne"/>
              <a:ea typeface="Syne"/>
              <a:cs typeface="Syne"/>
              <a:sym typeface="Sy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grpSp>
        <p:nvGrpSpPr>
          <p:cNvPr id="113" name="Google Shape;113;p22"/>
          <p:cNvGrpSpPr/>
          <p:nvPr/>
        </p:nvGrpSpPr>
        <p:grpSpPr>
          <a:xfrm>
            <a:off x="3435600" y="501100"/>
            <a:ext cx="2788974" cy="3115975"/>
            <a:chOff x="418625" y="941625"/>
            <a:chExt cx="2788974" cy="3115975"/>
          </a:xfrm>
        </p:grpSpPr>
        <p:pic>
          <p:nvPicPr>
            <p:cNvPr id="114" name="Google Shape;114;p2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18625" y="941625"/>
              <a:ext cx="2788974" cy="2647251"/>
            </a:xfrm>
            <a:prstGeom prst="rect">
              <a:avLst/>
            </a:prstGeom>
            <a:noFill/>
            <a:ln>
              <a:noFill/>
            </a:ln>
          </p:spPr>
        </p:pic>
        <p:pic>
          <p:nvPicPr>
            <p:cNvPr id="115" name="Google Shape;115;p22"/>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18625" y="3646817"/>
              <a:ext cx="2788974" cy="410783"/>
            </a:xfrm>
            <a:prstGeom prst="rect">
              <a:avLst/>
            </a:prstGeom>
            <a:noFill/>
            <a:ln>
              <a:noFill/>
            </a:ln>
          </p:spPr>
        </p:pic>
        <p:sp>
          <p:nvSpPr>
            <p:cNvPr id="116" name="Google Shape;116;p22"/>
            <p:cNvSpPr/>
            <p:nvPr/>
          </p:nvSpPr>
          <p:spPr>
            <a:xfrm>
              <a:off x="983575" y="1192754"/>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17" name="Google Shape;117;p22"/>
            <p:cNvSpPr/>
            <p:nvPr/>
          </p:nvSpPr>
          <p:spPr>
            <a:xfrm>
              <a:off x="983575" y="1624322"/>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18" name="Google Shape;118;p22"/>
            <p:cNvSpPr/>
            <p:nvPr/>
          </p:nvSpPr>
          <p:spPr>
            <a:xfrm>
              <a:off x="983575" y="205589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19" name="Google Shape;119;p22"/>
            <p:cNvSpPr/>
            <p:nvPr/>
          </p:nvSpPr>
          <p:spPr>
            <a:xfrm>
              <a:off x="983575" y="2487457"/>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0" name="Google Shape;120;p22"/>
            <p:cNvSpPr/>
            <p:nvPr/>
          </p:nvSpPr>
          <p:spPr>
            <a:xfrm>
              <a:off x="983575" y="2943167"/>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1" name="Google Shape;121;p22"/>
            <p:cNvSpPr/>
            <p:nvPr/>
          </p:nvSpPr>
          <p:spPr>
            <a:xfrm>
              <a:off x="983575" y="3398876"/>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2" name="Google Shape;122;p22"/>
            <p:cNvSpPr/>
            <p:nvPr/>
          </p:nvSpPr>
          <p:spPr>
            <a:xfrm>
              <a:off x="983575" y="38545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grpSp>
      <p:pic>
        <p:nvPicPr>
          <p:cNvPr id="123" name="Google Shape;123;p2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3435600" y="3747327"/>
            <a:ext cx="2589824" cy="397650"/>
          </a:xfrm>
          <a:prstGeom prst="rect">
            <a:avLst/>
          </a:prstGeom>
          <a:noFill/>
          <a:ln>
            <a:noFill/>
          </a:ln>
        </p:spPr>
      </p:pic>
      <p:sp>
        <p:nvSpPr>
          <p:cNvPr id="124" name="Google Shape;124;p22"/>
          <p:cNvSpPr/>
          <p:nvPr/>
        </p:nvSpPr>
        <p:spPr>
          <a:xfrm>
            <a:off x="3985312" y="358483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5" name="Google Shape;125;p22"/>
          <p:cNvSpPr/>
          <p:nvPr/>
        </p:nvSpPr>
        <p:spPr>
          <a:xfrm>
            <a:off x="3985312" y="3999163"/>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6" name="Google Shape;126;p22"/>
          <p:cNvSpPr/>
          <p:nvPr/>
        </p:nvSpPr>
        <p:spPr>
          <a:xfrm>
            <a:off x="4015087" y="4195213"/>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7" name="Google Shape;127;p22"/>
          <p:cNvSpPr/>
          <p:nvPr/>
        </p:nvSpPr>
        <p:spPr>
          <a:xfrm>
            <a:off x="4015087" y="460953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8" name="Google Shape;128;p22"/>
          <p:cNvSpPr/>
          <p:nvPr/>
        </p:nvSpPr>
        <p:spPr>
          <a:xfrm>
            <a:off x="4015087" y="57814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29" name="Google Shape;129;p22"/>
          <p:cNvSpPr/>
          <p:nvPr/>
        </p:nvSpPr>
        <p:spPr>
          <a:xfrm>
            <a:off x="3970637" y="62116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grpSp>
        <p:nvGrpSpPr>
          <p:cNvPr id="130" name="Google Shape;130;p22"/>
          <p:cNvGrpSpPr/>
          <p:nvPr/>
        </p:nvGrpSpPr>
        <p:grpSpPr>
          <a:xfrm>
            <a:off x="6312975" y="362200"/>
            <a:ext cx="2553375" cy="3524394"/>
            <a:chOff x="6019300" y="941625"/>
            <a:chExt cx="2553375" cy="3524394"/>
          </a:xfrm>
        </p:grpSpPr>
        <p:pic>
          <p:nvPicPr>
            <p:cNvPr id="131" name="Google Shape;131;p22"/>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6019300" y="941625"/>
              <a:ext cx="2553375" cy="3065750"/>
            </a:xfrm>
            <a:prstGeom prst="rect">
              <a:avLst/>
            </a:prstGeom>
            <a:noFill/>
            <a:ln>
              <a:noFill/>
            </a:ln>
          </p:spPr>
        </p:pic>
        <p:pic>
          <p:nvPicPr>
            <p:cNvPr id="132" name="Google Shape;132;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97575" y="4055244"/>
              <a:ext cx="1337407" cy="410775"/>
            </a:xfrm>
            <a:prstGeom prst="rect">
              <a:avLst/>
            </a:prstGeom>
            <a:noFill/>
            <a:ln>
              <a:noFill/>
            </a:ln>
          </p:spPr>
        </p:pic>
        <p:sp>
          <p:nvSpPr>
            <p:cNvPr id="133" name="Google Shape;133;p22"/>
            <p:cNvSpPr/>
            <p:nvPr/>
          </p:nvSpPr>
          <p:spPr>
            <a:xfrm>
              <a:off x="6577925" y="119276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4" name="Google Shape;134;p22"/>
            <p:cNvSpPr/>
            <p:nvPr/>
          </p:nvSpPr>
          <p:spPr>
            <a:xfrm>
              <a:off x="6577925" y="164021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5" name="Google Shape;135;p22"/>
            <p:cNvSpPr/>
            <p:nvPr/>
          </p:nvSpPr>
          <p:spPr>
            <a:xfrm>
              <a:off x="6577925" y="208766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6" name="Google Shape;136;p22"/>
            <p:cNvSpPr/>
            <p:nvPr/>
          </p:nvSpPr>
          <p:spPr>
            <a:xfrm>
              <a:off x="6577925" y="253511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7" name="Google Shape;137;p22"/>
            <p:cNvSpPr/>
            <p:nvPr/>
          </p:nvSpPr>
          <p:spPr>
            <a:xfrm>
              <a:off x="6577925" y="298256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8" name="Google Shape;138;p22"/>
            <p:cNvSpPr/>
            <p:nvPr/>
          </p:nvSpPr>
          <p:spPr>
            <a:xfrm>
              <a:off x="6577925" y="343001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39" name="Google Shape;139;p22"/>
            <p:cNvSpPr/>
            <p:nvPr/>
          </p:nvSpPr>
          <p:spPr>
            <a:xfrm>
              <a:off x="6577925" y="38615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0" name="Google Shape;140;p22"/>
            <p:cNvSpPr/>
            <p:nvPr/>
          </p:nvSpPr>
          <p:spPr>
            <a:xfrm>
              <a:off x="6577925" y="428054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grpSp>
      <p:grpSp>
        <p:nvGrpSpPr>
          <p:cNvPr id="141" name="Google Shape;141;p22"/>
          <p:cNvGrpSpPr/>
          <p:nvPr/>
        </p:nvGrpSpPr>
        <p:grpSpPr>
          <a:xfrm>
            <a:off x="6356563" y="2452823"/>
            <a:ext cx="2589850" cy="2663500"/>
            <a:chOff x="3173875" y="1157435"/>
            <a:chExt cx="2589850" cy="2663500"/>
          </a:xfrm>
        </p:grpSpPr>
        <p:pic>
          <p:nvPicPr>
            <p:cNvPr id="142" name="Google Shape;142;p22"/>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173875" y="2587550"/>
              <a:ext cx="2589850" cy="1233375"/>
            </a:xfrm>
            <a:prstGeom prst="rect">
              <a:avLst/>
            </a:prstGeom>
            <a:noFill/>
            <a:ln>
              <a:noFill/>
            </a:ln>
          </p:spPr>
        </p:pic>
        <p:sp>
          <p:nvSpPr>
            <p:cNvPr id="143" name="Google Shape;143;p22"/>
            <p:cNvSpPr/>
            <p:nvPr/>
          </p:nvSpPr>
          <p:spPr>
            <a:xfrm>
              <a:off x="3723600" y="115743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4" name="Google Shape;144;p22"/>
            <p:cNvSpPr/>
            <p:nvPr/>
          </p:nvSpPr>
          <p:spPr>
            <a:xfrm>
              <a:off x="3723600" y="157176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5" name="Google Shape;145;p22"/>
            <p:cNvSpPr/>
            <p:nvPr/>
          </p:nvSpPr>
          <p:spPr>
            <a:xfrm>
              <a:off x="3723600" y="19860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6" name="Google Shape;146;p22"/>
            <p:cNvSpPr/>
            <p:nvPr/>
          </p:nvSpPr>
          <p:spPr>
            <a:xfrm>
              <a:off x="3723600" y="240041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7" name="Google Shape;147;p22"/>
            <p:cNvSpPr/>
            <p:nvPr/>
          </p:nvSpPr>
          <p:spPr>
            <a:xfrm>
              <a:off x="3723600" y="281473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8" name="Google Shape;148;p22"/>
            <p:cNvSpPr/>
            <p:nvPr/>
          </p:nvSpPr>
          <p:spPr>
            <a:xfrm>
              <a:off x="3723600" y="324493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49" name="Google Shape;149;p22"/>
            <p:cNvSpPr/>
            <p:nvPr/>
          </p:nvSpPr>
          <p:spPr>
            <a:xfrm>
              <a:off x="3679150" y="367513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grpSp>
      <p:sp>
        <p:nvSpPr>
          <p:cNvPr id="150" name="Google Shape;150;p22"/>
          <p:cNvSpPr txBox="1"/>
          <p:nvPr/>
        </p:nvSpPr>
        <p:spPr>
          <a:xfrm>
            <a:off x="1355950" y="3756675"/>
            <a:ext cx="1617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Thierry CHAPPÉ</a:t>
            </a:r>
            <a:endParaRPr sz="1000" b="1">
              <a:solidFill>
                <a:srgbClr val="000000"/>
              </a:solidFill>
              <a:highlight>
                <a:srgbClr val="FFFFFF"/>
              </a:highlight>
              <a:latin typeface="Open Sans ExtraBold"/>
              <a:ea typeface="Open Sans ExtraBold"/>
              <a:cs typeface="Open Sans ExtraBold"/>
              <a:sym typeface="Open Sans"/>
            </a:endParaRPr>
          </a:p>
          <a:p>
            <a:pPr marL="0" lvl="0" indent="0" algn="l" rtl="0">
              <a:spcBef>
                <a:spcPts val="0"/>
              </a:spcBef>
              <a:spcAft>
                <a:spcPts val="0"/>
              </a:spcAft>
              <a:buClr>
                <a:srgbClr val="000000"/>
              </a:buClr>
              <a:buSzPts val="1100"/>
              <a:buFont typeface="Arial"/>
              <a:buNone/>
            </a:pPr>
            <a:r>
              <a:rPr lang="en" sz="1000">
                <a:highlight>
                  <a:srgbClr val="FFFFFF"/>
                </a:highlight>
                <a:latin typeface="Open Sans Light"/>
                <a:ea typeface="Open Sans Light"/>
                <a:cs typeface="Open Sans Light"/>
                <a:sym typeface="Open Sans"/>
              </a:rPr>
              <a:t>Coordinateur</a:t>
            </a:r>
            <a:endParaRPr sz="1000">
              <a:solidFill>
                <a:srgbClr val="000000"/>
              </a:solidFill>
              <a:highlight>
                <a:srgbClr val="FFFFFF"/>
              </a:highlight>
              <a:latin typeface="Open Sans Light"/>
              <a:ea typeface="Open Sans Light"/>
              <a:cs typeface="Open Sans Light"/>
              <a:sym typeface="Open Sans"/>
            </a:endParaRPr>
          </a:p>
        </p:txBody>
      </p:sp>
      <p:pic>
        <p:nvPicPr>
          <p:cNvPr id="151" name="Google Shape;151;p2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93588" y="3680029"/>
            <a:ext cx="528075" cy="517889"/>
          </a:xfrm>
          <a:prstGeom prst="rect">
            <a:avLst/>
          </a:prstGeom>
          <a:noFill/>
          <a:ln>
            <a:noFill/>
          </a:ln>
        </p:spPr>
      </p:pic>
      <p:pic>
        <p:nvPicPr>
          <p:cNvPr id="152" name="Google Shape;152;p2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89252" y="2966229"/>
            <a:ext cx="505321" cy="517891"/>
          </a:xfrm>
          <a:prstGeom prst="rect">
            <a:avLst/>
          </a:prstGeom>
          <a:noFill/>
          <a:ln>
            <a:noFill/>
          </a:ln>
        </p:spPr>
      </p:pic>
      <p:sp>
        <p:nvSpPr>
          <p:cNvPr id="153" name="Google Shape;153;p22"/>
          <p:cNvSpPr txBox="1"/>
          <p:nvPr/>
        </p:nvSpPr>
        <p:spPr>
          <a:xfrm>
            <a:off x="1355950" y="2978863"/>
            <a:ext cx="1617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Constance MATHIEU</a:t>
            </a:r>
            <a:endParaRPr sz="1000" b="1">
              <a:solidFill>
                <a:srgbClr val="000000"/>
              </a:solidFill>
              <a:highlight>
                <a:srgbClr val="FFFFFF"/>
              </a:highlight>
              <a:latin typeface="Open Sans ExtraBold"/>
              <a:ea typeface="Open Sans ExtraBold"/>
              <a:cs typeface="Open Sans ExtraBold"/>
              <a:sym typeface="Open Sans"/>
            </a:endParaRPr>
          </a:p>
          <a:p>
            <a:pPr marL="0" lvl="0" indent="0" algn="l" rtl="0">
              <a:spcBef>
                <a:spcPts val="0"/>
              </a:spcBef>
              <a:spcAft>
                <a:spcPts val="0"/>
              </a:spcAft>
              <a:buClr>
                <a:srgbClr val="000000"/>
              </a:buClr>
              <a:buSzPts val="1100"/>
              <a:buFont typeface="Arial"/>
              <a:buNone/>
            </a:pPr>
            <a:r>
              <a:rPr lang="en" sz="1000">
                <a:highlight>
                  <a:srgbClr val="FFFFFF"/>
                </a:highlight>
                <a:latin typeface="Open Sans Light"/>
                <a:ea typeface="Open Sans Light"/>
                <a:cs typeface="Open Sans Light"/>
                <a:sym typeface="Open Sans"/>
              </a:rPr>
              <a:t>Coordinateur</a:t>
            </a:r>
            <a:endParaRPr sz="1000">
              <a:solidFill>
                <a:srgbClr val="000000"/>
              </a:solidFill>
              <a:highlight>
                <a:srgbClr val="FFFFFF"/>
              </a:highlight>
              <a:latin typeface="Open Sans Light"/>
              <a:ea typeface="Open Sans Light"/>
              <a:cs typeface="Open Sans Light"/>
              <a:sym typeface="Open Sans"/>
            </a:endParaRPr>
          </a:p>
        </p:txBody>
      </p:sp>
      <p:pic>
        <p:nvPicPr>
          <p:cNvPr id="154" name="Google Shape;154;p22"/>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a:off x="605178" y="2258533"/>
            <a:ext cx="504900" cy="511800"/>
          </a:xfrm>
          <a:prstGeom prst="ellipse">
            <a:avLst/>
          </a:prstGeom>
          <a:noFill/>
          <a:ln>
            <a:noFill/>
          </a:ln>
        </p:spPr>
      </p:pic>
      <p:sp>
        <p:nvSpPr>
          <p:cNvPr id="155" name="Google Shape;155;p22"/>
          <p:cNvSpPr txBox="1"/>
          <p:nvPr/>
        </p:nvSpPr>
        <p:spPr>
          <a:xfrm>
            <a:off x="1314414" y="2269288"/>
            <a:ext cx="1743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Michel Van RAEMDONCK</a:t>
            </a:r>
            <a:endParaRPr sz="1000" b="1">
              <a:solidFill>
                <a:srgbClr val="000000"/>
              </a:solidFill>
              <a:highlight>
                <a:srgbClr val="FFFFFF"/>
              </a:highlight>
              <a:latin typeface="Open Sans ExtraBold"/>
              <a:ea typeface="Open Sans ExtraBold"/>
              <a:cs typeface="Open Sans ExtraBold"/>
              <a:sym typeface="Open Sans"/>
            </a:endParaRPr>
          </a:p>
          <a:p>
            <a:pPr marL="0" lvl="0" indent="0" algn="l" rtl="0">
              <a:spcBef>
                <a:spcPts val="0"/>
              </a:spcBef>
              <a:spcAft>
                <a:spcPts val="0"/>
              </a:spcAft>
              <a:buClr>
                <a:srgbClr val="000000"/>
              </a:buClr>
              <a:buSzPts val="1100"/>
              <a:buFont typeface="Arial"/>
              <a:buNone/>
            </a:pPr>
            <a:r>
              <a:rPr lang="en" sz="1000">
                <a:highlight>
                  <a:srgbClr val="FFFFFF"/>
                </a:highlight>
                <a:latin typeface="Open Sans Light"/>
                <a:ea typeface="Open Sans Light"/>
                <a:cs typeface="Open Sans Light"/>
                <a:sym typeface="Open Sans"/>
              </a:rPr>
              <a:t>Responsable du chantier</a:t>
            </a:r>
            <a:endParaRPr sz="1000">
              <a:solidFill>
                <a:srgbClr val="000000"/>
              </a:solidFill>
              <a:highlight>
                <a:srgbClr val="FFFFFF"/>
              </a:highlight>
              <a:latin typeface="Open Sans Light"/>
              <a:ea typeface="Open Sans Light"/>
              <a:cs typeface="Open Sans Light"/>
              <a:sym typeface="Open Sans"/>
            </a:endParaRPr>
          </a:p>
        </p:txBody>
      </p:sp>
      <p:sp>
        <p:nvSpPr>
          <p:cNvPr id="156" name="Google Shape;156;p22"/>
          <p:cNvSpPr txBox="1"/>
          <p:nvPr/>
        </p:nvSpPr>
        <p:spPr>
          <a:xfrm>
            <a:off x="1355939" y="1501150"/>
            <a:ext cx="1743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Yves DELVAUX </a:t>
            </a:r>
            <a:endParaRPr sz="1000" b="1">
              <a:highlight>
                <a:srgbClr val="FFFFFF"/>
              </a:highlight>
              <a:latin typeface="Open Sans ExtraBold"/>
              <a:ea typeface="Open Sans ExtraBold"/>
              <a:cs typeface="Open Sans ExtraBold"/>
              <a:sym typeface="Open Sans"/>
            </a:endParaRPr>
          </a:p>
          <a:p>
            <a:pPr marL="0" lvl="0" indent="0" algn="l" rtl="0">
              <a:spcBef>
                <a:spcPts val="0"/>
              </a:spcBef>
              <a:spcAft>
                <a:spcPts val="0"/>
              </a:spcAft>
              <a:buNone/>
            </a:pPr>
            <a:r>
              <a:rPr lang="en" sz="1000">
                <a:highlight>
                  <a:srgbClr val="FFFFFF"/>
                </a:highlight>
                <a:latin typeface="Open Sans Light"/>
                <a:ea typeface="Open Sans Light"/>
                <a:cs typeface="Open Sans Light"/>
                <a:sym typeface="Open Sans"/>
              </a:rPr>
              <a:t>Sponsor</a:t>
            </a:r>
            <a:endParaRPr sz="1000">
              <a:solidFill>
                <a:srgbClr val="000000"/>
              </a:solidFill>
              <a:highlight>
                <a:srgbClr val="FFFFFF"/>
              </a:highlight>
              <a:latin typeface="Open Sans Light"/>
              <a:ea typeface="Open Sans Light"/>
              <a:cs typeface="Open Sans Light"/>
              <a:sym typeface="Open Sans"/>
            </a:endParaRPr>
          </a:p>
        </p:txBody>
      </p:sp>
      <p:pic>
        <p:nvPicPr>
          <p:cNvPr id="157" name="Google Shape;157;p22"/>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605165" y="1546650"/>
            <a:ext cx="504900" cy="500100"/>
          </a:xfrm>
          <a:prstGeom prst="ellipse">
            <a:avLst/>
          </a:prstGeom>
          <a:noFill/>
          <a:ln>
            <a:noFill/>
          </a:ln>
        </p:spPr>
      </p:pic>
      <p:sp>
        <p:nvSpPr>
          <p:cNvPr id="158" name="Google Shape;158;p22"/>
          <p:cNvSpPr txBox="1"/>
          <p:nvPr/>
        </p:nvSpPr>
        <p:spPr>
          <a:xfrm>
            <a:off x="584100" y="273625"/>
            <a:ext cx="25206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Chantier 12</a:t>
            </a:r>
            <a:endParaRPr sz="1600" b="1">
              <a:solidFill>
                <a:srgbClr val="0A00BE"/>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r>
              <a:rPr lang="en">
                <a:solidFill>
                  <a:srgbClr val="0A00BE"/>
                </a:solidFill>
                <a:latin typeface="Open Sans Light"/>
                <a:ea typeface="Open Sans Light"/>
                <a:cs typeface="Open Sans Light"/>
                <a:sym typeface="Open Sans"/>
              </a:rPr>
              <a:t>Participants </a:t>
            </a:r>
            <a:r>
              <a:rPr lang="en" sz="1000" i="1">
                <a:solidFill>
                  <a:srgbClr val="0A00BE"/>
                </a:solidFill>
                <a:latin typeface="Open Sans ExtraBold"/>
                <a:ea typeface="Open Sans ExtraBold"/>
                <a:cs typeface="Open Sans ExtraBold"/>
                <a:sym typeface="Open Sans"/>
              </a:rPr>
              <a:t>(en cours validation)</a:t>
            </a:r>
            <a:endParaRPr sz="1000" i="1">
              <a:solidFill>
                <a:srgbClr val="0A00BE"/>
              </a:solidFill>
              <a:latin typeface="Open Sans ExtraBold"/>
              <a:ea typeface="Open Sans ExtraBold"/>
              <a:cs typeface="Open Sans ExtraBold"/>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p:nvPr/>
        </p:nvSpPr>
        <p:spPr>
          <a:xfrm>
            <a:off x="369550" y="298225"/>
            <a:ext cx="42987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b="1">
                <a:solidFill>
                  <a:srgbClr val="1200C5"/>
                </a:solidFill>
                <a:latin typeface="Sora"/>
                <a:ea typeface="Sora"/>
                <a:cs typeface="Sora"/>
                <a:sym typeface="Sora"/>
              </a:rPr>
              <a:t>Sondage chantier 12</a:t>
            </a:r>
            <a:endParaRPr sz="1600" b="1" i="0" u="none" strike="noStrike" cap="none">
              <a:solidFill>
                <a:srgbClr val="1200C5"/>
              </a:solidFill>
              <a:latin typeface="Sora"/>
              <a:ea typeface="Sora"/>
              <a:cs typeface="Sora"/>
              <a:sym typeface="Sora"/>
            </a:endParaRPr>
          </a:p>
        </p:txBody>
      </p:sp>
      <p:pic>
        <p:nvPicPr>
          <p:cNvPr id="164" name="Google Shape;164;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960975" y="418925"/>
            <a:ext cx="2140026" cy="850150"/>
          </a:xfrm>
          <a:prstGeom prst="rect">
            <a:avLst/>
          </a:prstGeom>
          <a:noFill/>
          <a:ln>
            <a:noFill/>
          </a:ln>
        </p:spPr>
      </p:pic>
      <p:pic>
        <p:nvPicPr>
          <p:cNvPr id="165" name="Google Shape;165;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433700" y="1589750"/>
            <a:ext cx="3276324" cy="1355725"/>
          </a:xfrm>
          <a:prstGeom prst="rect">
            <a:avLst/>
          </a:prstGeom>
          <a:noFill/>
          <a:ln>
            <a:noFill/>
          </a:ln>
        </p:spPr>
      </p:pic>
      <p:pic>
        <p:nvPicPr>
          <p:cNvPr id="166" name="Google Shape;166;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844050" y="2945475"/>
            <a:ext cx="2373901" cy="2112201"/>
          </a:xfrm>
          <a:prstGeom prst="rect">
            <a:avLst/>
          </a:prstGeom>
          <a:noFill/>
          <a:ln>
            <a:noFill/>
          </a:ln>
        </p:spPr>
      </p:pic>
      <p:sp>
        <p:nvSpPr>
          <p:cNvPr id="167" name="Google Shape;167;p23"/>
          <p:cNvSpPr txBox="1"/>
          <p:nvPr/>
        </p:nvSpPr>
        <p:spPr>
          <a:xfrm>
            <a:off x="658800" y="1102375"/>
            <a:ext cx="4080900" cy="36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b="1">
                <a:solidFill>
                  <a:schemeClr val="dk1"/>
                </a:solidFill>
                <a:latin typeface="Open Sans ExtraBold"/>
                <a:ea typeface="Open Sans ExtraBold"/>
                <a:cs typeface="Open Sans ExtraBold"/>
                <a:sym typeface="Open Sans"/>
              </a:rPr>
              <a:t>Mobilisation</a:t>
            </a:r>
            <a:endParaRPr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4 contributeurs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7 supporteurs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1 personne ne souhaite finalement pas participer</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100">
                <a:solidFill>
                  <a:schemeClr val="dk1"/>
                </a:solidFill>
                <a:latin typeface="Open Sans Light"/>
                <a:ea typeface="Open Sans Light"/>
                <a:cs typeface="Open Sans Light"/>
                <a:sym typeface="Open Sans"/>
              </a:rPr>
              <a:t>Une base de participants disposant d'</a:t>
            </a:r>
            <a:r>
              <a:rPr lang="en" sz="1100" b="1">
                <a:solidFill>
                  <a:schemeClr val="dk1"/>
                </a:solidFill>
                <a:latin typeface="Open Sans ExtraBold"/>
                <a:ea typeface="Open Sans ExtraBold"/>
                <a:cs typeface="Open Sans ExtraBold"/>
                <a:sym typeface="Open Sans"/>
              </a:rPr>
              <a:t>expertises variées :</a:t>
            </a:r>
            <a:r>
              <a:rPr lang="en" sz="1100">
                <a:solidFill>
                  <a:schemeClr val="dk1"/>
                </a:solidFill>
                <a:latin typeface="Open Sans Light"/>
                <a:ea typeface="Open Sans Light"/>
                <a:cs typeface="Open Sans Light"/>
                <a:sym typeface="Open Sans"/>
              </a:rPr>
              <a:t> architecture, données, CRM, géomatique, IA, open source, secteur public et réseaux européens.</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1200"/>
              </a:spcAft>
              <a:buNone/>
            </a:pPr>
            <a:endParaRPr sz="1100">
              <a:solidFill>
                <a:schemeClr val="dk1"/>
              </a:solidFill>
              <a:latin typeface="Open Sans Light"/>
              <a:ea typeface="Open Sans Light"/>
              <a:cs typeface="Open Sans Light"/>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p:nvPr/>
        </p:nvSpPr>
        <p:spPr>
          <a:xfrm>
            <a:off x="4874350" y="0"/>
            <a:ext cx="4269600" cy="5160900"/>
          </a:xfrm>
          <a:prstGeom prst="rect">
            <a:avLst/>
          </a:prstGeom>
          <a:solidFill>
            <a:srgbClr val="134F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4"/>
          <p:cNvSpPr txBox="1"/>
          <p:nvPr/>
        </p:nvSpPr>
        <p:spPr>
          <a:xfrm>
            <a:off x="584100" y="273625"/>
            <a:ext cx="35124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en" sz="1600" b="1">
                <a:solidFill>
                  <a:srgbClr val="0A00BE"/>
                </a:solidFill>
                <a:latin typeface="Open Sans ExtraBold"/>
                <a:ea typeface="Open Sans ExtraBold"/>
                <a:cs typeface="Open Sans ExtraBold"/>
                <a:sym typeface="Open Sans"/>
              </a:rPr>
              <a:t>Pourquoi les participants ont-ils rejoint le chantier ?</a:t>
            </a:r>
            <a:endParaRPr>
              <a:solidFill>
                <a:srgbClr val="0A00BE"/>
              </a:solidFill>
              <a:latin typeface="Open Sans Light"/>
              <a:ea typeface="Open Sans Light"/>
              <a:cs typeface="Open Sans Light"/>
              <a:sym typeface="Open Sans"/>
            </a:endParaRPr>
          </a:p>
        </p:txBody>
      </p:sp>
      <p:sp>
        <p:nvSpPr>
          <p:cNvPr id="174" name="Google Shape;174;p24"/>
          <p:cNvSpPr txBox="1"/>
          <p:nvPr/>
        </p:nvSpPr>
        <p:spPr>
          <a:xfrm>
            <a:off x="499200" y="1024125"/>
            <a:ext cx="4072800" cy="3620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300" b="1">
                <a:solidFill>
                  <a:schemeClr val="dk1"/>
                </a:solidFill>
                <a:latin typeface="Open Sans ExtraBold"/>
                <a:ea typeface="Open Sans ExtraBold"/>
                <a:cs typeface="Open Sans ExtraBold"/>
                <a:sym typeface="Open Sans"/>
              </a:rPr>
              <a:t>Une forte conviction sur l'importance du sujet</a:t>
            </a:r>
            <a:endParaRPr sz="1300"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La souveraineté numérique est perçue comme </a:t>
            </a:r>
            <a:r>
              <a:rPr lang="en" sz="1100" b="1">
                <a:solidFill>
                  <a:schemeClr val="dk1"/>
                </a:solidFill>
                <a:latin typeface="Open Sans ExtraBold"/>
                <a:ea typeface="Open Sans ExtraBold"/>
                <a:cs typeface="Open Sans ExtraBold"/>
                <a:sym typeface="Open Sans"/>
              </a:rPr>
              <a:t>un enjeu stratégique pour Paradigm et la Région.</a:t>
            </a:r>
            <a:endParaRPr sz="1100"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Le contexte géopolitique actuel renforce l'urgence du sujet.</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Plusieurs participants souhaitent </a:t>
            </a:r>
            <a:r>
              <a:rPr lang="en" sz="1100" b="1">
                <a:solidFill>
                  <a:schemeClr val="dk1"/>
                </a:solidFill>
                <a:latin typeface="Open Sans ExtraBold"/>
                <a:ea typeface="Open Sans ExtraBold"/>
                <a:cs typeface="Open Sans ExtraBold"/>
                <a:sym typeface="Open Sans"/>
              </a:rPr>
              <a:t>contribuer à réduire les dépendances technologiques </a:t>
            </a:r>
            <a:r>
              <a:rPr lang="en" sz="1100">
                <a:solidFill>
                  <a:schemeClr val="dk1"/>
                </a:solidFill>
                <a:latin typeface="Open Sans Light"/>
                <a:ea typeface="Open Sans Light"/>
                <a:cs typeface="Open Sans Light"/>
                <a:sym typeface="Open Sans"/>
              </a:rPr>
              <a:t>actuelles.</a:t>
            </a:r>
            <a:endParaRPr sz="11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400">
              <a:solidFill>
                <a:schemeClr val="dk1"/>
              </a:solidFill>
              <a:latin typeface="Open Sans Light"/>
              <a:ea typeface="Open Sans Light"/>
              <a:cs typeface="Open Sans Light"/>
              <a:sym typeface="Open Sans"/>
            </a:endParaRPr>
          </a:p>
          <a:p>
            <a:pPr marL="0" lvl="0" indent="0" algn="l" rtl="0">
              <a:lnSpc>
                <a:spcPct val="115000"/>
              </a:lnSpc>
              <a:spcBef>
                <a:spcPts val="1400"/>
              </a:spcBef>
              <a:spcAft>
                <a:spcPts val="0"/>
              </a:spcAft>
              <a:buNone/>
            </a:pPr>
            <a:r>
              <a:rPr lang="en" sz="1300" b="1">
                <a:solidFill>
                  <a:schemeClr val="dk1"/>
                </a:solidFill>
                <a:latin typeface="Open Sans ExtraBold"/>
                <a:ea typeface="Open Sans ExtraBold"/>
                <a:cs typeface="Open Sans ExtraBold"/>
                <a:sym typeface="Open Sans"/>
              </a:rPr>
              <a:t>Une volonté d'agir</a:t>
            </a:r>
            <a:endParaRPr sz="1300"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Les participants attendent </a:t>
            </a:r>
            <a:r>
              <a:rPr lang="en" sz="1100" b="1">
                <a:solidFill>
                  <a:schemeClr val="dk1"/>
                </a:solidFill>
                <a:latin typeface="Open Sans ExtraBold"/>
                <a:ea typeface="Open Sans ExtraBold"/>
                <a:cs typeface="Open Sans ExtraBold"/>
                <a:sym typeface="Open Sans"/>
              </a:rPr>
              <a:t>des résultats concrets</a:t>
            </a:r>
            <a:r>
              <a:rPr lang="en" sz="1100">
                <a:solidFill>
                  <a:schemeClr val="dk1"/>
                </a:solidFill>
                <a:latin typeface="Open Sans Light"/>
                <a:ea typeface="Open Sans Light"/>
                <a:cs typeface="Open Sans Light"/>
                <a:sym typeface="Open Sans"/>
              </a:rPr>
              <a:t>.</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Ils souhaitent </a:t>
            </a:r>
            <a:r>
              <a:rPr lang="en" sz="1100" b="1">
                <a:solidFill>
                  <a:schemeClr val="dk1"/>
                </a:solidFill>
                <a:latin typeface="Open Sans ExtraBold"/>
                <a:ea typeface="Open Sans ExtraBold"/>
                <a:cs typeface="Open Sans ExtraBold"/>
                <a:sym typeface="Open Sans"/>
              </a:rPr>
              <a:t>identifier des actions réalistes et applicables.</a:t>
            </a:r>
            <a:endParaRPr sz="1100"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Plusieurs mentionnent la </a:t>
            </a:r>
            <a:r>
              <a:rPr lang="en" sz="1100" b="1">
                <a:solidFill>
                  <a:schemeClr val="dk1"/>
                </a:solidFill>
                <a:latin typeface="Open Sans ExtraBold"/>
                <a:ea typeface="Open Sans ExtraBold"/>
                <a:cs typeface="Open Sans ExtraBold"/>
                <a:sym typeface="Open Sans"/>
              </a:rPr>
              <a:t>nécessité d'influencer les décisions futures.</a:t>
            </a:r>
            <a:endParaRPr sz="1100" b="1">
              <a:solidFill>
                <a:schemeClr val="dk1"/>
              </a:solidFill>
              <a:latin typeface="Open Sans ExtraBold"/>
              <a:ea typeface="Open Sans ExtraBold"/>
              <a:cs typeface="Open Sans ExtraBold"/>
              <a:sym typeface="Open Sans"/>
            </a:endParaRPr>
          </a:p>
        </p:txBody>
      </p:sp>
      <p:sp>
        <p:nvSpPr>
          <p:cNvPr id="175" name="Google Shape;175;p24"/>
          <p:cNvSpPr txBox="1"/>
          <p:nvPr/>
        </p:nvSpPr>
        <p:spPr>
          <a:xfrm>
            <a:off x="5334750" y="365150"/>
            <a:ext cx="3512400" cy="427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sz="1300" b="1">
                <a:solidFill>
                  <a:schemeClr val="lt1"/>
                </a:solidFill>
                <a:latin typeface="Open Sans ExtraBold"/>
                <a:ea typeface="Open Sans ExtraBold"/>
                <a:cs typeface="Open Sans ExtraBold"/>
                <a:sym typeface="Open Sans"/>
              </a:rPr>
              <a:t>Comment la souveraineté numérique est perçue</a:t>
            </a:r>
            <a:endParaRPr sz="13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r>
              <a:rPr lang="en" sz="1100">
                <a:solidFill>
                  <a:schemeClr val="lt1"/>
                </a:solidFill>
                <a:latin typeface="Open Sans Light"/>
                <a:ea typeface="Open Sans Light"/>
                <a:cs typeface="Open Sans Light"/>
                <a:sym typeface="Open Sans"/>
              </a:rPr>
              <a:t>Les notions qui reviennent le plus souvent :</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Maîtrise des données</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Réduction des dépendances technologiques</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Liberté de choix</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Maîtrise des infrastructures critiques</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Résilience et continuité des services publics</a:t>
            </a:r>
            <a:endParaRPr sz="1100">
              <a:solidFill>
                <a:schemeClr val="lt1"/>
              </a:solidFill>
              <a:latin typeface="Open Sans Light"/>
              <a:ea typeface="Open Sans Light"/>
              <a:cs typeface="Open Sans Light"/>
              <a:sym typeface="Open Sans"/>
            </a:endParaRPr>
          </a:p>
          <a:p>
            <a:pPr marL="457200" lvl="0" indent="-298450" algn="l" rtl="0">
              <a:lnSpc>
                <a:spcPct val="150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Souveraineté européenne plutôt que strictement régionale</a:t>
            </a:r>
            <a:endParaRPr sz="1100">
              <a:solidFill>
                <a:schemeClr val="lt1"/>
              </a:solidFill>
              <a:latin typeface="Open Sans Light"/>
              <a:ea typeface="Open Sans Light"/>
              <a:cs typeface="Open Sans Light"/>
              <a:sym typeface="Open Sans"/>
            </a:endParaRPr>
          </a:p>
          <a:p>
            <a:pPr marL="0" lvl="0" indent="0" algn="l" rtl="0">
              <a:lnSpc>
                <a:spcPct val="150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100">
                <a:solidFill>
                  <a:schemeClr val="lt1"/>
                </a:solidFill>
                <a:latin typeface="Open Sans Light"/>
                <a:ea typeface="Open Sans Light"/>
                <a:cs typeface="Open Sans Light"/>
                <a:sym typeface="Open Sans"/>
              </a:rPr>
              <a:t>Le groupe semble déjà </a:t>
            </a:r>
            <a:r>
              <a:rPr lang="en" sz="1100" b="1">
                <a:solidFill>
                  <a:schemeClr val="lt1"/>
                </a:solidFill>
                <a:latin typeface="Open Sans ExtraBold"/>
                <a:ea typeface="Open Sans ExtraBold"/>
                <a:cs typeface="Open Sans ExtraBold"/>
                <a:sym typeface="Open Sans"/>
              </a:rPr>
              <a:t>aligné sur le constat</a:t>
            </a:r>
            <a:r>
              <a:rPr lang="en" sz="1100">
                <a:solidFill>
                  <a:schemeClr val="lt1"/>
                </a:solidFill>
                <a:latin typeface="Open Sans Light"/>
                <a:ea typeface="Open Sans Light"/>
                <a:cs typeface="Open Sans Light"/>
                <a:sym typeface="Open Sans"/>
              </a:rPr>
              <a:t>. Le défi n'est plus de démontrer l'importance du sujet, mais d'</a:t>
            </a:r>
            <a:r>
              <a:rPr lang="en" sz="1100" b="1">
                <a:solidFill>
                  <a:schemeClr val="lt1"/>
                </a:solidFill>
                <a:latin typeface="Open Sans ExtraBold"/>
                <a:ea typeface="Open Sans ExtraBold"/>
                <a:cs typeface="Open Sans ExtraBold"/>
                <a:sym typeface="Open Sans"/>
              </a:rPr>
              <a:t>identifier les actions prioritaires que Paradigm peut concrètement porter ou influencer.</a:t>
            </a:r>
            <a:endParaRPr sz="1100" b="1">
              <a:solidFill>
                <a:schemeClr val="lt1"/>
              </a:solidFill>
              <a:latin typeface="Open Sans ExtraBold"/>
              <a:ea typeface="Open Sans ExtraBold"/>
              <a:cs typeface="Open Sans ExtraBold"/>
              <a:sym typeface="Open Sans"/>
            </a:endParaRPr>
          </a:p>
          <a:p>
            <a:pPr marL="0" lvl="0" indent="0" algn="l" rtl="0">
              <a:lnSpc>
                <a:spcPct val="150000"/>
              </a:lnSpc>
              <a:spcBef>
                <a:spcPts val="1200"/>
              </a:spcBef>
              <a:spcAft>
                <a:spcPts val="1200"/>
              </a:spcAft>
              <a:buNone/>
            </a:pPr>
            <a:endParaRPr sz="1100">
              <a:solidFill>
                <a:schemeClr val="lt1"/>
              </a:solidFill>
              <a:latin typeface="Open Sans Light"/>
              <a:ea typeface="Open Sans Light"/>
              <a:cs typeface="Open Sans Light"/>
              <a:sym typeface="Open Sans"/>
            </a:endParaRPr>
          </a:p>
        </p:txBody>
      </p:sp>
      <p:cxnSp>
        <p:nvCxnSpPr>
          <p:cNvPr id="176" name="Google Shape;176;p24"/>
          <p:cNvCxnSpPr/>
          <p:nvPr/>
        </p:nvCxnSpPr>
        <p:spPr>
          <a:xfrm>
            <a:off x="5207750" y="3700388"/>
            <a:ext cx="0" cy="1055700"/>
          </a:xfrm>
          <a:prstGeom prst="straightConnector1">
            <a:avLst/>
          </a:prstGeom>
          <a:noFill/>
          <a:ln w="76200" cap="flat" cmpd="sng">
            <a:solidFill>
              <a:schemeClr val="lt1"/>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5"/>
          <p:cNvSpPr txBox="1"/>
          <p:nvPr/>
        </p:nvSpPr>
        <p:spPr>
          <a:xfrm>
            <a:off x="526200" y="257750"/>
            <a:ext cx="4258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en" sz="1600" b="1">
                <a:solidFill>
                  <a:srgbClr val="0A00BE"/>
                </a:solidFill>
                <a:latin typeface="Open Sans ExtraBold"/>
                <a:ea typeface="Open Sans ExtraBold"/>
                <a:cs typeface="Open Sans ExtraBold"/>
                <a:sym typeface="Open Sans"/>
              </a:rPr>
              <a:t>Enjeux et attentes vis-à-vis du chantier</a:t>
            </a:r>
            <a:r>
              <a:rPr lang="en" sz="2300" b="1">
                <a:solidFill>
                  <a:schemeClr val="dk1"/>
                </a:solidFill>
              </a:rPr>
              <a:t> </a:t>
            </a:r>
            <a:endParaRPr>
              <a:solidFill>
                <a:srgbClr val="0A00BE"/>
              </a:solidFill>
              <a:latin typeface="Open Sans Light"/>
              <a:ea typeface="Open Sans Light"/>
              <a:cs typeface="Open Sans Light"/>
              <a:sym typeface="Open Sans"/>
            </a:endParaRPr>
          </a:p>
        </p:txBody>
      </p:sp>
      <p:sp>
        <p:nvSpPr>
          <p:cNvPr id="182" name="Google Shape;182;p25"/>
          <p:cNvSpPr txBox="1"/>
          <p:nvPr/>
        </p:nvSpPr>
        <p:spPr>
          <a:xfrm>
            <a:off x="526200" y="976500"/>
            <a:ext cx="4374300" cy="3620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b="1">
                <a:solidFill>
                  <a:schemeClr val="dk1"/>
                </a:solidFill>
                <a:latin typeface="Open Sans ExtraBold"/>
                <a:ea typeface="Open Sans ExtraBold"/>
                <a:cs typeface="Open Sans ExtraBold"/>
                <a:sym typeface="Open Sans"/>
              </a:rPr>
              <a:t>Principaux enjeux identifiés</a:t>
            </a:r>
            <a:endParaRPr b="1">
              <a:solidFill>
                <a:schemeClr val="dk1"/>
              </a:solidFill>
              <a:latin typeface="Open Sans ExtraBold"/>
              <a:ea typeface="Open Sans ExtraBold"/>
              <a:cs typeface="Open Sans ExtraBold"/>
              <a:sym typeface="Open Sans"/>
            </a:endParaRPr>
          </a:p>
          <a:p>
            <a:pPr marL="0" lvl="0" indent="0" algn="l" rtl="0">
              <a:lnSpc>
                <a:spcPct val="115000"/>
              </a:lnSpc>
              <a:spcBef>
                <a:spcPts val="1400"/>
              </a:spcBef>
              <a:spcAft>
                <a:spcPts val="0"/>
              </a:spcAft>
              <a:buNone/>
            </a:pPr>
            <a:r>
              <a:rPr lang="en" sz="1100" b="1">
                <a:solidFill>
                  <a:schemeClr val="dk1"/>
                </a:solidFill>
                <a:latin typeface="Open Sans ExtraBold"/>
                <a:ea typeface="Open Sans ExtraBold"/>
                <a:cs typeface="Open Sans ExtraBold"/>
                <a:sym typeface="Open Sans"/>
              </a:rPr>
              <a:t>Dépendance aux grands fournisseurs non européens: </a:t>
            </a:r>
            <a:r>
              <a:rPr lang="en" sz="1100">
                <a:solidFill>
                  <a:schemeClr val="dk1"/>
                </a:solidFill>
                <a:latin typeface="Open Sans Light"/>
                <a:ea typeface="Open Sans Light"/>
                <a:cs typeface="Open Sans Light"/>
                <a:sym typeface="Open Sans"/>
              </a:rPr>
              <a:t>Les exemples les plus fréquemment cités : Microsoft 365, Azure, Copilot, Salesforce…</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400"/>
              </a:spcBef>
              <a:spcAft>
                <a:spcPts val="0"/>
              </a:spcAft>
              <a:buNone/>
            </a:pPr>
            <a:r>
              <a:rPr lang="en" sz="1100" b="1">
                <a:solidFill>
                  <a:schemeClr val="dk1"/>
                </a:solidFill>
                <a:latin typeface="Open Sans ExtraBold"/>
                <a:ea typeface="Open Sans ExtraBold"/>
                <a:cs typeface="Open Sans ExtraBold"/>
                <a:sym typeface="Open Sans"/>
              </a:rPr>
              <a:t>Capacité à faire des choix éclairés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le besoin d'une meilleure information des décideurs ;</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l'importance de disposer d'alternatives crédibles ;</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la nécessité de prendre en compte les risques au-delà du seul critère budgétaire.</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400"/>
              </a:spcBef>
              <a:spcAft>
                <a:spcPts val="0"/>
              </a:spcAft>
              <a:buNone/>
            </a:pPr>
            <a:r>
              <a:rPr lang="en" sz="1100" b="1">
                <a:solidFill>
                  <a:schemeClr val="dk1"/>
                </a:solidFill>
                <a:latin typeface="Open Sans ExtraBold"/>
                <a:ea typeface="Open Sans ExtraBold"/>
                <a:cs typeface="Open Sans ExtraBold"/>
                <a:sym typeface="Open Sans"/>
              </a:rPr>
              <a:t>Préserver les atouts existants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l'importance du DCR ;</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la maîtrise des données publiques ;</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Char char="●"/>
            </a:pPr>
            <a:r>
              <a:rPr lang="en" sz="1100">
                <a:solidFill>
                  <a:schemeClr val="dk1"/>
                </a:solidFill>
                <a:latin typeface="Open Sans Light"/>
                <a:ea typeface="Open Sans Light"/>
                <a:cs typeface="Open Sans Light"/>
                <a:sym typeface="Open Sans"/>
              </a:rPr>
              <a:t>la conservation des compétences internes.</a:t>
            </a:r>
            <a:endParaRPr sz="11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1200"/>
              </a:spcAft>
              <a:buNone/>
            </a:pPr>
            <a:endParaRPr sz="1300" b="1">
              <a:solidFill>
                <a:schemeClr val="dk1"/>
              </a:solidFill>
              <a:latin typeface="Open Sans ExtraBold"/>
              <a:ea typeface="Open Sans ExtraBold"/>
              <a:cs typeface="Open Sans ExtraBold"/>
              <a:sym typeface="Open Sans"/>
            </a:endParaRPr>
          </a:p>
        </p:txBody>
      </p:sp>
      <p:sp>
        <p:nvSpPr>
          <p:cNvPr id="183" name="Google Shape;183;p25"/>
          <p:cNvSpPr txBox="1"/>
          <p:nvPr/>
        </p:nvSpPr>
        <p:spPr>
          <a:xfrm>
            <a:off x="5231550" y="873125"/>
            <a:ext cx="3730500" cy="3000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b="1">
                <a:solidFill>
                  <a:schemeClr val="dk1"/>
                </a:solidFill>
                <a:latin typeface="Open Sans ExtraBold"/>
                <a:ea typeface="Open Sans ExtraBold"/>
                <a:cs typeface="Open Sans ExtraBold"/>
                <a:sym typeface="Open Sans"/>
              </a:rPr>
              <a:t>Priorités proposées pour le chantier</a:t>
            </a:r>
            <a:endParaRPr sz="1700" b="1">
              <a:solidFill>
                <a:schemeClr val="dk1"/>
              </a:solidFill>
              <a:latin typeface="Open Sans ExtraBold"/>
              <a:ea typeface="Open Sans ExtraBold"/>
              <a:cs typeface="Open Sans ExtraBold"/>
              <a:sym typeface="Open Sans"/>
            </a:endParaRPr>
          </a:p>
          <a:p>
            <a:pPr marL="0" lvl="0" indent="0" algn="l" rtl="0">
              <a:lnSpc>
                <a:spcPct val="115000"/>
              </a:lnSpc>
              <a:spcBef>
                <a:spcPts val="1400"/>
              </a:spcBef>
              <a:spcAft>
                <a:spcPts val="0"/>
              </a:spcAft>
              <a:buNone/>
            </a:pPr>
            <a:r>
              <a:rPr lang="en" sz="1300" b="1">
                <a:solidFill>
                  <a:schemeClr val="dk1"/>
                </a:solidFill>
                <a:latin typeface="Open Sans ExtraBold"/>
                <a:ea typeface="Open Sans ExtraBold"/>
                <a:cs typeface="Open Sans ExtraBold"/>
                <a:sym typeface="Open Sans"/>
              </a:rPr>
              <a:t>Consensus fort</a:t>
            </a:r>
            <a:endParaRPr sz="1300" b="1">
              <a:solidFill>
                <a:schemeClr val="dk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dk1"/>
              </a:buClr>
              <a:buSzPts val="1100"/>
              <a:buFont typeface="Open Sans"/>
              <a:buAutoNum type="arabicPeriod"/>
            </a:pPr>
            <a:r>
              <a:rPr lang="en" sz="1100">
                <a:solidFill>
                  <a:schemeClr val="dk1"/>
                </a:solidFill>
                <a:latin typeface="Open Sans Light"/>
                <a:ea typeface="Open Sans Light"/>
                <a:cs typeface="Open Sans Light"/>
                <a:sym typeface="Open Sans"/>
              </a:rPr>
              <a:t>Établir un état des lieux des dépendances critiques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AutoNum type="arabicPeriod"/>
            </a:pPr>
            <a:r>
              <a:rPr lang="en" sz="1100">
                <a:solidFill>
                  <a:schemeClr val="dk1"/>
                </a:solidFill>
                <a:latin typeface="Open Sans Light"/>
                <a:ea typeface="Open Sans Light"/>
                <a:cs typeface="Open Sans Light"/>
                <a:sym typeface="Open Sans"/>
              </a:rPr>
              <a:t>Identifier et évaluer les alternatives possibles</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AutoNum type="arabicPeriod"/>
            </a:pPr>
            <a:r>
              <a:rPr lang="en" sz="1100">
                <a:solidFill>
                  <a:schemeClr val="dk1"/>
                </a:solidFill>
                <a:latin typeface="Open Sans Light"/>
                <a:ea typeface="Open Sans Light"/>
                <a:cs typeface="Open Sans Light"/>
                <a:sym typeface="Open Sans"/>
              </a:rPr>
              <a:t>Construire une vision commune et un plan d'action</a:t>
            </a:r>
            <a:endParaRPr sz="11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Font typeface="Open Sans"/>
              <a:buAutoNum type="arabicPeriod"/>
            </a:pPr>
            <a:r>
              <a:rPr lang="en" sz="1100">
                <a:solidFill>
                  <a:schemeClr val="dk1"/>
                </a:solidFill>
                <a:latin typeface="Open Sans Light"/>
                <a:ea typeface="Open Sans Light"/>
                <a:cs typeface="Open Sans Light"/>
                <a:sym typeface="Open Sans"/>
              </a:rPr>
              <a:t>Sensibiliser les décideurs et les parties prenantes</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400"/>
              </a:spcBef>
              <a:spcAft>
                <a:spcPts val="0"/>
              </a:spcAft>
              <a:buNone/>
            </a:pPr>
            <a:r>
              <a:rPr lang="en" sz="1300" b="1">
                <a:solidFill>
                  <a:schemeClr val="dk1"/>
                </a:solidFill>
                <a:latin typeface="Open Sans ExtraBold"/>
                <a:ea typeface="Open Sans ExtraBold"/>
                <a:cs typeface="Open Sans ExtraBold"/>
                <a:sym typeface="Open Sans"/>
              </a:rPr>
              <a:t>Point d'attention</a:t>
            </a:r>
            <a:endParaRPr sz="1300" b="1">
              <a:solidFill>
                <a:schemeClr val="dk1"/>
              </a:solidFill>
              <a:latin typeface="Open Sans ExtraBold"/>
              <a:ea typeface="Open Sans ExtraBold"/>
              <a:cs typeface="Open Sans ExtraBold"/>
              <a:sym typeface="Open Sans"/>
            </a:endParaRPr>
          </a:p>
          <a:p>
            <a:pPr marL="0" marR="381000" lvl="0" indent="0" algn="l" rtl="0">
              <a:lnSpc>
                <a:spcPct val="115000"/>
              </a:lnSpc>
              <a:spcBef>
                <a:spcPts val="1200"/>
              </a:spcBef>
              <a:spcAft>
                <a:spcPts val="1200"/>
              </a:spcAft>
              <a:buNone/>
            </a:pPr>
            <a:r>
              <a:rPr lang="en" sz="1100">
                <a:solidFill>
                  <a:schemeClr val="dk1"/>
                </a:solidFill>
                <a:latin typeface="Open Sans Light"/>
                <a:ea typeface="Open Sans Light"/>
                <a:cs typeface="Open Sans Light"/>
                <a:sym typeface="Open Sans"/>
              </a:rPr>
              <a:t>Ne pas rester uniquement dans l'analyse : le groupe doit rapidement produire des livrables concrets et des propositions d'action.</a:t>
            </a:r>
            <a:endParaRPr sz="1100">
              <a:solidFill>
                <a:schemeClr val="dk1"/>
              </a:solidFill>
              <a:latin typeface="Open Sans Light"/>
              <a:ea typeface="Open Sans Light"/>
              <a:cs typeface="Open Sans Light"/>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00C5"/>
        </a:solidFill>
        <a:effectLst/>
      </p:bgPr>
    </p:bg>
    <p:spTree>
      <p:nvGrpSpPr>
        <p:cNvPr id="1" name="Shape 187"/>
        <p:cNvGrpSpPr/>
        <p:nvPr/>
      </p:nvGrpSpPr>
      <p:grpSpPr>
        <a:xfrm>
          <a:off x="0" y="0"/>
          <a:ext cx="0" cy="0"/>
          <a:chOff x="0" y="0"/>
          <a:chExt cx="0" cy="0"/>
        </a:xfrm>
      </p:grpSpPr>
      <p:sp>
        <p:nvSpPr>
          <p:cNvPr id="188" name="Google Shape;188;p26"/>
          <p:cNvSpPr txBox="1"/>
          <p:nvPr/>
        </p:nvSpPr>
        <p:spPr>
          <a:xfrm>
            <a:off x="947500" y="2091500"/>
            <a:ext cx="55365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400" b="1">
                <a:solidFill>
                  <a:schemeClr val="lt1"/>
                </a:solidFill>
                <a:latin typeface="Open Sans ExtraBold"/>
                <a:ea typeface="Open Sans ExtraBold"/>
                <a:cs typeface="Open Sans ExtraBold"/>
                <a:sym typeface="Open Sans"/>
              </a:rPr>
              <a:t>Déroulé Workshop</a:t>
            </a:r>
            <a:endParaRPr sz="2200" i="0" u="none" strike="noStrike" cap="none">
              <a:solidFill>
                <a:schemeClr val="lt1"/>
              </a:solidFill>
              <a:latin typeface="Open Sans Light"/>
              <a:ea typeface="Open Sans Light"/>
              <a:cs typeface="Open Sans Light"/>
              <a:sym typeface="Open Sans"/>
            </a:endParaRPr>
          </a:p>
        </p:txBody>
      </p:sp>
      <p:pic>
        <p:nvPicPr>
          <p:cNvPr id="189" name="Google Shape;189;p2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7500" y="548750"/>
            <a:ext cx="1853149" cy="753375"/>
          </a:xfrm>
          <a:prstGeom prst="rect">
            <a:avLst/>
          </a:prstGeom>
          <a:noFill/>
          <a:ln>
            <a:noFill/>
          </a:ln>
        </p:spPr>
      </p:pic>
      <p:pic>
        <p:nvPicPr>
          <p:cNvPr id="190" name="Google Shape;190;p2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36400" y="152400"/>
            <a:ext cx="1981365" cy="48387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7"/>
          <p:cNvSpPr txBox="1"/>
          <p:nvPr/>
        </p:nvSpPr>
        <p:spPr>
          <a:xfrm>
            <a:off x="584100" y="273625"/>
            <a:ext cx="7975800" cy="749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800" b="1">
                <a:solidFill>
                  <a:srgbClr val="0A00BE"/>
                </a:solidFill>
                <a:latin typeface="Open Sans ExtraBold"/>
                <a:ea typeface="Open Sans ExtraBold"/>
                <a:cs typeface="Open Sans ExtraBold"/>
                <a:sym typeface="Open Sans"/>
              </a:rPr>
              <a:t>1- Les enjeux</a:t>
            </a:r>
            <a:endParaRPr sz="1800" b="1">
              <a:solidFill>
                <a:srgbClr val="0A00BE"/>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r>
              <a:rPr lang="en" sz="1600">
                <a:solidFill>
                  <a:srgbClr val="0A00BE"/>
                </a:solidFill>
                <a:latin typeface="Open Sans Light"/>
                <a:ea typeface="Open Sans Light"/>
                <a:cs typeface="Open Sans Light"/>
                <a:sym typeface="Open Sans"/>
              </a:rPr>
              <a:t>Votre regard sur les enjeux du chantier (20 mn)</a:t>
            </a:r>
            <a:endParaRPr sz="1600">
              <a:solidFill>
                <a:srgbClr val="0A00BE"/>
              </a:solidFill>
              <a:latin typeface="Open Sans Light"/>
              <a:ea typeface="Open Sans Light"/>
              <a:cs typeface="Open Sans Light"/>
              <a:sym typeface="Open Sans"/>
            </a:endParaRPr>
          </a:p>
        </p:txBody>
      </p:sp>
      <p:sp>
        <p:nvSpPr>
          <p:cNvPr id="196" name="Google Shape;196;p27"/>
          <p:cNvSpPr txBox="1"/>
          <p:nvPr/>
        </p:nvSpPr>
        <p:spPr>
          <a:xfrm>
            <a:off x="649499" y="1299794"/>
            <a:ext cx="4088100" cy="30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Syne"/>
                <a:ea typeface="Syne"/>
                <a:cs typeface="Syne"/>
                <a:sym typeface="Syne"/>
              </a:rPr>
              <a:t>Quels sont selon vous les </a:t>
            </a:r>
            <a:r>
              <a:rPr lang="en" b="1">
                <a:solidFill>
                  <a:schemeClr val="dk1"/>
                </a:solidFill>
                <a:latin typeface="Syne"/>
                <a:ea typeface="Syne"/>
                <a:cs typeface="Syne"/>
                <a:sym typeface="Syne"/>
              </a:rPr>
              <a:t>enjeux</a:t>
            </a:r>
            <a:r>
              <a:rPr lang="en">
                <a:solidFill>
                  <a:schemeClr val="dk1"/>
                </a:solidFill>
                <a:latin typeface="Syne"/>
                <a:ea typeface="Syne"/>
                <a:cs typeface="Syne"/>
                <a:sym typeface="Syne"/>
              </a:rPr>
              <a:t> prioritaires du chantier ?</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457200" lvl="0" indent="-317500" algn="l" rtl="0">
              <a:spcBef>
                <a:spcPts val="0"/>
              </a:spcBef>
              <a:spcAft>
                <a:spcPts val="0"/>
              </a:spcAft>
              <a:buClr>
                <a:schemeClr val="dk1"/>
              </a:buClr>
              <a:buSzPts val="1400"/>
              <a:buFont typeface="Syne"/>
              <a:buChar char="❖"/>
            </a:pPr>
            <a:r>
              <a:rPr lang="en" b="1">
                <a:solidFill>
                  <a:schemeClr val="dk1"/>
                </a:solidFill>
                <a:latin typeface="Syne"/>
                <a:ea typeface="Syne"/>
                <a:cs typeface="Syne"/>
                <a:sym typeface="Syne"/>
              </a:rPr>
              <a:t>En quoi</a:t>
            </a:r>
            <a:r>
              <a:rPr lang="en">
                <a:solidFill>
                  <a:schemeClr val="dk1"/>
                </a:solidFill>
                <a:latin typeface="Syne"/>
                <a:ea typeface="Syne"/>
                <a:cs typeface="Syne"/>
                <a:sym typeface="Syne"/>
              </a:rPr>
              <a:t> cette réflexion me semble-t-elle importante pour la Région ?</a:t>
            </a:r>
            <a:endParaRPr>
              <a:solidFill>
                <a:schemeClr val="dk1"/>
              </a:solidFill>
              <a:latin typeface="Syne"/>
              <a:ea typeface="Syne"/>
              <a:cs typeface="Syne"/>
              <a:sym typeface="Syne"/>
            </a:endParaRPr>
          </a:p>
          <a:p>
            <a:pPr marL="457200" lvl="0" indent="-317500" algn="l" rtl="0">
              <a:spcBef>
                <a:spcPts val="600"/>
              </a:spcBef>
              <a:spcAft>
                <a:spcPts val="0"/>
              </a:spcAft>
              <a:buClr>
                <a:schemeClr val="dk1"/>
              </a:buClr>
              <a:buSzPts val="1400"/>
              <a:buFont typeface="Syne"/>
              <a:buChar char="❖"/>
            </a:pPr>
            <a:r>
              <a:rPr lang="en">
                <a:solidFill>
                  <a:schemeClr val="dk1"/>
                </a:solidFill>
                <a:latin typeface="Syne"/>
                <a:ea typeface="Syne"/>
                <a:cs typeface="Syne"/>
                <a:sym typeface="Syne"/>
              </a:rPr>
              <a:t>Au-delà de la direction de Paradigm, quels sont </a:t>
            </a:r>
            <a:r>
              <a:rPr lang="en" b="1">
                <a:solidFill>
                  <a:schemeClr val="dk1"/>
                </a:solidFill>
                <a:latin typeface="Syne"/>
                <a:ea typeface="Syne"/>
                <a:cs typeface="Syne"/>
                <a:sym typeface="Syne"/>
              </a:rPr>
              <a:t>les destinataires </a:t>
            </a:r>
            <a:r>
              <a:rPr lang="en">
                <a:solidFill>
                  <a:schemeClr val="dk1"/>
                </a:solidFill>
                <a:latin typeface="Syne"/>
                <a:ea typeface="Syne"/>
                <a:cs typeface="Syne"/>
                <a:sym typeface="Syne"/>
              </a:rPr>
              <a:t>de notre travail ?</a:t>
            </a:r>
            <a:endParaRPr>
              <a:solidFill>
                <a:schemeClr val="dk1"/>
              </a:solidFill>
              <a:latin typeface="Syne"/>
              <a:ea typeface="Syne"/>
              <a:cs typeface="Syne"/>
              <a:sym typeface="Syne"/>
            </a:endParaRPr>
          </a:p>
          <a:p>
            <a:pPr marL="457200" lvl="0" indent="-317500" algn="l" rtl="0">
              <a:spcBef>
                <a:spcPts val="600"/>
              </a:spcBef>
              <a:spcAft>
                <a:spcPts val="0"/>
              </a:spcAft>
              <a:buClr>
                <a:schemeClr val="dk1"/>
              </a:buClr>
              <a:buSzPts val="1400"/>
              <a:buFont typeface="Syne"/>
              <a:buChar char="❖"/>
            </a:pPr>
            <a:r>
              <a:rPr lang="en" b="1">
                <a:solidFill>
                  <a:schemeClr val="dk1"/>
                </a:solidFill>
                <a:latin typeface="Syne"/>
                <a:ea typeface="Syne"/>
                <a:cs typeface="Syne"/>
                <a:sym typeface="Syne"/>
              </a:rPr>
              <a:t>Quel impact </a:t>
            </a:r>
            <a:r>
              <a:rPr lang="en">
                <a:solidFill>
                  <a:schemeClr val="dk1"/>
                </a:solidFill>
                <a:latin typeface="Syne"/>
                <a:ea typeface="Syne"/>
                <a:cs typeface="Syne"/>
                <a:sym typeface="Syne"/>
              </a:rPr>
              <a:t>viser à travers les livrables que nous allons produire ?</a:t>
            </a:r>
            <a:endParaRPr>
              <a:solidFill>
                <a:schemeClr val="dk1"/>
              </a:solidFill>
              <a:latin typeface="Syne"/>
              <a:ea typeface="Syne"/>
              <a:cs typeface="Syne"/>
              <a:sym typeface="Syne"/>
            </a:endParaRPr>
          </a:p>
          <a:p>
            <a:pPr marL="0" lvl="0" indent="0" algn="l" rtl="0">
              <a:spcBef>
                <a:spcPts val="60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r>
              <a:rPr lang="en">
                <a:solidFill>
                  <a:schemeClr val="dk1"/>
                </a:solidFill>
                <a:latin typeface="Syne"/>
                <a:ea typeface="Syne"/>
                <a:cs typeface="Syne"/>
                <a:sym typeface="Syne"/>
              </a:rPr>
              <a:t>(3 mn de réflexion perso + partage collectif)</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b="1">
              <a:solidFill>
                <a:schemeClr val="dk1"/>
              </a:solidFill>
              <a:latin typeface="Syne"/>
              <a:ea typeface="Syne"/>
              <a:cs typeface="Syne"/>
              <a:sym typeface="Syne"/>
            </a:endParaRPr>
          </a:p>
        </p:txBody>
      </p:sp>
      <p:pic>
        <p:nvPicPr>
          <p:cNvPr id="197" name="Google Shape;197;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805875" y="1387000"/>
            <a:ext cx="2965300" cy="2965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8"/>
          <p:cNvSpPr/>
          <p:nvPr/>
        </p:nvSpPr>
        <p:spPr>
          <a:xfrm>
            <a:off x="5239325" y="1689"/>
            <a:ext cx="3904800" cy="5143500"/>
          </a:xfrm>
          <a:prstGeom prst="rect">
            <a:avLst/>
          </a:prstGeom>
          <a:solidFill>
            <a:srgbClr val="134F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28"/>
          <p:cNvSpPr txBox="1"/>
          <p:nvPr/>
        </p:nvSpPr>
        <p:spPr>
          <a:xfrm>
            <a:off x="636600" y="1286075"/>
            <a:ext cx="4125900" cy="30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Syne"/>
                <a:ea typeface="Syne"/>
                <a:cs typeface="Syne"/>
                <a:sym typeface="Syne"/>
              </a:rPr>
              <a:t>Les objectifs  proposés vous paraissent-ils…</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457200" lvl="0" indent="-317500" algn="l" rtl="0">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Pertinents </a:t>
            </a:r>
            <a:endParaRPr>
              <a:solidFill>
                <a:schemeClr val="dk1"/>
              </a:solidFill>
              <a:latin typeface="Syne"/>
              <a:ea typeface="Syne"/>
              <a:cs typeface="Syne"/>
              <a:sym typeface="Syne"/>
            </a:endParaRPr>
          </a:p>
          <a:p>
            <a:pPr marL="457200" lvl="0" indent="-317500" algn="l" rtl="0">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Exhaustifs </a:t>
            </a:r>
            <a:endParaRPr>
              <a:solidFill>
                <a:schemeClr val="dk1"/>
              </a:solidFill>
              <a:latin typeface="Syne"/>
              <a:ea typeface="Syne"/>
              <a:cs typeface="Syne"/>
              <a:sym typeface="Syne"/>
            </a:endParaRPr>
          </a:p>
          <a:p>
            <a:pPr marL="457200" lvl="0" indent="-317500" algn="l" rtl="0">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Bien formulés ?</a:t>
            </a:r>
            <a:endParaRPr>
              <a:solidFill>
                <a:schemeClr val="dk1"/>
              </a:solidFill>
              <a:latin typeface="Syne"/>
              <a:ea typeface="Syne"/>
              <a:cs typeface="Syne"/>
              <a:sym typeface="Syne"/>
            </a:endParaRPr>
          </a:p>
          <a:p>
            <a:pPr marL="45720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r>
              <a:rPr lang="en">
                <a:solidFill>
                  <a:schemeClr val="dk1"/>
                </a:solidFill>
                <a:latin typeface="Syne"/>
                <a:ea typeface="Syne"/>
                <a:cs typeface="Syne"/>
                <a:sym typeface="Syne"/>
              </a:rPr>
              <a:t>Souhaitons-nous : supprimer /ajouter /reformuler certains objectifs ?</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r>
              <a:rPr lang="en">
                <a:solidFill>
                  <a:schemeClr val="dk1"/>
                </a:solidFill>
                <a:latin typeface="Syne"/>
                <a:ea typeface="Syne"/>
                <a:cs typeface="Syne"/>
                <a:sym typeface="Syne"/>
              </a:rPr>
              <a:t>Comment </a:t>
            </a:r>
            <a:r>
              <a:rPr lang="en" b="1">
                <a:solidFill>
                  <a:schemeClr val="dk1"/>
                </a:solidFill>
                <a:latin typeface="Syne"/>
                <a:ea typeface="Syne"/>
                <a:cs typeface="Syne"/>
                <a:sym typeface="Syne"/>
              </a:rPr>
              <a:t>priorisons-nous</a:t>
            </a:r>
            <a:r>
              <a:rPr lang="en">
                <a:solidFill>
                  <a:schemeClr val="dk1"/>
                </a:solidFill>
                <a:latin typeface="Syne"/>
                <a:ea typeface="Syne"/>
                <a:cs typeface="Syne"/>
                <a:sym typeface="Syne"/>
              </a:rPr>
              <a:t> ces objectifs dans le temps ?</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p:txBody>
      </p:sp>
      <p:sp>
        <p:nvSpPr>
          <p:cNvPr id="204" name="Google Shape;204;p28"/>
          <p:cNvSpPr txBox="1"/>
          <p:nvPr/>
        </p:nvSpPr>
        <p:spPr>
          <a:xfrm>
            <a:off x="584100" y="273625"/>
            <a:ext cx="3987900" cy="1032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800" b="1">
                <a:solidFill>
                  <a:srgbClr val="0A00BE"/>
                </a:solidFill>
                <a:latin typeface="Open Sans ExtraBold"/>
                <a:ea typeface="Open Sans ExtraBold"/>
                <a:cs typeface="Open Sans ExtraBold"/>
                <a:sym typeface="Open Sans"/>
              </a:rPr>
              <a:t>2- Les objectifs</a:t>
            </a:r>
            <a:endParaRPr sz="1800" b="1">
              <a:solidFill>
                <a:srgbClr val="0A00BE"/>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r>
              <a:rPr lang="en" sz="1600">
                <a:solidFill>
                  <a:srgbClr val="0A00BE"/>
                </a:solidFill>
                <a:latin typeface="Open Sans Light"/>
                <a:ea typeface="Open Sans Light"/>
                <a:cs typeface="Open Sans Light"/>
                <a:sym typeface="Open Sans"/>
              </a:rPr>
              <a:t>Revoir et prioriser les objectifs du chantier (30 mn)</a:t>
            </a:r>
            <a:endParaRPr sz="1600">
              <a:solidFill>
                <a:srgbClr val="0A00BE"/>
              </a:solidFill>
              <a:latin typeface="Open Sans Light"/>
              <a:ea typeface="Open Sans Light"/>
              <a:cs typeface="Open Sans Light"/>
              <a:sym typeface="Open Sans"/>
            </a:endParaRPr>
          </a:p>
        </p:txBody>
      </p:sp>
      <p:sp>
        <p:nvSpPr>
          <p:cNvPr id="205" name="Google Shape;205;p28"/>
          <p:cNvSpPr txBox="1"/>
          <p:nvPr/>
        </p:nvSpPr>
        <p:spPr>
          <a:xfrm>
            <a:off x="5424388" y="1489375"/>
            <a:ext cx="3386700" cy="3000000"/>
          </a:xfrm>
          <a:prstGeom prst="rect">
            <a:avLst/>
          </a:prstGeom>
          <a:noFill/>
          <a:ln>
            <a:noFill/>
          </a:ln>
        </p:spPr>
        <p:txBody>
          <a:bodyPr spcFirstLastPara="1" wrap="square" lIns="91425" tIns="91425" rIns="91425" bIns="91425" anchor="t" anchorCtr="0">
            <a:noAutofit/>
          </a:bodyPr>
          <a:lstStyle/>
          <a:p>
            <a:pPr marL="171450" lvl="0" indent="0" algn="just" rtl="0">
              <a:lnSpc>
                <a:spcPct val="116000"/>
              </a:lnSpc>
              <a:spcBef>
                <a:spcPts val="1600"/>
              </a:spcBef>
              <a:spcAft>
                <a:spcPts val="0"/>
              </a:spcAft>
              <a:buNone/>
            </a:pPr>
            <a:r>
              <a:rPr lang="en" sz="1200" b="1">
                <a:solidFill>
                  <a:schemeClr val="lt1"/>
                </a:solidFill>
                <a:latin typeface="Syne"/>
                <a:ea typeface="Syne"/>
                <a:cs typeface="Syne"/>
                <a:sym typeface="Syne"/>
              </a:rPr>
              <a:t>1. Établir un état des lieux structuré</a:t>
            </a:r>
            <a:endParaRPr sz="1200" b="1">
              <a:solidFill>
                <a:schemeClr val="lt1"/>
              </a:solidFill>
              <a:latin typeface="Syne"/>
              <a:ea typeface="Syne"/>
              <a:cs typeface="Syne"/>
              <a:sym typeface="Syne"/>
            </a:endParaRPr>
          </a:p>
          <a:p>
            <a:pPr marL="171450" lvl="0" indent="0" algn="just" rtl="0">
              <a:lnSpc>
                <a:spcPct val="116000"/>
              </a:lnSpc>
              <a:spcBef>
                <a:spcPts val="1600"/>
              </a:spcBef>
              <a:spcAft>
                <a:spcPts val="0"/>
              </a:spcAft>
              <a:buNone/>
            </a:pPr>
            <a:r>
              <a:rPr lang="en" sz="1200" b="1">
                <a:solidFill>
                  <a:schemeClr val="lt1"/>
                </a:solidFill>
                <a:latin typeface="Syne"/>
                <a:ea typeface="Syne"/>
                <a:cs typeface="Syne"/>
                <a:sym typeface="Syne"/>
              </a:rPr>
              <a:t>2. Se positionner dans l’écosystème existant </a:t>
            </a:r>
            <a:endParaRPr sz="1200">
              <a:solidFill>
                <a:schemeClr val="lt1"/>
              </a:solidFill>
              <a:latin typeface="Syne"/>
              <a:ea typeface="Syne"/>
              <a:cs typeface="Syne"/>
              <a:sym typeface="Syne"/>
            </a:endParaRPr>
          </a:p>
          <a:p>
            <a:pPr marL="171450" lvl="0" indent="0" algn="just" rtl="0">
              <a:lnSpc>
                <a:spcPct val="116000"/>
              </a:lnSpc>
              <a:spcBef>
                <a:spcPts val="1600"/>
              </a:spcBef>
              <a:spcAft>
                <a:spcPts val="0"/>
              </a:spcAft>
              <a:buNone/>
            </a:pPr>
            <a:r>
              <a:rPr lang="en" sz="1200" b="1">
                <a:solidFill>
                  <a:schemeClr val="lt1"/>
                </a:solidFill>
                <a:latin typeface="Syne"/>
                <a:ea typeface="Syne"/>
                <a:cs typeface="Syne"/>
                <a:sym typeface="Syne"/>
              </a:rPr>
              <a:t>3. Identifier et valoriser les atouts régionaux</a:t>
            </a:r>
            <a:endParaRPr sz="1200" b="1">
              <a:solidFill>
                <a:schemeClr val="lt1"/>
              </a:solidFill>
              <a:latin typeface="Syne"/>
              <a:ea typeface="Syne"/>
              <a:cs typeface="Syne"/>
              <a:sym typeface="Syne"/>
            </a:endParaRPr>
          </a:p>
          <a:p>
            <a:pPr marL="171450" lvl="0" indent="0" algn="just" rtl="0">
              <a:lnSpc>
                <a:spcPct val="116000"/>
              </a:lnSpc>
              <a:spcBef>
                <a:spcPts val="1600"/>
              </a:spcBef>
              <a:spcAft>
                <a:spcPts val="0"/>
              </a:spcAft>
              <a:buNone/>
            </a:pPr>
            <a:r>
              <a:rPr lang="en" sz="1200" b="1">
                <a:solidFill>
                  <a:schemeClr val="lt1"/>
                </a:solidFill>
                <a:latin typeface="Syne"/>
                <a:ea typeface="Syne"/>
                <a:cs typeface="Syne"/>
                <a:sym typeface="Syne"/>
              </a:rPr>
              <a:t>4. Explorer les stratégies menées par d’autres entités publiques (EU, regions, métropoles…) </a:t>
            </a:r>
            <a:endParaRPr sz="1200" b="1">
              <a:solidFill>
                <a:schemeClr val="lt1"/>
              </a:solidFill>
              <a:latin typeface="Syne"/>
              <a:ea typeface="Syne"/>
              <a:cs typeface="Syne"/>
              <a:sym typeface="Syne"/>
            </a:endParaRPr>
          </a:p>
          <a:p>
            <a:pPr marL="171450" lvl="0" indent="0" algn="l" rtl="0">
              <a:lnSpc>
                <a:spcPct val="116000"/>
              </a:lnSpc>
              <a:spcBef>
                <a:spcPts val="1600"/>
              </a:spcBef>
              <a:spcAft>
                <a:spcPts val="1600"/>
              </a:spcAft>
              <a:buNone/>
            </a:pPr>
            <a:r>
              <a:rPr lang="en" sz="1200" b="1">
                <a:solidFill>
                  <a:schemeClr val="lt1"/>
                </a:solidFill>
                <a:latin typeface="Syne"/>
                <a:ea typeface="Syne"/>
                <a:cs typeface="Syne"/>
                <a:sym typeface="Syne"/>
              </a:rPr>
              <a:t>5. Proposer une trajectoire pragmatique</a:t>
            </a:r>
            <a:endParaRPr sz="1200" b="1">
              <a:solidFill>
                <a:schemeClr val="lt1"/>
              </a:solidFill>
              <a:latin typeface="Syne"/>
              <a:ea typeface="Syne"/>
              <a:cs typeface="Syne"/>
              <a:sym typeface="Syne"/>
            </a:endParaRPr>
          </a:p>
        </p:txBody>
      </p:sp>
      <p:pic>
        <p:nvPicPr>
          <p:cNvPr id="206" name="Google Shape;206;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623567" y="245725"/>
            <a:ext cx="1136312" cy="1088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00C5"/>
        </a:solidFill>
        <a:effectLst/>
      </p:bgPr>
    </p:bg>
    <p:spTree>
      <p:nvGrpSpPr>
        <p:cNvPr id="1" name="Shape 210"/>
        <p:cNvGrpSpPr/>
        <p:nvPr/>
      </p:nvGrpSpPr>
      <p:grpSpPr>
        <a:xfrm>
          <a:off x="0" y="0"/>
          <a:ext cx="0" cy="0"/>
          <a:chOff x="0" y="0"/>
          <a:chExt cx="0" cy="0"/>
        </a:xfrm>
      </p:grpSpPr>
      <p:sp>
        <p:nvSpPr>
          <p:cNvPr id="211" name="Google Shape;211;p29"/>
          <p:cNvSpPr txBox="1"/>
          <p:nvPr/>
        </p:nvSpPr>
        <p:spPr>
          <a:xfrm>
            <a:off x="947500" y="2091500"/>
            <a:ext cx="5536500" cy="978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400" b="1">
                <a:solidFill>
                  <a:schemeClr val="lt1"/>
                </a:solidFill>
                <a:latin typeface="Open Sans ExtraBold"/>
                <a:ea typeface="Open Sans ExtraBold"/>
                <a:cs typeface="Open Sans ExtraBold"/>
                <a:sym typeface="Open Sans"/>
              </a:rPr>
              <a:t>Présentation du field study Souveraineté</a:t>
            </a:r>
            <a:endParaRPr sz="2200" i="0" u="none" strike="noStrike" cap="none">
              <a:solidFill>
                <a:schemeClr val="lt1"/>
              </a:solidFill>
              <a:latin typeface="Open Sans Light"/>
              <a:ea typeface="Open Sans Light"/>
              <a:cs typeface="Open Sans Light"/>
              <a:sym typeface="Open Sans"/>
            </a:endParaRPr>
          </a:p>
        </p:txBody>
      </p:sp>
      <p:pic>
        <p:nvPicPr>
          <p:cNvPr id="212" name="Google Shape;212;p2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7500" y="548750"/>
            <a:ext cx="1853149" cy="753375"/>
          </a:xfrm>
          <a:prstGeom prst="rect">
            <a:avLst/>
          </a:prstGeom>
          <a:noFill/>
          <a:ln>
            <a:noFill/>
          </a:ln>
        </p:spPr>
      </p:pic>
      <p:pic>
        <p:nvPicPr>
          <p:cNvPr id="213" name="Google Shape;213;p2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36400" y="152400"/>
            <a:ext cx="1981365" cy="48387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0"/>
          <p:cNvSpPr txBox="1"/>
          <p:nvPr/>
        </p:nvSpPr>
        <p:spPr>
          <a:xfrm>
            <a:off x="530400" y="378000"/>
            <a:ext cx="3555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Field Study SOLVAY</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Rapport des étudiants</a:t>
            </a:r>
            <a:endParaRPr>
              <a:solidFill>
                <a:srgbClr val="0A00BE"/>
              </a:solidFill>
              <a:latin typeface="Syne"/>
              <a:ea typeface="Syne"/>
              <a:cs typeface="Syne"/>
              <a:sym typeface="Syne"/>
            </a:endParaRPr>
          </a:p>
        </p:txBody>
      </p:sp>
      <p:pic>
        <p:nvPicPr>
          <p:cNvPr id="219" name="Google Shape;219;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450700" y="2461575"/>
            <a:ext cx="1714399" cy="2277599"/>
          </a:xfrm>
          <a:prstGeom prst="rect">
            <a:avLst/>
          </a:prstGeom>
          <a:noFill/>
          <a:ln w="9525" cap="flat" cmpd="sng">
            <a:solidFill>
              <a:schemeClr val="dk2"/>
            </a:solidFill>
            <a:prstDash val="solid"/>
            <a:round/>
            <a:headEnd type="none" w="sm" len="sm"/>
            <a:tailEnd type="none" w="sm" len="sm"/>
          </a:ln>
        </p:spPr>
      </p:pic>
      <p:sp>
        <p:nvSpPr>
          <p:cNvPr id="220" name="Google Shape;220;p30"/>
          <p:cNvSpPr txBox="1"/>
          <p:nvPr/>
        </p:nvSpPr>
        <p:spPr>
          <a:xfrm>
            <a:off x="663200" y="1314950"/>
            <a:ext cx="3846600" cy="8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2"/>
                </a:solidFill>
                <a:latin typeface="Open Sans Light"/>
                <a:ea typeface="Open Sans Light"/>
                <a:cs typeface="Open Sans Light"/>
                <a:sym typeface="Open Sans"/>
              </a:rPr>
              <a:t>5 étudiants de la Solvay Business School ont travaillé entre mars et juin 2026  sur la thématique de la souveraineté régionale.</a:t>
            </a:r>
            <a:endParaRPr sz="1200">
              <a:solidFill>
                <a:schemeClr val="dk1"/>
              </a:solidFill>
              <a:latin typeface="Open Sans Light"/>
              <a:ea typeface="Open Sans Light"/>
              <a:cs typeface="Open Sans Light"/>
              <a:sym typeface="Open Sans"/>
            </a:endParaRPr>
          </a:p>
        </p:txBody>
      </p:sp>
      <p:pic>
        <p:nvPicPr>
          <p:cNvPr id="221" name="Google Shape;221;p3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297300" y="0"/>
            <a:ext cx="3846702" cy="2682800"/>
          </a:xfrm>
          <a:prstGeom prst="rect">
            <a:avLst/>
          </a:prstGeom>
          <a:noFill/>
          <a:ln>
            <a:noFill/>
          </a:ln>
        </p:spPr>
      </p:pic>
      <p:pic>
        <p:nvPicPr>
          <p:cNvPr id="222" name="Google Shape;222;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297300" y="2682800"/>
            <a:ext cx="3846700" cy="2460700"/>
          </a:xfrm>
          <a:prstGeom prst="rect">
            <a:avLst/>
          </a:prstGeom>
          <a:noFill/>
          <a:ln>
            <a:noFill/>
          </a:ln>
        </p:spPr>
      </p:pic>
      <p:pic>
        <p:nvPicPr>
          <p:cNvPr id="223" name="Google Shape;223;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622700" y="488350"/>
            <a:ext cx="462700" cy="462700"/>
          </a:xfrm>
          <a:prstGeom prst="rect">
            <a:avLst/>
          </a:prstGeom>
          <a:noFill/>
          <a:ln>
            <a:noFill/>
          </a:ln>
        </p:spPr>
      </p:pic>
      <p:pic>
        <p:nvPicPr>
          <p:cNvPr id="224" name="Google Shape;224;p30"/>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297300" y="0"/>
            <a:ext cx="3846699" cy="26828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1"/>
          <p:cNvSpPr txBox="1"/>
          <p:nvPr/>
        </p:nvSpPr>
        <p:spPr>
          <a:xfrm>
            <a:off x="530400" y="378000"/>
            <a:ext cx="3555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Field Study SOLVAY</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Bibliographie</a:t>
            </a:r>
            <a:endParaRPr>
              <a:solidFill>
                <a:srgbClr val="0A00BE"/>
              </a:solidFill>
              <a:latin typeface="Syne"/>
              <a:ea typeface="Syne"/>
              <a:cs typeface="Syne"/>
              <a:sym typeface="Syne"/>
            </a:endParaRPr>
          </a:p>
        </p:txBody>
      </p:sp>
      <p:pic>
        <p:nvPicPr>
          <p:cNvPr id="230" name="Google Shape;230;p3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36175" y="723950"/>
            <a:ext cx="3195975" cy="3362350"/>
          </a:xfrm>
          <a:prstGeom prst="rect">
            <a:avLst/>
          </a:prstGeom>
          <a:noFill/>
          <a:ln w="9525" cap="flat" cmpd="sng">
            <a:solidFill>
              <a:schemeClr val="dk2"/>
            </a:solidFill>
            <a:prstDash val="solid"/>
            <a:round/>
            <a:headEnd type="none" w="sm" len="sm"/>
            <a:tailEnd type="none" w="sm" len="sm"/>
          </a:ln>
        </p:spPr>
      </p:pic>
      <p:sp>
        <p:nvSpPr>
          <p:cNvPr id="231" name="Google Shape;231;p31"/>
          <p:cNvSpPr txBox="1"/>
          <p:nvPr/>
        </p:nvSpPr>
        <p:spPr>
          <a:xfrm>
            <a:off x="575900" y="1473700"/>
            <a:ext cx="2941200" cy="8271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a:solidFill>
                  <a:schemeClr val="dk1"/>
                </a:solidFill>
                <a:latin typeface="Open Sans Light"/>
                <a:ea typeface="Open Sans Light"/>
                <a:cs typeface="Open Sans Light"/>
                <a:sym typeface="Open Sans"/>
              </a:rPr>
              <a:t>Les étudiants ont identifié et répertorié une liste d’articles et de documents qualitatifs sur la thématique de la souveraineté</a:t>
            </a:r>
            <a:endParaRPr sz="1200">
              <a:solidFill>
                <a:schemeClr val="dk1"/>
              </a:solidFill>
              <a:latin typeface="Open Sans Light"/>
              <a:ea typeface="Open Sans Light"/>
              <a:cs typeface="Open Sans Light"/>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p:nvPr/>
        </p:nvSpPr>
        <p:spPr>
          <a:xfrm>
            <a:off x="530400" y="378000"/>
            <a:ext cx="3555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Field Study SOLVAY</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Benchmark</a:t>
            </a:r>
            <a:endParaRPr>
              <a:solidFill>
                <a:srgbClr val="0A00BE"/>
              </a:solidFill>
              <a:latin typeface="Syne"/>
              <a:ea typeface="Syne"/>
              <a:cs typeface="Syne"/>
              <a:sym typeface="Syne"/>
            </a:endParaRPr>
          </a:p>
        </p:txBody>
      </p:sp>
      <p:sp>
        <p:nvSpPr>
          <p:cNvPr id="237" name="Google Shape;237;p32"/>
          <p:cNvSpPr txBox="1"/>
          <p:nvPr/>
        </p:nvSpPr>
        <p:spPr>
          <a:xfrm>
            <a:off x="575900" y="1473700"/>
            <a:ext cx="2941200" cy="8271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a:solidFill>
                  <a:schemeClr val="dk1"/>
                </a:solidFill>
                <a:latin typeface="Open Sans Light"/>
                <a:ea typeface="Open Sans Light"/>
                <a:cs typeface="Open Sans Light"/>
                <a:sym typeface="Open Sans"/>
              </a:rPr>
              <a:t>Les étudiants ont identifiés et répertoriés les actions d’autres entités publiques européennes sur le sujet de la souveraineté.</a:t>
            </a:r>
            <a:endParaRPr sz="1200">
              <a:solidFill>
                <a:schemeClr val="dk1"/>
              </a:solidFill>
              <a:latin typeface="Open Sans Light"/>
              <a:ea typeface="Open Sans Light"/>
              <a:cs typeface="Open Sans Light"/>
              <a:sym typeface="Open Sans"/>
            </a:endParaRPr>
          </a:p>
        </p:txBody>
      </p:sp>
      <p:pic>
        <p:nvPicPr>
          <p:cNvPr id="238" name="Google Shape;238;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192250" y="679626"/>
            <a:ext cx="4566973" cy="2671525"/>
          </a:xfrm>
          <a:prstGeom prst="rect">
            <a:avLst/>
          </a:prstGeom>
          <a:noFill/>
          <a:ln w="9525" cap="flat" cmpd="sng">
            <a:solidFill>
              <a:srgbClr val="595959"/>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p:nvPr/>
        </p:nvSpPr>
        <p:spPr>
          <a:xfrm>
            <a:off x="530400" y="378000"/>
            <a:ext cx="3555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Field Study SOLVAY</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Matrice de souveraineté</a:t>
            </a:r>
            <a:endParaRPr>
              <a:solidFill>
                <a:srgbClr val="0A00BE"/>
              </a:solidFill>
              <a:latin typeface="Syne"/>
              <a:ea typeface="Syne"/>
              <a:cs typeface="Syne"/>
              <a:sym typeface="Syne"/>
            </a:endParaRPr>
          </a:p>
        </p:txBody>
      </p:sp>
      <p:sp>
        <p:nvSpPr>
          <p:cNvPr id="244" name="Google Shape;244;p33"/>
          <p:cNvSpPr txBox="1"/>
          <p:nvPr/>
        </p:nvSpPr>
        <p:spPr>
          <a:xfrm>
            <a:off x="575900" y="1473700"/>
            <a:ext cx="3449100" cy="26871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a:solidFill>
                  <a:schemeClr val="dk1"/>
                </a:solidFill>
                <a:latin typeface="Open Sans Light"/>
                <a:ea typeface="Open Sans Light"/>
                <a:cs typeface="Open Sans Light"/>
                <a:sym typeface="Open Sans"/>
              </a:rPr>
              <a:t>Les étudiants ont proposé une analyse des risques de souveraineté sur 4 axes :</a:t>
            </a:r>
            <a:endParaRPr sz="1200">
              <a:solidFill>
                <a:schemeClr val="dk1"/>
              </a:solidFill>
              <a:latin typeface="Open Sans Light"/>
              <a:ea typeface="Open Sans Light"/>
              <a:cs typeface="Open Sans Light"/>
              <a:sym typeface="Open Sans"/>
            </a:endParaRPr>
          </a:p>
          <a:p>
            <a:pPr marL="0" lvl="0" indent="0" algn="l" rtl="0">
              <a:lnSpc>
                <a:spcPct val="110000"/>
              </a:lnSpc>
              <a:spcBef>
                <a:spcPts val="0"/>
              </a:spcBef>
              <a:spcAft>
                <a:spcPts val="0"/>
              </a:spcAft>
              <a:buNone/>
            </a:pPr>
            <a:endParaRPr sz="1200">
              <a:solidFill>
                <a:schemeClr val="dk1"/>
              </a:solidFill>
              <a:latin typeface="Open Sans Light"/>
              <a:ea typeface="Open Sans Light"/>
              <a:cs typeface="Open Sans Light"/>
              <a:sym typeface="Open Sans"/>
            </a:endParaRPr>
          </a:p>
          <a:p>
            <a:pPr marL="457200" lvl="0" indent="-304800" algn="l" rtl="0">
              <a:lnSpc>
                <a:spcPct val="110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Risque </a:t>
            </a:r>
            <a:r>
              <a:rPr lang="en" sz="1200" b="1">
                <a:solidFill>
                  <a:schemeClr val="dk1"/>
                </a:solidFill>
                <a:latin typeface="Open Sans ExtraBold"/>
                <a:ea typeface="Open Sans ExtraBold"/>
                <a:cs typeface="Open Sans ExtraBold"/>
                <a:sym typeface="Open Sans"/>
              </a:rPr>
              <a:t>Data</a:t>
            </a:r>
            <a:endParaRPr sz="1200" b="1">
              <a:solidFill>
                <a:schemeClr val="dk1"/>
              </a:solidFill>
              <a:latin typeface="Open Sans ExtraBold"/>
              <a:ea typeface="Open Sans ExtraBold"/>
              <a:cs typeface="Open Sans ExtraBold"/>
              <a:sym typeface="Open Sans"/>
            </a:endParaRPr>
          </a:p>
          <a:p>
            <a:pPr marL="457200" lvl="0" indent="-304800" algn="l" rtl="0">
              <a:lnSpc>
                <a:spcPct val="110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Risque </a:t>
            </a:r>
            <a:r>
              <a:rPr lang="en" sz="1200" b="1">
                <a:solidFill>
                  <a:schemeClr val="dk1"/>
                </a:solidFill>
                <a:latin typeface="Open Sans ExtraBold"/>
                <a:ea typeface="Open Sans ExtraBold"/>
                <a:cs typeface="Open Sans ExtraBold"/>
                <a:sym typeface="Open Sans"/>
              </a:rPr>
              <a:t>Technique</a:t>
            </a:r>
            <a:endParaRPr sz="1200" b="1">
              <a:solidFill>
                <a:schemeClr val="dk1"/>
              </a:solidFill>
              <a:latin typeface="Open Sans ExtraBold"/>
              <a:ea typeface="Open Sans ExtraBold"/>
              <a:cs typeface="Open Sans ExtraBold"/>
              <a:sym typeface="Open Sans"/>
            </a:endParaRPr>
          </a:p>
          <a:p>
            <a:pPr marL="457200" lvl="0" indent="-304800" algn="l" rtl="0">
              <a:lnSpc>
                <a:spcPct val="110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Risque </a:t>
            </a:r>
            <a:r>
              <a:rPr lang="en" sz="1200" b="1">
                <a:solidFill>
                  <a:schemeClr val="dk1"/>
                </a:solidFill>
                <a:latin typeface="Open Sans ExtraBold"/>
                <a:ea typeface="Open Sans ExtraBold"/>
                <a:cs typeface="Open Sans ExtraBold"/>
                <a:sym typeface="Open Sans"/>
              </a:rPr>
              <a:t>Economique</a:t>
            </a:r>
            <a:endParaRPr sz="1200" b="1">
              <a:solidFill>
                <a:schemeClr val="dk1"/>
              </a:solidFill>
              <a:latin typeface="Open Sans ExtraBold"/>
              <a:ea typeface="Open Sans ExtraBold"/>
              <a:cs typeface="Open Sans ExtraBold"/>
              <a:sym typeface="Open Sans"/>
            </a:endParaRPr>
          </a:p>
          <a:p>
            <a:pPr marL="457200" lvl="0" indent="-304800" algn="l" rtl="0">
              <a:lnSpc>
                <a:spcPct val="110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Risque </a:t>
            </a:r>
            <a:r>
              <a:rPr lang="en" sz="1200" b="1">
                <a:solidFill>
                  <a:schemeClr val="dk1"/>
                </a:solidFill>
                <a:latin typeface="Open Sans ExtraBold"/>
                <a:ea typeface="Open Sans ExtraBold"/>
                <a:cs typeface="Open Sans ExtraBold"/>
                <a:sym typeface="Open Sans"/>
              </a:rPr>
              <a:t>d’Approvisionnement</a:t>
            </a:r>
            <a:endParaRPr sz="1200" b="1">
              <a:solidFill>
                <a:schemeClr val="dk1"/>
              </a:solidFill>
              <a:latin typeface="Open Sans ExtraBold"/>
              <a:ea typeface="Open Sans ExtraBold"/>
              <a:cs typeface="Open Sans ExtraBold"/>
              <a:sym typeface="Open Sans"/>
            </a:endParaRPr>
          </a:p>
          <a:p>
            <a:pPr marL="0" lvl="0" indent="0" algn="l" rtl="0">
              <a:lnSpc>
                <a:spcPct val="110000"/>
              </a:lnSpc>
              <a:spcBef>
                <a:spcPts val="0"/>
              </a:spcBef>
              <a:spcAft>
                <a:spcPts val="0"/>
              </a:spcAft>
              <a:buNone/>
            </a:pPr>
            <a:endParaRPr sz="1200">
              <a:solidFill>
                <a:schemeClr val="dk1"/>
              </a:solidFill>
              <a:latin typeface="Open Sans Light"/>
              <a:ea typeface="Open Sans Light"/>
              <a:cs typeface="Open Sans Light"/>
              <a:sym typeface="Open Sans"/>
            </a:endParaRPr>
          </a:p>
        </p:txBody>
      </p:sp>
      <p:pic>
        <p:nvPicPr>
          <p:cNvPr id="245" name="Google Shape;245;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53950" y="216925"/>
            <a:ext cx="2339776" cy="2541125"/>
          </a:xfrm>
          <a:prstGeom prst="rect">
            <a:avLst/>
          </a:prstGeom>
          <a:noFill/>
          <a:ln>
            <a:noFill/>
          </a:ln>
        </p:spPr>
      </p:pic>
      <p:pic>
        <p:nvPicPr>
          <p:cNvPr id="246" name="Google Shape;246;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56275" y="2758050"/>
            <a:ext cx="4654977" cy="2006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00C5"/>
        </a:solidFill>
        <a:effectLst/>
      </p:bgPr>
    </p:bg>
    <p:spTree>
      <p:nvGrpSpPr>
        <p:cNvPr id="1" name="Shape 250"/>
        <p:cNvGrpSpPr/>
        <p:nvPr/>
      </p:nvGrpSpPr>
      <p:grpSpPr>
        <a:xfrm>
          <a:off x="0" y="0"/>
          <a:ext cx="0" cy="0"/>
          <a:chOff x="0" y="0"/>
          <a:chExt cx="0" cy="0"/>
        </a:xfrm>
      </p:grpSpPr>
      <p:sp>
        <p:nvSpPr>
          <p:cNvPr id="251" name="Google Shape;251;p34"/>
          <p:cNvSpPr txBox="1"/>
          <p:nvPr/>
        </p:nvSpPr>
        <p:spPr>
          <a:xfrm>
            <a:off x="947500" y="2091500"/>
            <a:ext cx="55365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400" b="1">
                <a:solidFill>
                  <a:schemeClr val="lt1"/>
                </a:solidFill>
                <a:latin typeface="Open Sans ExtraBold"/>
                <a:ea typeface="Open Sans ExtraBold"/>
                <a:cs typeface="Open Sans ExtraBold"/>
                <a:sym typeface="Open Sans"/>
              </a:rPr>
              <a:t>Outils de collaboration</a:t>
            </a:r>
            <a:endParaRPr sz="2200" i="0" u="none" strike="noStrike" cap="none">
              <a:solidFill>
                <a:schemeClr val="lt1"/>
              </a:solidFill>
              <a:latin typeface="Open Sans Light"/>
              <a:ea typeface="Open Sans Light"/>
              <a:cs typeface="Open Sans Light"/>
              <a:sym typeface="Open Sans"/>
            </a:endParaRPr>
          </a:p>
        </p:txBody>
      </p:sp>
      <p:pic>
        <p:nvPicPr>
          <p:cNvPr id="252" name="Google Shape;252;p3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7500" y="548750"/>
            <a:ext cx="1853149" cy="753375"/>
          </a:xfrm>
          <a:prstGeom prst="rect">
            <a:avLst/>
          </a:prstGeom>
          <a:noFill/>
          <a:ln>
            <a:noFill/>
          </a:ln>
        </p:spPr>
      </p:pic>
      <p:pic>
        <p:nvPicPr>
          <p:cNvPr id="253" name="Google Shape;253;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36400" y="152400"/>
            <a:ext cx="1981365" cy="48387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p:nvPr/>
        </p:nvSpPr>
        <p:spPr>
          <a:xfrm>
            <a:off x="530400" y="378000"/>
            <a:ext cx="3555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Outils collaboratifs</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Canal Teams </a:t>
            </a:r>
            <a:endParaRPr>
              <a:solidFill>
                <a:srgbClr val="0A00BE"/>
              </a:solidFill>
              <a:latin typeface="Syne"/>
              <a:ea typeface="Syne"/>
              <a:cs typeface="Syne"/>
              <a:sym typeface="Syne"/>
            </a:endParaRPr>
          </a:p>
        </p:txBody>
      </p:sp>
      <p:sp>
        <p:nvSpPr>
          <p:cNvPr id="259" name="Google Shape;259;p35"/>
          <p:cNvSpPr txBox="1"/>
          <p:nvPr/>
        </p:nvSpPr>
        <p:spPr>
          <a:xfrm>
            <a:off x="575900" y="1473700"/>
            <a:ext cx="3449100" cy="26871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a:solidFill>
                  <a:schemeClr val="dk1"/>
                </a:solidFill>
                <a:latin typeface="Open Sans Light"/>
                <a:ea typeface="Open Sans Light"/>
                <a:cs typeface="Open Sans Light"/>
                <a:sym typeface="Open Sans"/>
              </a:rPr>
              <a:t>Ressources et conversations dans le canal Teams : </a:t>
            </a:r>
            <a:endParaRPr sz="1200">
              <a:solidFill>
                <a:schemeClr val="dk1"/>
              </a:solidFill>
              <a:latin typeface="Open Sans Light"/>
              <a:ea typeface="Open Sans Light"/>
              <a:cs typeface="Open Sans Light"/>
              <a:sym typeface="Open Sans"/>
            </a:endParaRPr>
          </a:p>
          <a:p>
            <a:pPr marL="0" lvl="0" indent="0" algn="l" rtl="0">
              <a:lnSpc>
                <a:spcPct val="110000"/>
              </a:lnSpc>
              <a:spcBef>
                <a:spcPts val="0"/>
              </a:spcBef>
              <a:spcAft>
                <a:spcPts val="0"/>
              </a:spcAft>
              <a:buNone/>
            </a:pPr>
            <a:endParaRPr sz="1200">
              <a:solidFill>
                <a:schemeClr val="dk1"/>
              </a:solidFill>
              <a:latin typeface="Open Sans Light"/>
              <a:ea typeface="Open Sans Light"/>
              <a:cs typeface="Open Sans Light"/>
              <a:sym typeface="Open Sans"/>
            </a:endParaRPr>
          </a:p>
          <a:p>
            <a:pPr marL="0" lvl="0" indent="0" algn="l" rtl="0">
              <a:lnSpc>
                <a:spcPct val="110000"/>
              </a:lnSpc>
              <a:spcBef>
                <a:spcPts val="0"/>
              </a:spcBef>
              <a:spcAft>
                <a:spcPts val="0"/>
              </a:spcAft>
              <a:buNone/>
            </a:pPr>
            <a:r>
              <a:rPr lang="en" sz="1100" u="sng">
                <a:solidFill>
                  <a:schemeClr val="hlink"/>
                </a:solidFill>
                <a:hlinkClick r:id="rId3"/>
              </a:rPr>
              <a:t>SOUVERAINETE - BMC CH12</a:t>
            </a:r>
            <a:endParaRPr sz="1200">
              <a:solidFill>
                <a:schemeClr val="dk1"/>
              </a:solidFill>
              <a:latin typeface="Open Sans Light"/>
              <a:ea typeface="Open Sans Light"/>
              <a:cs typeface="Open Sans Light"/>
              <a:sym typeface="Open Sans"/>
            </a:endParaRPr>
          </a:p>
          <a:p>
            <a:pPr marL="0" lvl="0" indent="0" algn="l" rtl="0">
              <a:lnSpc>
                <a:spcPct val="110000"/>
              </a:lnSpc>
              <a:spcBef>
                <a:spcPts val="0"/>
              </a:spcBef>
              <a:spcAft>
                <a:spcPts val="0"/>
              </a:spcAft>
              <a:buNone/>
            </a:pPr>
            <a:endParaRPr sz="1200">
              <a:solidFill>
                <a:schemeClr val="dk1"/>
              </a:solidFill>
              <a:latin typeface="Open Sans Light"/>
              <a:ea typeface="Open Sans Light"/>
              <a:cs typeface="Open Sans Light"/>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p:nvPr/>
        </p:nvSpPr>
        <p:spPr>
          <a:xfrm>
            <a:off x="5080750" y="-4800"/>
            <a:ext cx="4118700" cy="5153100"/>
          </a:xfrm>
          <a:prstGeom prst="rect">
            <a:avLst/>
          </a:prstGeom>
          <a:solidFill>
            <a:srgbClr val="134F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36"/>
          <p:cNvSpPr txBox="1"/>
          <p:nvPr/>
        </p:nvSpPr>
        <p:spPr>
          <a:xfrm>
            <a:off x="530400" y="378000"/>
            <a:ext cx="45111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Outils collaboratifs</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Structurer notre connaissance collective</a:t>
            </a:r>
            <a:endParaRPr>
              <a:solidFill>
                <a:srgbClr val="0A00BE"/>
              </a:solidFill>
              <a:latin typeface="Syne"/>
              <a:ea typeface="Syne"/>
              <a:cs typeface="Syne"/>
              <a:sym typeface="Syne"/>
            </a:endParaRPr>
          </a:p>
        </p:txBody>
      </p:sp>
      <p:sp>
        <p:nvSpPr>
          <p:cNvPr id="266" name="Google Shape;266;p36"/>
          <p:cNvSpPr txBox="1"/>
          <p:nvPr/>
        </p:nvSpPr>
        <p:spPr>
          <a:xfrm>
            <a:off x="626550" y="1293825"/>
            <a:ext cx="4318800" cy="335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br>
              <a:rPr lang="en" sz="1200">
                <a:solidFill>
                  <a:schemeClr val="dk1"/>
                </a:solidFill>
                <a:latin typeface="Open Sans Light"/>
                <a:ea typeface="Open Sans Light"/>
                <a:cs typeface="Open Sans Light"/>
                <a:sym typeface="Open Sans"/>
              </a:rPr>
            </a:br>
            <a:r>
              <a:rPr lang="en" sz="1200">
                <a:solidFill>
                  <a:schemeClr val="dk1"/>
                </a:solidFill>
                <a:latin typeface="Open Sans Light"/>
                <a:ea typeface="Open Sans Light"/>
                <a:cs typeface="Open Sans Light"/>
                <a:sym typeface="Open Sans"/>
              </a:rPr>
              <a:t>Nous allons produire beaucoup plus de connaissances que nous ne pourrons mémoriser</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120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Études et rapports</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Interviews d'experts</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Workshops</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Comptes-rendus</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Benchmarks internationaux</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Réflexions du GT</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Recommandations</a:t>
            </a:r>
            <a:endParaRPr sz="1200">
              <a:solidFill>
                <a:schemeClr val="dk1"/>
              </a:solidFill>
              <a:latin typeface="Open Sans Light"/>
              <a:ea typeface="Open Sans Light"/>
              <a:cs typeface="Open Sans Light"/>
              <a:sym typeface="Open Sans"/>
            </a:endParaRPr>
          </a:p>
          <a:p>
            <a:pPr marL="457200" lvl="0" indent="-304800" algn="l" rtl="0">
              <a:lnSpc>
                <a:spcPct val="115000"/>
              </a:lnSpc>
              <a:spcBef>
                <a:spcPts val="0"/>
              </a:spcBef>
              <a:spcAft>
                <a:spcPts val="0"/>
              </a:spcAft>
              <a:buClr>
                <a:schemeClr val="dk1"/>
              </a:buClr>
              <a:buSzPts val="1200"/>
              <a:buFont typeface="Open Sans"/>
              <a:buChar char="❖"/>
            </a:pPr>
            <a:r>
              <a:rPr lang="en" sz="1200">
                <a:solidFill>
                  <a:schemeClr val="dk1"/>
                </a:solidFill>
                <a:latin typeface="Open Sans Light"/>
                <a:ea typeface="Open Sans Light"/>
                <a:cs typeface="Open Sans Light"/>
                <a:sym typeface="Open Sans"/>
              </a:rPr>
              <a:t>…</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L'objectif n'est pas simplement de les stocker, mais de les organiser de manière à ce qu'ils puissent être retrouvés, reliés et réutilisés.</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1200"/>
              </a:spcAft>
              <a:buNone/>
            </a:pPr>
            <a:endParaRPr sz="1200">
              <a:solidFill>
                <a:schemeClr val="dk1"/>
              </a:solidFill>
              <a:latin typeface="Open Sans Light"/>
              <a:ea typeface="Open Sans Light"/>
              <a:cs typeface="Open Sans Light"/>
              <a:sym typeface="Open Sans"/>
            </a:endParaRPr>
          </a:p>
        </p:txBody>
      </p:sp>
      <p:sp>
        <p:nvSpPr>
          <p:cNvPr id="267" name="Google Shape;267;p36"/>
          <p:cNvSpPr txBox="1"/>
          <p:nvPr/>
        </p:nvSpPr>
        <p:spPr>
          <a:xfrm>
            <a:off x="5508625" y="1230300"/>
            <a:ext cx="3000000" cy="3000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500">
                <a:solidFill>
                  <a:schemeClr val="lt1"/>
                </a:solidFill>
                <a:latin typeface="Open Sans Light"/>
                <a:ea typeface="Open Sans Light"/>
                <a:cs typeface="Open Sans Light"/>
                <a:sym typeface="Open Sans"/>
              </a:rPr>
              <a:t>Dans six mois, nous disposerons d'</a:t>
            </a:r>
            <a:r>
              <a:rPr lang="en" sz="1500" b="1">
                <a:solidFill>
                  <a:schemeClr val="lt1"/>
                </a:solidFill>
                <a:latin typeface="Open Sans ExtraBold"/>
                <a:ea typeface="Open Sans ExtraBold"/>
                <a:cs typeface="Open Sans ExtraBold"/>
                <a:sym typeface="Open Sans"/>
              </a:rPr>
              <a:t>un patrimoine de connaissances considérable</a:t>
            </a:r>
            <a:r>
              <a:rPr lang="en" sz="1500">
                <a:solidFill>
                  <a:schemeClr val="lt1"/>
                </a:solidFill>
                <a:latin typeface="Open Sans Light"/>
                <a:ea typeface="Open Sans Light"/>
                <a:cs typeface="Open Sans Light"/>
                <a:sym typeface="Open Sans"/>
              </a:rPr>
              <a:t>. </a:t>
            </a:r>
            <a:endParaRPr sz="15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500">
                <a:solidFill>
                  <a:schemeClr val="lt1"/>
                </a:solidFill>
                <a:latin typeface="Open Sans Light"/>
                <a:ea typeface="Open Sans Light"/>
                <a:cs typeface="Open Sans Light"/>
                <a:sym typeface="Open Sans"/>
              </a:rPr>
              <a:t>La difficulté n'est pas de le produire, mais de </a:t>
            </a:r>
            <a:r>
              <a:rPr lang="en" sz="1500" b="1">
                <a:solidFill>
                  <a:schemeClr val="lt1"/>
                </a:solidFill>
                <a:latin typeface="Open Sans ExtraBold"/>
                <a:ea typeface="Open Sans ExtraBold"/>
                <a:cs typeface="Open Sans ExtraBold"/>
                <a:sym typeface="Open Sans"/>
              </a:rPr>
              <a:t>pouvoir l'exploiter</a:t>
            </a:r>
            <a:r>
              <a:rPr lang="en" sz="1500">
                <a:solidFill>
                  <a:schemeClr val="lt1"/>
                </a:solidFill>
                <a:latin typeface="Open Sans Light"/>
                <a:ea typeface="Open Sans Light"/>
                <a:cs typeface="Open Sans Light"/>
                <a:sym typeface="Open Sans"/>
              </a:rPr>
              <a:t>.</a:t>
            </a:r>
            <a:endParaRPr sz="15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1200"/>
              </a:spcAft>
              <a:buNone/>
            </a:pPr>
            <a:endParaRPr sz="1500">
              <a:solidFill>
                <a:schemeClr val="lt1"/>
              </a:solidFill>
              <a:latin typeface="Open Sans Light"/>
              <a:ea typeface="Open Sans Light"/>
              <a:cs typeface="Open Sans Light"/>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p:nvPr/>
        </p:nvSpPr>
        <p:spPr>
          <a:xfrm>
            <a:off x="530400" y="378000"/>
            <a:ext cx="45111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Enrichir notre contexte de projet</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Création d’un “cerveau” commun</a:t>
            </a:r>
            <a:endParaRPr>
              <a:solidFill>
                <a:srgbClr val="0A00BE"/>
              </a:solidFill>
              <a:latin typeface="Syne"/>
              <a:ea typeface="Syne"/>
              <a:cs typeface="Syne"/>
              <a:sym typeface="Syne"/>
            </a:endParaRPr>
          </a:p>
        </p:txBody>
      </p:sp>
      <p:sp>
        <p:nvSpPr>
          <p:cNvPr id="273" name="Google Shape;273;p37"/>
          <p:cNvSpPr txBox="1"/>
          <p:nvPr/>
        </p:nvSpPr>
        <p:spPr>
          <a:xfrm>
            <a:off x="1317625" y="1689450"/>
            <a:ext cx="6361200" cy="8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Open Sans Light"/>
                <a:ea typeface="Open Sans Light"/>
                <a:cs typeface="Open Sans Light"/>
                <a:sym typeface="Open Sans"/>
              </a:rPr>
              <a:t>L’enjeu sur la qualité des réponses des modèles d’IA génératives n’est plus tant dans la qualité du prompt que dans </a:t>
            </a:r>
            <a:r>
              <a:rPr lang="en" b="1">
                <a:solidFill>
                  <a:schemeClr val="dk1"/>
                </a:solidFill>
                <a:latin typeface="Open Sans ExtraBold"/>
                <a:ea typeface="Open Sans ExtraBold"/>
                <a:cs typeface="Open Sans ExtraBold"/>
                <a:sym typeface="Open Sans"/>
              </a:rPr>
              <a:t>la richesse et la précision du contexte</a:t>
            </a:r>
            <a:endParaRPr b="1">
              <a:solidFill>
                <a:schemeClr val="dk1"/>
              </a:solidFill>
              <a:latin typeface="Open Sans ExtraBold"/>
              <a:ea typeface="Open Sans ExtraBold"/>
              <a:cs typeface="Open Sans ExtraBold"/>
              <a:sym typeface="Open Sans"/>
            </a:endParaRPr>
          </a:p>
        </p:txBody>
      </p:sp>
      <p:sp>
        <p:nvSpPr>
          <p:cNvPr id="274" name="Google Shape;274;p37"/>
          <p:cNvSpPr/>
          <p:nvPr/>
        </p:nvSpPr>
        <p:spPr>
          <a:xfrm>
            <a:off x="1271500" y="3049800"/>
            <a:ext cx="1572300" cy="788100"/>
          </a:xfrm>
          <a:prstGeom prst="roundRect">
            <a:avLst>
              <a:gd name="adj" fmla="val 5824"/>
            </a:avLst>
          </a:prstGeom>
          <a:solidFill>
            <a:srgbClr val="F5F7FF"/>
          </a:solidFill>
          <a:ln w="9525" cap="flat" cmpd="sng">
            <a:solidFill>
              <a:srgbClr val="E4E4E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5" name="Google Shape;275;p37"/>
          <p:cNvSpPr txBox="1"/>
          <p:nvPr/>
        </p:nvSpPr>
        <p:spPr>
          <a:xfrm>
            <a:off x="1271500" y="3154544"/>
            <a:ext cx="1572300" cy="683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2"/>
                </a:solidFill>
                <a:latin typeface="Open Sans Light"/>
                <a:ea typeface="Open Sans Light"/>
                <a:cs typeface="Open Sans Light"/>
                <a:sym typeface="Open Sans"/>
              </a:rPr>
              <a:t>Puissance du </a:t>
            </a:r>
            <a:r>
              <a:rPr lang="en" sz="1800" b="1">
                <a:solidFill>
                  <a:srgbClr val="1155CC"/>
                </a:solidFill>
                <a:latin typeface="Open Sans ExtraBold"/>
                <a:ea typeface="Open Sans ExtraBold"/>
                <a:cs typeface="Open Sans ExtraBold"/>
                <a:sym typeface="Open Sans"/>
              </a:rPr>
              <a:t>Modèle</a:t>
            </a:r>
            <a:endParaRPr sz="1800" b="1">
              <a:solidFill>
                <a:srgbClr val="1155CC"/>
              </a:solidFill>
              <a:latin typeface="Open Sans ExtraBold"/>
              <a:ea typeface="Open Sans ExtraBold"/>
              <a:cs typeface="Open Sans ExtraBold"/>
              <a:sym typeface="Open Sans"/>
            </a:endParaRPr>
          </a:p>
        </p:txBody>
      </p:sp>
      <p:sp>
        <p:nvSpPr>
          <p:cNvPr id="276" name="Google Shape;276;p37"/>
          <p:cNvSpPr/>
          <p:nvPr/>
        </p:nvSpPr>
        <p:spPr>
          <a:xfrm>
            <a:off x="3580850" y="3049775"/>
            <a:ext cx="1572300" cy="788100"/>
          </a:xfrm>
          <a:prstGeom prst="roundRect">
            <a:avLst>
              <a:gd name="adj" fmla="val 5824"/>
            </a:avLst>
          </a:prstGeom>
          <a:solidFill>
            <a:srgbClr val="F5F7FF"/>
          </a:solidFill>
          <a:ln w="9525" cap="flat" cmpd="sng">
            <a:solidFill>
              <a:srgbClr val="E4E4E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7" name="Google Shape;277;p37"/>
          <p:cNvSpPr txBox="1"/>
          <p:nvPr/>
        </p:nvSpPr>
        <p:spPr>
          <a:xfrm>
            <a:off x="3580850" y="3154519"/>
            <a:ext cx="1572300" cy="683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2"/>
                </a:solidFill>
                <a:latin typeface="Open Sans Light"/>
                <a:ea typeface="Open Sans Light"/>
                <a:cs typeface="Open Sans Light"/>
                <a:sym typeface="Open Sans"/>
              </a:rPr>
              <a:t>Qualité du </a:t>
            </a:r>
            <a:r>
              <a:rPr lang="en" sz="1800" b="1">
                <a:solidFill>
                  <a:srgbClr val="1155CC"/>
                </a:solidFill>
                <a:latin typeface="Open Sans ExtraBold"/>
                <a:ea typeface="Open Sans ExtraBold"/>
                <a:cs typeface="Open Sans ExtraBold"/>
                <a:sym typeface="Open Sans"/>
              </a:rPr>
              <a:t>Contexte</a:t>
            </a:r>
            <a:endParaRPr sz="1800" b="1">
              <a:solidFill>
                <a:srgbClr val="1155CC"/>
              </a:solidFill>
              <a:latin typeface="Open Sans ExtraBold"/>
              <a:ea typeface="Open Sans ExtraBold"/>
              <a:cs typeface="Open Sans ExtraBold"/>
              <a:sym typeface="Open Sans"/>
            </a:endParaRPr>
          </a:p>
        </p:txBody>
      </p:sp>
      <p:sp>
        <p:nvSpPr>
          <p:cNvPr id="278" name="Google Shape;278;p37"/>
          <p:cNvSpPr txBox="1"/>
          <p:nvPr/>
        </p:nvSpPr>
        <p:spPr>
          <a:xfrm>
            <a:off x="3069050" y="3218675"/>
            <a:ext cx="376500" cy="35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99999"/>
                </a:solidFill>
                <a:latin typeface="Open Sans ExtraBold"/>
                <a:ea typeface="Open Sans ExtraBold"/>
                <a:cs typeface="Open Sans ExtraBold"/>
                <a:sym typeface="Open Sans"/>
              </a:rPr>
              <a:t>X</a:t>
            </a:r>
            <a:endParaRPr sz="1800" b="1">
              <a:solidFill>
                <a:srgbClr val="666666"/>
              </a:solidFill>
              <a:latin typeface="Open Sans ExtraBold"/>
              <a:ea typeface="Open Sans ExtraBold"/>
              <a:cs typeface="Open Sans ExtraBold"/>
              <a:sym typeface="Open Sans"/>
            </a:endParaRPr>
          </a:p>
        </p:txBody>
      </p:sp>
      <p:sp>
        <p:nvSpPr>
          <p:cNvPr id="279" name="Google Shape;279;p37"/>
          <p:cNvSpPr txBox="1"/>
          <p:nvPr/>
        </p:nvSpPr>
        <p:spPr>
          <a:xfrm>
            <a:off x="5396325" y="3218675"/>
            <a:ext cx="771900" cy="35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99999"/>
                </a:solidFill>
                <a:latin typeface="Open Sans ExtraBold"/>
                <a:ea typeface="Open Sans ExtraBold"/>
                <a:cs typeface="Open Sans ExtraBold"/>
                <a:sym typeface="Open Sans"/>
              </a:rPr>
              <a:t>=&gt;</a:t>
            </a:r>
            <a:endParaRPr sz="1800" b="1">
              <a:solidFill>
                <a:srgbClr val="666666"/>
              </a:solidFill>
              <a:latin typeface="Open Sans ExtraBold"/>
              <a:ea typeface="Open Sans ExtraBold"/>
              <a:cs typeface="Open Sans ExtraBold"/>
              <a:sym typeface="Open Sans"/>
            </a:endParaRPr>
          </a:p>
        </p:txBody>
      </p:sp>
      <p:sp>
        <p:nvSpPr>
          <p:cNvPr id="280" name="Google Shape;280;p37"/>
          <p:cNvSpPr/>
          <p:nvPr/>
        </p:nvSpPr>
        <p:spPr>
          <a:xfrm>
            <a:off x="6106550" y="3049775"/>
            <a:ext cx="1572300" cy="788100"/>
          </a:xfrm>
          <a:prstGeom prst="roundRect">
            <a:avLst>
              <a:gd name="adj" fmla="val 5824"/>
            </a:avLst>
          </a:prstGeom>
          <a:solidFill>
            <a:srgbClr val="F5F7FF"/>
          </a:solidFill>
          <a:ln w="9525" cap="flat" cmpd="sng">
            <a:solidFill>
              <a:srgbClr val="E4E4E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1" name="Google Shape;281;p37"/>
          <p:cNvSpPr txBox="1"/>
          <p:nvPr/>
        </p:nvSpPr>
        <p:spPr>
          <a:xfrm>
            <a:off x="6106550" y="3154519"/>
            <a:ext cx="1572300" cy="683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2"/>
                </a:solidFill>
                <a:latin typeface="Open Sans Light"/>
                <a:ea typeface="Open Sans Light"/>
                <a:cs typeface="Open Sans Light"/>
                <a:sym typeface="Open Sans"/>
              </a:rPr>
              <a:t>Pertinence de la </a:t>
            </a:r>
            <a:r>
              <a:rPr lang="en" sz="1800" b="1">
                <a:solidFill>
                  <a:srgbClr val="1155CC"/>
                </a:solidFill>
                <a:latin typeface="Open Sans ExtraBold"/>
                <a:ea typeface="Open Sans ExtraBold"/>
                <a:cs typeface="Open Sans ExtraBold"/>
                <a:sym typeface="Open Sans"/>
              </a:rPr>
              <a:t>Réponse</a:t>
            </a:r>
            <a:endParaRPr sz="1800" b="1">
              <a:solidFill>
                <a:srgbClr val="1155CC"/>
              </a:solidFill>
              <a:latin typeface="Open Sans ExtraBold"/>
              <a:ea typeface="Open Sans ExtraBold"/>
              <a:cs typeface="Open Sans ExtraBold"/>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8"/>
          <p:cNvSpPr txBox="1"/>
          <p:nvPr/>
        </p:nvSpPr>
        <p:spPr>
          <a:xfrm>
            <a:off x="530400" y="378000"/>
            <a:ext cx="45111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Enrichir notre contexte de projet</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Création d’un “cerveau” commun</a:t>
            </a:r>
            <a:endParaRPr>
              <a:solidFill>
                <a:srgbClr val="0A00BE"/>
              </a:solidFill>
              <a:latin typeface="Syne"/>
              <a:ea typeface="Syne"/>
              <a:cs typeface="Syne"/>
              <a:sym typeface="Syne"/>
            </a:endParaRPr>
          </a:p>
        </p:txBody>
      </p:sp>
      <p:sp>
        <p:nvSpPr>
          <p:cNvPr id="287" name="Google Shape;287;p38"/>
          <p:cNvSpPr txBox="1"/>
          <p:nvPr/>
        </p:nvSpPr>
        <p:spPr>
          <a:xfrm>
            <a:off x="482775" y="1847775"/>
            <a:ext cx="3586800" cy="288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solidFill>
                  <a:schemeClr val="dk1"/>
                </a:solidFill>
                <a:latin typeface="Open Sans Light"/>
                <a:ea typeface="Open Sans Light"/>
                <a:cs typeface="Open Sans Light"/>
                <a:sym typeface="Open Sans"/>
              </a:rPr>
              <a:t>Obsidian est un </a:t>
            </a:r>
            <a:r>
              <a:rPr lang="en" sz="1100" b="1">
                <a:solidFill>
                  <a:schemeClr val="dk1"/>
                </a:solidFill>
                <a:latin typeface="Open Sans ExtraBold"/>
                <a:ea typeface="Open Sans ExtraBold"/>
                <a:cs typeface="Open Sans ExtraBold"/>
                <a:sym typeface="Open Sans"/>
              </a:rPr>
              <a:t>outil open source de gestion des connaissances </a:t>
            </a:r>
            <a:r>
              <a:rPr lang="en" sz="1100">
                <a:solidFill>
                  <a:schemeClr val="dk1"/>
                </a:solidFill>
                <a:latin typeface="Open Sans Light"/>
                <a:ea typeface="Open Sans Light"/>
                <a:cs typeface="Open Sans Light"/>
                <a:sym typeface="Open Sans"/>
              </a:rPr>
              <a:t>qui transforme une collection de documents en un réseau de connaissances interconnectées.</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100">
                <a:solidFill>
                  <a:schemeClr val="dk1"/>
                </a:solidFill>
                <a:latin typeface="Open Sans Light"/>
                <a:ea typeface="Open Sans Light"/>
                <a:cs typeface="Open Sans Light"/>
                <a:sym typeface="Open Sans"/>
              </a:rPr>
              <a:t>Grâce aux liens entre les notes, il permet de capitaliser l'information, visualiser les connexions entre les sujets et </a:t>
            </a:r>
            <a:r>
              <a:rPr lang="en" sz="1100" b="1">
                <a:solidFill>
                  <a:schemeClr val="dk1"/>
                </a:solidFill>
                <a:latin typeface="Open Sans ExtraBold"/>
                <a:ea typeface="Open Sans ExtraBold"/>
                <a:cs typeface="Open Sans ExtraBold"/>
                <a:sym typeface="Open Sans"/>
              </a:rPr>
              <a:t>construire une mémoire collective</a:t>
            </a:r>
            <a:r>
              <a:rPr lang="en" sz="1100">
                <a:solidFill>
                  <a:schemeClr val="dk1"/>
                </a:solidFill>
                <a:latin typeface="Open Sans Light"/>
                <a:ea typeface="Open Sans Light"/>
                <a:cs typeface="Open Sans Light"/>
                <a:sym typeface="Open Sans"/>
              </a:rPr>
              <a:t> structurée.</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100">
                <a:solidFill>
                  <a:schemeClr val="dk1"/>
                </a:solidFill>
                <a:latin typeface="Open Sans Light"/>
                <a:ea typeface="Open Sans Light"/>
                <a:cs typeface="Open Sans Light"/>
                <a:sym typeface="Open Sans"/>
              </a:rPr>
              <a:t>Basé sur des fichiers Markdown ouverts et standards, il garantit une </a:t>
            </a:r>
            <a:r>
              <a:rPr lang="en" sz="1100" b="1">
                <a:solidFill>
                  <a:schemeClr val="dk1"/>
                </a:solidFill>
                <a:latin typeface="Open Sans ExtraBold"/>
                <a:ea typeface="Open Sans ExtraBold"/>
                <a:cs typeface="Open Sans ExtraBold"/>
                <a:sym typeface="Open Sans"/>
              </a:rPr>
              <a:t>forte réversibilité</a:t>
            </a:r>
            <a:r>
              <a:rPr lang="en" sz="1100">
                <a:solidFill>
                  <a:schemeClr val="dk1"/>
                </a:solidFill>
                <a:latin typeface="Open Sans Light"/>
                <a:ea typeface="Open Sans Light"/>
                <a:cs typeface="Open Sans Light"/>
                <a:sym typeface="Open Sans"/>
              </a:rPr>
              <a:t> : les connaissances restent accessibles et réutilisables indépendamment de l'outil.</a:t>
            </a:r>
            <a:endParaRPr sz="11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200" b="1">
              <a:solidFill>
                <a:schemeClr val="dk1"/>
              </a:solidFill>
              <a:latin typeface="Open Sans ExtraBold"/>
              <a:ea typeface="Open Sans ExtraBold"/>
              <a:cs typeface="Open Sans ExtraBold"/>
              <a:sym typeface="Open Sans"/>
            </a:endParaRPr>
          </a:p>
          <a:p>
            <a:pPr marL="0" lvl="0" indent="0" algn="l" rtl="0">
              <a:spcBef>
                <a:spcPts val="1200"/>
              </a:spcBef>
              <a:spcAft>
                <a:spcPts val="0"/>
              </a:spcAft>
              <a:buNone/>
            </a:pPr>
            <a:endParaRPr sz="1200" b="1">
              <a:solidFill>
                <a:schemeClr val="dk1"/>
              </a:solidFill>
              <a:latin typeface="Open Sans ExtraBold"/>
              <a:ea typeface="Open Sans ExtraBold"/>
              <a:cs typeface="Open Sans ExtraBold"/>
              <a:sym typeface="Open Sans"/>
            </a:endParaRPr>
          </a:p>
        </p:txBody>
      </p:sp>
      <p:pic>
        <p:nvPicPr>
          <p:cNvPr id="288" name="Google Shape;288;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626963" y="1283150"/>
            <a:ext cx="1393676" cy="342875"/>
          </a:xfrm>
          <a:prstGeom prst="rect">
            <a:avLst/>
          </a:prstGeom>
          <a:noFill/>
          <a:ln>
            <a:noFill/>
          </a:ln>
        </p:spPr>
      </p:pic>
      <p:pic>
        <p:nvPicPr>
          <p:cNvPr id="289" name="Google Shape;289;p3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634700" y="309675"/>
            <a:ext cx="3890376" cy="2583601"/>
          </a:xfrm>
          <a:prstGeom prst="rect">
            <a:avLst/>
          </a:prstGeom>
          <a:noFill/>
          <a:ln>
            <a:noFill/>
          </a:ln>
        </p:spPr>
      </p:pic>
      <p:pic>
        <p:nvPicPr>
          <p:cNvPr id="290" name="Google Shape;290;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27925" y="2742450"/>
            <a:ext cx="3634442" cy="22502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9"/>
          <p:cNvSpPr txBox="1"/>
          <p:nvPr/>
        </p:nvSpPr>
        <p:spPr>
          <a:xfrm>
            <a:off x="530400" y="378000"/>
            <a:ext cx="45111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Enrichir notre contexte de projet</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Création d’un “cerveau” commun</a:t>
            </a:r>
            <a:endParaRPr>
              <a:solidFill>
                <a:srgbClr val="0A00BE"/>
              </a:solidFill>
              <a:latin typeface="Syne"/>
              <a:ea typeface="Syne"/>
              <a:cs typeface="Syne"/>
              <a:sym typeface="Syne"/>
            </a:endParaRPr>
          </a:p>
        </p:txBody>
      </p:sp>
      <p:sp>
        <p:nvSpPr>
          <p:cNvPr id="296" name="Google Shape;296;p39"/>
          <p:cNvSpPr txBox="1"/>
          <p:nvPr/>
        </p:nvSpPr>
        <p:spPr>
          <a:xfrm>
            <a:off x="601825" y="1372038"/>
            <a:ext cx="2836200" cy="328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Couplé à l'IA, la base de connaissance devient </a:t>
            </a:r>
            <a:r>
              <a:rPr lang="en" sz="1200" b="1">
                <a:solidFill>
                  <a:schemeClr val="dk1"/>
                </a:solidFill>
                <a:latin typeface="Open Sans ExtraBold"/>
                <a:ea typeface="Open Sans ExtraBold"/>
                <a:cs typeface="Open Sans ExtraBold"/>
                <a:sym typeface="Open Sans"/>
              </a:rPr>
              <a:t>un véritable "cerveau collectif" </a:t>
            </a:r>
            <a:r>
              <a:rPr lang="en" sz="1200">
                <a:solidFill>
                  <a:schemeClr val="dk1"/>
                </a:solidFill>
                <a:latin typeface="Open Sans Light"/>
                <a:ea typeface="Open Sans Light"/>
                <a:cs typeface="Open Sans Light"/>
                <a:sym typeface="Open Sans"/>
              </a:rPr>
              <a:t>capable d'alimenter analyses, synthèses et recommandations à partir du contexte spécifique du groupe de travail.</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Par ailleurs cette base de connaissance est </a:t>
            </a:r>
            <a:r>
              <a:rPr lang="en" sz="1200" b="1">
                <a:solidFill>
                  <a:schemeClr val="dk1"/>
                </a:solidFill>
                <a:latin typeface="Open Sans ExtraBold"/>
                <a:ea typeface="Open Sans ExtraBold"/>
                <a:cs typeface="Open Sans ExtraBold"/>
                <a:sym typeface="Open Sans"/>
              </a:rPr>
              <a:t>indépendante des outils d’IA </a:t>
            </a:r>
            <a:r>
              <a:rPr lang="en" sz="1200">
                <a:solidFill>
                  <a:schemeClr val="dk1"/>
                </a:solidFill>
                <a:latin typeface="Open Sans Light"/>
                <a:ea typeface="Open Sans Light"/>
                <a:cs typeface="Open Sans Light"/>
                <a:sym typeface="Open Sans"/>
              </a:rPr>
              <a:t>utilisés pour l’analyse.</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Nous pourrions aussi envisager d’avoir </a:t>
            </a:r>
            <a:r>
              <a:rPr lang="en" sz="1200" b="1">
                <a:solidFill>
                  <a:schemeClr val="dk1"/>
                </a:solidFill>
                <a:latin typeface="Open Sans ExtraBold"/>
                <a:ea typeface="Open Sans ExtraBold"/>
                <a:cs typeface="Open Sans ExtraBold"/>
                <a:sym typeface="Open Sans"/>
              </a:rPr>
              <a:t>notre propre IA Open Source et locale pour le projet</a:t>
            </a:r>
            <a:endParaRPr sz="1200" b="1">
              <a:solidFill>
                <a:schemeClr val="dk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200">
              <a:solidFill>
                <a:schemeClr val="dk1"/>
              </a:solidFill>
              <a:latin typeface="Open Sans Light"/>
              <a:ea typeface="Open Sans Light"/>
              <a:cs typeface="Open Sans Light"/>
              <a:sym typeface="Open Sans"/>
            </a:endParaRPr>
          </a:p>
          <a:p>
            <a:pPr marL="0" lvl="0" indent="0" algn="l" rtl="0">
              <a:spcBef>
                <a:spcPts val="1200"/>
              </a:spcBef>
              <a:spcAft>
                <a:spcPts val="0"/>
              </a:spcAft>
              <a:buNone/>
            </a:pPr>
            <a:endParaRPr sz="1200">
              <a:solidFill>
                <a:schemeClr val="dk1"/>
              </a:solidFill>
              <a:latin typeface="Open Sans Light"/>
              <a:ea typeface="Open Sans Light"/>
              <a:cs typeface="Open Sans Light"/>
              <a:sym typeface="Open Sans"/>
            </a:endParaRPr>
          </a:p>
        </p:txBody>
      </p:sp>
      <p:pic>
        <p:nvPicPr>
          <p:cNvPr id="297" name="Google Shape;297;p3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041499" y="2366832"/>
            <a:ext cx="3156674" cy="894750"/>
          </a:xfrm>
          <a:prstGeom prst="rect">
            <a:avLst/>
          </a:prstGeom>
          <a:noFill/>
          <a:ln>
            <a:noFill/>
          </a:ln>
        </p:spPr>
      </p:pic>
      <p:pic>
        <p:nvPicPr>
          <p:cNvPr id="298" name="Google Shape;298;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134875" y="2144513"/>
            <a:ext cx="616673" cy="346876"/>
          </a:xfrm>
          <a:prstGeom prst="rect">
            <a:avLst/>
          </a:prstGeom>
          <a:noFill/>
          <a:ln>
            <a:noFill/>
          </a:ln>
        </p:spPr>
      </p:pic>
      <p:pic>
        <p:nvPicPr>
          <p:cNvPr id="299" name="Google Shape;299;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425250" y="1567026"/>
            <a:ext cx="1031206" cy="577500"/>
          </a:xfrm>
          <a:prstGeom prst="rect">
            <a:avLst/>
          </a:prstGeom>
          <a:noFill/>
          <a:ln>
            <a:noFill/>
          </a:ln>
        </p:spPr>
      </p:pic>
      <p:pic>
        <p:nvPicPr>
          <p:cNvPr id="300" name="Google Shape;300;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51550" y="3540381"/>
            <a:ext cx="891363" cy="254675"/>
          </a:xfrm>
          <a:prstGeom prst="rect">
            <a:avLst/>
          </a:prstGeom>
          <a:noFill/>
          <a:ln>
            <a:noFill/>
          </a:ln>
        </p:spPr>
      </p:pic>
      <p:pic>
        <p:nvPicPr>
          <p:cNvPr id="301" name="Google Shape;301;p3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771592" y="3795055"/>
            <a:ext cx="891375" cy="499173"/>
          </a:xfrm>
          <a:prstGeom prst="rect">
            <a:avLst/>
          </a:prstGeom>
          <a:noFill/>
          <a:ln>
            <a:noFill/>
          </a:ln>
        </p:spPr>
      </p:pic>
      <p:pic>
        <p:nvPicPr>
          <p:cNvPr id="302" name="Google Shape;302;p3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694041" y="2697563"/>
            <a:ext cx="1136875" cy="636650"/>
          </a:xfrm>
          <a:prstGeom prst="rect">
            <a:avLst/>
          </a:prstGeom>
          <a:noFill/>
          <a:ln>
            <a:noFill/>
          </a:ln>
        </p:spPr>
      </p:pic>
      <p:pic>
        <p:nvPicPr>
          <p:cNvPr id="303" name="Google Shape;303;p3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642929" y="1627337"/>
            <a:ext cx="686575" cy="456875"/>
          </a:xfrm>
          <a:prstGeom prst="rect">
            <a:avLst/>
          </a:prstGeom>
          <a:noFill/>
          <a:ln>
            <a:noFill/>
          </a:ln>
        </p:spPr>
      </p:pic>
      <p:pic>
        <p:nvPicPr>
          <p:cNvPr id="304" name="Google Shape;304;p3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370650" y="2317075"/>
            <a:ext cx="1035199" cy="254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0"/>
          <p:cNvSpPr txBox="1"/>
          <p:nvPr/>
        </p:nvSpPr>
        <p:spPr>
          <a:xfrm>
            <a:off x="530400" y="378000"/>
            <a:ext cx="4511100" cy="6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Syne"/>
                <a:ea typeface="Syne"/>
                <a:cs typeface="Syne"/>
                <a:sym typeface="Syne"/>
              </a:rPr>
              <a:t>Enrichir notre contexte de projet</a:t>
            </a:r>
            <a:endParaRPr sz="1600" b="1">
              <a:solidFill>
                <a:srgbClr val="0A00BE"/>
              </a:solidFill>
              <a:latin typeface="Syne"/>
              <a:ea typeface="Syne"/>
              <a:cs typeface="Syne"/>
              <a:sym typeface="Syne"/>
            </a:endParaRPr>
          </a:p>
          <a:p>
            <a:pPr marL="0" marR="0" lvl="0" indent="0" algn="l" rtl="0">
              <a:lnSpc>
                <a:spcPct val="115000"/>
              </a:lnSpc>
              <a:spcBef>
                <a:spcPts val="0"/>
              </a:spcBef>
              <a:spcAft>
                <a:spcPts val="0"/>
              </a:spcAft>
              <a:buNone/>
            </a:pPr>
            <a:r>
              <a:rPr lang="en">
                <a:solidFill>
                  <a:srgbClr val="0A00BE"/>
                </a:solidFill>
                <a:latin typeface="Syne"/>
                <a:ea typeface="Syne"/>
                <a:cs typeface="Syne"/>
                <a:sym typeface="Syne"/>
              </a:rPr>
              <a:t>Création d’un “cerveau” commun</a:t>
            </a:r>
            <a:endParaRPr>
              <a:solidFill>
                <a:srgbClr val="0A00BE"/>
              </a:solidFill>
              <a:latin typeface="Syne"/>
              <a:ea typeface="Syne"/>
              <a:cs typeface="Syne"/>
              <a:sym typeface="Syne"/>
            </a:endParaRPr>
          </a:p>
        </p:txBody>
      </p:sp>
      <p:sp>
        <p:nvSpPr>
          <p:cNvPr id="310" name="Google Shape;310;p40"/>
          <p:cNvSpPr txBox="1"/>
          <p:nvPr/>
        </p:nvSpPr>
        <p:spPr>
          <a:xfrm>
            <a:off x="601825" y="1372050"/>
            <a:ext cx="3375600" cy="328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Un cerveau collectif permet de :</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 conserver la mémoire du groupe</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 relier les informations entre elles</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 retrouver rapidement un sujet</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 faciliter l'intégration de nouveaux participants</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200">
                <a:solidFill>
                  <a:schemeClr val="dk1"/>
                </a:solidFill>
                <a:latin typeface="Open Sans Light"/>
                <a:ea typeface="Open Sans Light"/>
                <a:cs typeface="Open Sans Light"/>
                <a:sym typeface="Open Sans"/>
              </a:rPr>
              <a:t>✓ alimenter efficacement les outils d'IA</a:t>
            </a: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2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200">
              <a:solidFill>
                <a:schemeClr val="dk1"/>
              </a:solidFill>
              <a:latin typeface="Open Sans Light"/>
              <a:ea typeface="Open Sans Light"/>
              <a:cs typeface="Open Sans Light"/>
              <a:sym typeface="Open Sans"/>
            </a:endParaRPr>
          </a:p>
          <a:p>
            <a:pPr marL="0" lvl="0" indent="0" algn="l" rtl="0">
              <a:spcBef>
                <a:spcPts val="1200"/>
              </a:spcBef>
              <a:spcAft>
                <a:spcPts val="0"/>
              </a:spcAft>
              <a:buNone/>
            </a:pPr>
            <a:endParaRPr sz="1200">
              <a:solidFill>
                <a:schemeClr val="dk1"/>
              </a:solidFill>
              <a:latin typeface="Open Sans Light"/>
              <a:ea typeface="Open Sans Light"/>
              <a:cs typeface="Open Sans Light"/>
              <a:sym typeface="Open Sans"/>
            </a:endParaRPr>
          </a:p>
        </p:txBody>
      </p:sp>
      <p:pic>
        <p:nvPicPr>
          <p:cNvPr id="311" name="Google Shape;311;p4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231499" y="3962250"/>
            <a:ext cx="1402926" cy="894750"/>
          </a:xfrm>
          <a:prstGeom prst="rect">
            <a:avLst/>
          </a:prstGeom>
          <a:noFill/>
          <a:ln>
            <a:noFill/>
          </a:ln>
        </p:spPr>
      </p:pic>
      <p:pic>
        <p:nvPicPr>
          <p:cNvPr id="312" name="Google Shape;312;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66450" y="1237625"/>
            <a:ext cx="4077551" cy="2847500"/>
          </a:xfrm>
          <a:prstGeom prst="rect">
            <a:avLst/>
          </a:prstGeom>
          <a:noFill/>
          <a:ln>
            <a:noFill/>
          </a:ln>
        </p:spPr>
      </p:pic>
      <p:pic>
        <p:nvPicPr>
          <p:cNvPr id="313" name="Google Shape;313;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806900" y="3912500"/>
            <a:ext cx="1035199" cy="254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00C5"/>
        </a:solidFill>
        <a:effectLst/>
      </p:bgPr>
    </p:bg>
    <p:spTree>
      <p:nvGrpSpPr>
        <p:cNvPr id="1" name="Shape 317"/>
        <p:cNvGrpSpPr/>
        <p:nvPr/>
      </p:nvGrpSpPr>
      <p:grpSpPr>
        <a:xfrm>
          <a:off x="0" y="0"/>
          <a:ext cx="0" cy="0"/>
          <a:chOff x="0" y="0"/>
          <a:chExt cx="0" cy="0"/>
        </a:xfrm>
      </p:grpSpPr>
      <p:sp>
        <p:nvSpPr>
          <p:cNvPr id="318" name="Google Shape;318;p41"/>
          <p:cNvSpPr txBox="1"/>
          <p:nvPr/>
        </p:nvSpPr>
        <p:spPr>
          <a:xfrm>
            <a:off x="947500" y="2091500"/>
            <a:ext cx="55365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400" b="1">
                <a:solidFill>
                  <a:schemeClr val="lt1"/>
                </a:solidFill>
                <a:latin typeface="Open Sans ExtraBold"/>
                <a:ea typeface="Open Sans ExtraBold"/>
                <a:cs typeface="Open Sans ExtraBold"/>
                <a:sym typeface="Open Sans"/>
              </a:rPr>
              <a:t>Tour de table</a:t>
            </a:r>
            <a:endParaRPr sz="2200" i="0" u="none" strike="noStrike" cap="none">
              <a:solidFill>
                <a:schemeClr val="lt1"/>
              </a:solidFill>
              <a:latin typeface="Open Sans Light"/>
              <a:ea typeface="Open Sans Light"/>
              <a:cs typeface="Open Sans Light"/>
              <a:sym typeface="Open Sans"/>
            </a:endParaRPr>
          </a:p>
        </p:txBody>
      </p:sp>
      <p:pic>
        <p:nvPicPr>
          <p:cNvPr id="319" name="Google Shape;319;p4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7500" y="548750"/>
            <a:ext cx="1853149" cy="753375"/>
          </a:xfrm>
          <a:prstGeom prst="rect">
            <a:avLst/>
          </a:prstGeom>
          <a:noFill/>
          <a:ln>
            <a:noFill/>
          </a:ln>
        </p:spPr>
      </p:pic>
      <p:pic>
        <p:nvPicPr>
          <p:cNvPr id="320" name="Google Shape;320;p4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636400" y="152400"/>
            <a:ext cx="1981365" cy="483870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2"/>
          <p:cNvSpPr txBox="1"/>
          <p:nvPr/>
        </p:nvSpPr>
        <p:spPr>
          <a:xfrm>
            <a:off x="369550" y="298225"/>
            <a:ext cx="42987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b="1">
                <a:solidFill>
                  <a:srgbClr val="1200C5"/>
                </a:solidFill>
                <a:latin typeface="Sora"/>
                <a:ea typeface="Sora"/>
                <a:cs typeface="Sora"/>
                <a:sym typeface="Sora"/>
              </a:rPr>
              <a:t>Niveau d’implication des participants</a:t>
            </a:r>
            <a:endParaRPr sz="1600" b="1" i="0" u="none" strike="noStrike" cap="none">
              <a:solidFill>
                <a:srgbClr val="1200C5"/>
              </a:solidFill>
              <a:latin typeface="Sora"/>
              <a:ea typeface="Sora"/>
              <a:cs typeface="Sora"/>
              <a:sym typeface="Sora"/>
            </a:endParaRPr>
          </a:p>
        </p:txBody>
      </p:sp>
      <p:pic>
        <p:nvPicPr>
          <p:cNvPr id="326" name="Google Shape;326;p4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22675" y="682925"/>
            <a:ext cx="7841827" cy="4299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3"/>
          <p:cNvSpPr txBox="1"/>
          <p:nvPr/>
        </p:nvSpPr>
        <p:spPr>
          <a:xfrm>
            <a:off x="584100" y="273625"/>
            <a:ext cx="7975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Tour de table </a:t>
            </a:r>
            <a:endParaRPr sz="1600" b="1">
              <a:solidFill>
                <a:srgbClr val="0A00BE"/>
              </a:solidFill>
              <a:latin typeface="Open Sans ExtraBold"/>
              <a:ea typeface="Open Sans ExtraBold"/>
              <a:cs typeface="Open Sans ExtraBold"/>
              <a:sym typeface="Open Sans"/>
            </a:endParaRPr>
          </a:p>
        </p:txBody>
      </p:sp>
      <p:sp>
        <p:nvSpPr>
          <p:cNvPr id="332" name="Google Shape;332;p43"/>
          <p:cNvSpPr txBox="1"/>
          <p:nvPr/>
        </p:nvSpPr>
        <p:spPr>
          <a:xfrm>
            <a:off x="584100" y="1121400"/>
            <a:ext cx="5222400" cy="30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457200" lvl="0" indent="-317500" algn="l" rtl="0">
              <a:lnSpc>
                <a:spcPct val="150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Avec quoi je repars ?</a:t>
            </a:r>
            <a:endParaRPr>
              <a:solidFill>
                <a:schemeClr val="dk1"/>
              </a:solidFill>
              <a:latin typeface="Syne"/>
              <a:ea typeface="Syne"/>
              <a:cs typeface="Syne"/>
              <a:sym typeface="Syne"/>
            </a:endParaRPr>
          </a:p>
          <a:p>
            <a:pPr marL="457200" lvl="0" indent="-317500" algn="l" rtl="0">
              <a:lnSpc>
                <a:spcPct val="150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Sur quel livrables j’aimerais me positionner</a:t>
            </a:r>
            <a:endParaRPr>
              <a:solidFill>
                <a:schemeClr val="dk1"/>
              </a:solidFill>
              <a:latin typeface="Syne"/>
              <a:ea typeface="Syne"/>
              <a:cs typeface="Syne"/>
              <a:sym typeface="Syne"/>
            </a:endParaRPr>
          </a:p>
          <a:p>
            <a:pPr marL="457200" lvl="0" indent="-317500" algn="l" rtl="0">
              <a:lnSpc>
                <a:spcPct val="150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Ce que j’ai apprécié /ce qui peut être amélioré</a:t>
            </a: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p:nvPr/>
        </p:nvSpPr>
        <p:spPr>
          <a:xfrm>
            <a:off x="584100" y="273625"/>
            <a:ext cx="7975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600" b="1">
                <a:solidFill>
                  <a:srgbClr val="0A00BE"/>
                </a:solidFill>
                <a:latin typeface="Open Sans ExtraBold"/>
                <a:ea typeface="Open Sans ExtraBold"/>
                <a:cs typeface="Open Sans ExtraBold"/>
                <a:sym typeface="Open Sans"/>
              </a:rPr>
              <a:t>Tour de table </a:t>
            </a:r>
            <a:endParaRPr sz="1600" b="1">
              <a:solidFill>
                <a:srgbClr val="0A00BE"/>
              </a:solidFill>
              <a:latin typeface="Open Sans ExtraBold"/>
              <a:ea typeface="Open Sans ExtraBold"/>
              <a:cs typeface="Open Sans ExtraBold"/>
              <a:sym typeface="Open Sans"/>
            </a:endParaRPr>
          </a:p>
        </p:txBody>
      </p:sp>
      <p:sp>
        <p:nvSpPr>
          <p:cNvPr id="338" name="Google Shape;338;p44"/>
          <p:cNvSpPr txBox="1"/>
          <p:nvPr/>
        </p:nvSpPr>
        <p:spPr>
          <a:xfrm>
            <a:off x="584100" y="1121400"/>
            <a:ext cx="7911900" cy="3098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1"/>
              </a:buClr>
              <a:buSzPts val="1400"/>
              <a:buFont typeface="Syne"/>
              <a:buChar char="-"/>
            </a:pPr>
            <a:r>
              <a:rPr lang="en">
                <a:solidFill>
                  <a:schemeClr val="dk1"/>
                </a:solidFill>
                <a:latin typeface="Syne"/>
                <a:ea typeface="Syne"/>
                <a:cs typeface="Syne"/>
                <a:sym typeface="Syne"/>
              </a:rPr>
              <a:t>Carole : vaste et prometteur en quick wins</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21- juillet /mi août 1 à 2h par semaine</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éléments de benchmark, interviews, présentations livrables</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Pascal : peu de temps pour les livrables, pas s'engager. aide pour Damien, si on part quel intérêt pour l'équipe, aucune valeur ajoutée, à interviewer.</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Nicolas : pas là en juillet, back up en aout, à partir de sempt plutôt supporteur ou contributeur. idée abstraite (ce qui impacte ce sont les répercussions concrètes). exemple très positif et très négatif. aller vers du concret pour se rendre compte que c une problématique</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Thibaud : contributeur à la rédaction, équipe BOS, 1h par semaine.éventuellement juillet /août, vision sur outils internes</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Josselin : contributeur, pas dispo prochaines semaines., , relecture jusque fin juillet.</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Michel : vacances fin juillet. doc principes archi souveraine, à partager. Autre livrable : celui sur pilier 1.</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tooling ed sortie : comment mettre un cap et s'y coller</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Dominique : contributeur après septembre.</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Claude : relecture, temps jusque fin août.</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Fabrice : obsidian. temps trouvé. absent 20 au 31/07 puis semaine du 15/08</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Tanguy : veille, contacts. agence allemande de souveraineté. obsidian. plutôt juillet</a:t>
            </a:r>
            <a:endParaRPr>
              <a:solidFill>
                <a:schemeClr val="dk1"/>
              </a:solidFill>
              <a:latin typeface="Syne"/>
              <a:ea typeface="Syne"/>
              <a:cs typeface="Syne"/>
              <a:sym typeface="Syne"/>
            </a:endParaRPr>
          </a:p>
          <a:p>
            <a:pPr marL="457200" lvl="0" indent="-317500" algn="l" rtl="0">
              <a:lnSpc>
                <a:spcPct val="115000"/>
              </a:lnSpc>
              <a:spcBef>
                <a:spcPts val="0"/>
              </a:spcBef>
              <a:spcAft>
                <a:spcPts val="0"/>
              </a:spcAft>
              <a:buClr>
                <a:schemeClr val="dk1"/>
              </a:buClr>
              <a:buSzPts val="1400"/>
              <a:buFont typeface="Syne"/>
              <a:buChar char="-"/>
            </a:pPr>
            <a:r>
              <a:rPr lang="en">
                <a:solidFill>
                  <a:schemeClr val="dk1"/>
                </a:solidFill>
                <a:latin typeface="Syne"/>
                <a:ea typeface="Syne"/>
                <a:cs typeface="Syne"/>
                <a:sym typeface="Syne"/>
              </a:rPr>
              <a:t>marc : contributeur, relecteur, pas très axe sur les politiques, obsidian. pas de congé prév</a:t>
            </a:r>
            <a:endParaRPr>
              <a:solidFill>
                <a:schemeClr val="dk1"/>
              </a:solidFill>
              <a:latin typeface="Syne"/>
              <a:ea typeface="Syne"/>
              <a:cs typeface="Syne"/>
              <a:sym typeface="Syne"/>
            </a:endParaRPr>
          </a:p>
          <a:p>
            <a:pPr marL="457200" lvl="0" indent="-317500" algn="l" rtl="0">
              <a:lnSpc>
                <a:spcPct val="150000"/>
              </a:lnSpc>
              <a:spcBef>
                <a:spcPts val="0"/>
              </a:spcBef>
              <a:spcAft>
                <a:spcPts val="0"/>
              </a:spcAft>
              <a:buClr>
                <a:schemeClr val="dk1"/>
              </a:buClr>
              <a:buSzPts val="1400"/>
              <a:buFont typeface="Syne"/>
              <a:buChar char="-"/>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a:p>
            <a:pPr marL="0" lvl="0" indent="0" algn="l" rtl="0">
              <a:spcBef>
                <a:spcPts val="0"/>
              </a:spcBef>
              <a:spcAft>
                <a:spcPts val="0"/>
              </a:spcAft>
              <a:buNone/>
            </a:pPr>
            <a:endParaRPr>
              <a:solidFill>
                <a:schemeClr val="dk1"/>
              </a:solidFill>
              <a:latin typeface="Syne"/>
              <a:ea typeface="Syne"/>
              <a:cs typeface="Syne"/>
              <a:sym typeface="Syn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86EE758CFC1842B285249C0620D97E" ma:contentTypeVersion="9" ma:contentTypeDescription="Crée un document." ma:contentTypeScope="" ma:versionID="783b8f647a89e533978f3623734ab9ff">
  <xsd:schema xmlns:xsd="http://www.w3.org/2001/XMLSchema" xmlns:xs="http://www.w3.org/2001/XMLSchema" xmlns:p="http://schemas.microsoft.com/office/2006/metadata/properties" xmlns:ns2="d3f9facc-bd55-4de7-8e1c-c048fbc10aa8" targetNamespace="http://schemas.microsoft.com/office/2006/metadata/properties" ma:root="true" ma:fieldsID="28ff319030c9cb84c8eec0cf4013ad28" ns2:_="">
    <xsd:import namespace="d3f9facc-bd55-4de7-8e1c-c048fbc10a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f9facc-bd55-4de7-8e1c-c048fbc10a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be116bf-fdc6-407a-af0d-5730e4d1146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f9facc-bd55-4de7-8e1c-c048fbc10aa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C7EFB1E-3319-4EC5-A673-737E59353386}"/>
</file>

<file path=customXml/itemProps2.xml><?xml version="1.0" encoding="utf-8"?>
<ds:datastoreItem xmlns:ds="http://schemas.openxmlformats.org/officeDocument/2006/customXml" ds:itemID="{D99FD0AC-C0FD-44D8-942B-C3AB66ADB6DF}"/>
</file>

<file path=customXml/itemProps3.xml><?xml version="1.0" encoding="utf-8"?>
<ds:datastoreItem xmlns:ds="http://schemas.openxmlformats.org/officeDocument/2006/customXml" ds:itemID="{AA655FFE-4C32-4F73-AD82-049B80D72597}"/>
</file>

<file path=docProps/app.xml><?xml version="1.0" encoding="utf-8"?>
<Properties xmlns="http://schemas.openxmlformats.org/officeDocument/2006/extended-properties" xmlns:vt="http://schemas.openxmlformats.org/officeDocument/2006/docPropsVTypes">
  <TotalTime>0</TotalTime>
  <Words>1545</Words>
  <Application>Microsoft Macintosh PowerPoint</Application>
  <PresentationFormat>Affichage à l'écran (16:9)</PresentationFormat>
  <Paragraphs>253</Paragraphs>
  <Slides>29</Slides>
  <Notes>29</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29</vt:i4>
      </vt:variant>
    </vt:vector>
  </HeadingPairs>
  <TitlesOfParts>
    <vt:vector size="38" baseType="lpstr">
      <vt:lpstr>Sora</vt:lpstr>
      <vt:lpstr>Open Sans</vt:lpstr>
      <vt:lpstr>Syne Medium</vt:lpstr>
      <vt:lpstr>Calibri</vt:lpstr>
      <vt:lpstr>Open Sans ExtraBold</vt:lpstr>
      <vt:lpstr>Arial</vt:lpstr>
      <vt:lpstr>Open Sans Light</vt:lpstr>
      <vt:lpstr>Syne</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CHAPPE Thierry</cp:lastModifiedBy>
  <cp:revision>1</cp:revision>
  <dcterms:modified xsi:type="dcterms:W3CDTF">2026-09-09T15:55:28Z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0x010100D186EE758CFC1842B285249C0620D97E</vt:lpwstr>
  </property>
</Properties>
</file>